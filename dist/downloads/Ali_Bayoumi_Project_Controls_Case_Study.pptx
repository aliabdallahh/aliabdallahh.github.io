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b394e5dfa214b78" /><Relationship Type="http://schemas.openxmlformats.org/officeDocument/2006/relationships/extended-properties" Target="/docProps/app.xml" Id="R5d4c9df06a284568" /><Relationship Type="http://schemas.openxmlformats.org/officeDocument/2006/relationships/officeDocument" Target="/ppt/presentation.xml" Id="R13bcb0093aa74703" /></Relationships>
</file>

<file path=ppt/presentation.xml><?xml version="1.0" encoding="utf-8"?>
<p:presentation xmlns:p="http://schemas.openxmlformats.org/presentationml/2006/main">
  <p:sldMasterIdLst>
    <p:sldMasterId xmlns:r="http://schemas.openxmlformats.org/officeDocument/2006/relationships" id="2147483648" r:id="R0a89c7131f5241ad"/>
  </p:sldMasterIdLst>
  <p:notesMasterIdLst>
    <p:notesMasterId xmlns:r="http://schemas.openxmlformats.org/officeDocument/2006/relationships" r:id="R9044d0e99789423a"/>
  </p:notesMasterIdLst>
  <p:sldIdLst>
    <p:sldId xmlns:r="http://schemas.openxmlformats.org/officeDocument/2006/relationships" id="256" r:id="R2ea449d6e3b14091"/>
    <p:sldId xmlns:r="http://schemas.openxmlformats.org/officeDocument/2006/relationships" id="257" r:id="R697ef9c78f064ab6"/>
    <p:sldId xmlns:r="http://schemas.openxmlformats.org/officeDocument/2006/relationships" id="258" r:id="R83ae6be15b1b4cec"/>
    <p:sldId xmlns:r="http://schemas.openxmlformats.org/officeDocument/2006/relationships" id="259" r:id="R8b71cb4bd34a41f9"/>
    <p:sldId xmlns:r="http://schemas.openxmlformats.org/officeDocument/2006/relationships" id="260" r:id="R9a90d7f264b54162"/>
    <p:sldId xmlns:r="http://schemas.openxmlformats.org/officeDocument/2006/relationships" id="261" r:id="R3e12ed27925841e3"/>
    <p:sldId xmlns:r="http://schemas.openxmlformats.org/officeDocument/2006/relationships" id="262" r:id="Ra6c457e143e843bd"/>
    <p:sldId xmlns:r="http://schemas.openxmlformats.org/officeDocument/2006/relationships" id="263" r:id="R2c849d6cca3e4231"/>
    <p:sldId xmlns:r="http://schemas.openxmlformats.org/officeDocument/2006/relationships" id="264" r:id="Re0f5b27bf7a646da"/>
    <p:sldId xmlns:r="http://schemas.openxmlformats.org/officeDocument/2006/relationships" id="265" r:id="Rd6d9834b3f2743cd"/>
    <p:sldId xmlns:r="http://schemas.openxmlformats.org/officeDocument/2006/relationships" id="266" r:id="Rac8fde8dda3d4d02"/>
    <p:sldId xmlns:r="http://schemas.openxmlformats.org/officeDocument/2006/relationships" id="267" r:id="R1f10c71b280e4883"/>
    <p:sldId xmlns:r="http://schemas.openxmlformats.org/officeDocument/2006/relationships" id="268" r:id="R37d95ea74ce5405b"/>
    <p:sldId xmlns:r="http://schemas.openxmlformats.org/officeDocument/2006/relationships" id="269" r:id="Re9b6e6d1dec943ed"/>
    <p:sldId xmlns:r="http://schemas.openxmlformats.org/officeDocument/2006/relationships" id="270" r:id="R1fc4f87525ca4876"/>
    <p:sldId xmlns:r="http://schemas.openxmlformats.org/officeDocument/2006/relationships" id="271" r:id="R1b29fcb16e8643aa"/>
    <p:sldId xmlns:r="http://schemas.openxmlformats.org/officeDocument/2006/relationships" id="272" r:id="Rfb8b1434fe014186"/>
    <p:sldId xmlns:r="http://schemas.openxmlformats.org/officeDocument/2006/relationships" id="273" r:id="R409953231bd7450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9e68551216d4fcf" /><Relationship Type="http://schemas.openxmlformats.org/officeDocument/2006/relationships/slideMaster" Target="/ppt/slideMasters/slideMaster1.xml" Id="R0a89c7131f5241ad" /><Relationship Type="http://schemas.openxmlformats.org/officeDocument/2006/relationships/notesMaster" Target="/ppt/notesMasters/notesMaster1.xml" Id="R9044d0e99789423a" /><Relationship Type="http://schemas.openxmlformats.org/officeDocument/2006/relationships/presProps" Target="/ppt/presProps.xml" Id="Rf67bbc84cb64493f" /><Relationship Type="http://schemas.openxmlformats.org/officeDocument/2006/relationships/tableStyles" Target="/ppt/tableStyles.xml" Id="R8df6ce9580f242d2" /><Relationship Type="http://schemas.openxmlformats.org/officeDocument/2006/relationships/slide" Target="/ppt/slides/slide1.xml" Id="R2ea449d6e3b14091" /><Relationship Type="http://schemas.openxmlformats.org/officeDocument/2006/relationships/slide" Target="/ppt/slides/slide2.xml" Id="R697ef9c78f064ab6" /><Relationship Type="http://schemas.openxmlformats.org/officeDocument/2006/relationships/slide" Target="/ppt/slides/slide3.xml" Id="R83ae6be15b1b4cec" /><Relationship Type="http://schemas.openxmlformats.org/officeDocument/2006/relationships/slide" Target="/ppt/slides/slide4.xml" Id="R8b71cb4bd34a41f9" /><Relationship Type="http://schemas.openxmlformats.org/officeDocument/2006/relationships/slide" Target="/ppt/slides/slide5.xml" Id="R9a90d7f264b54162" /><Relationship Type="http://schemas.openxmlformats.org/officeDocument/2006/relationships/slide" Target="/ppt/slides/slide6.xml" Id="R3e12ed27925841e3" /><Relationship Type="http://schemas.openxmlformats.org/officeDocument/2006/relationships/slide" Target="/ppt/slides/slide7.xml" Id="Ra6c457e143e843bd" /><Relationship Type="http://schemas.openxmlformats.org/officeDocument/2006/relationships/slide" Target="/ppt/slides/slide8.xml" Id="R2c849d6cca3e4231" /><Relationship Type="http://schemas.openxmlformats.org/officeDocument/2006/relationships/slide" Target="/ppt/slides/slide9.xml" Id="Re0f5b27bf7a646da" /><Relationship Type="http://schemas.openxmlformats.org/officeDocument/2006/relationships/slide" Target="/ppt/slides/slide10.xml" Id="Rd6d9834b3f2743cd" /><Relationship Type="http://schemas.openxmlformats.org/officeDocument/2006/relationships/slide" Target="/ppt/slides/slide11.xml" Id="Rac8fde8dda3d4d02" /><Relationship Type="http://schemas.openxmlformats.org/officeDocument/2006/relationships/slide" Target="/ppt/slides/slide12.xml" Id="R1f10c71b280e4883" /><Relationship Type="http://schemas.openxmlformats.org/officeDocument/2006/relationships/slide" Target="/ppt/slides/slide13.xml" Id="R37d95ea74ce5405b" /><Relationship Type="http://schemas.openxmlformats.org/officeDocument/2006/relationships/slide" Target="/ppt/slides/slide14.xml" Id="Re9b6e6d1dec943ed" /><Relationship Type="http://schemas.openxmlformats.org/officeDocument/2006/relationships/slide" Target="/ppt/slides/slide15.xml" Id="R1fc4f87525ca4876" /><Relationship Type="http://schemas.openxmlformats.org/officeDocument/2006/relationships/slide" Target="/ppt/slides/slide16.xml" Id="R1b29fcb16e8643aa" /><Relationship Type="http://schemas.openxmlformats.org/officeDocument/2006/relationships/slide" Target="/ppt/slides/slide17.xml" Id="Rfb8b1434fe014186" /><Relationship Type="http://schemas.openxmlformats.org/officeDocument/2006/relationships/slide" Target="/ppt/slides/slide18.xml" Id="R409953231bd745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91e712272549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3f688a01654e29" /><Relationship Type="http://schemas.openxmlformats.org/officeDocument/2006/relationships/notesMaster" Target="/ppt/notesMasters/notesMaster1.xml" Id="R88e82ebdcf32433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eee523d4044bce" /><Relationship Type="http://schemas.openxmlformats.org/officeDocument/2006/relationships/notesMaster" Target="/ppt/notesMasters/notesMaster1.xml" Id="Rd77b821c1fcd418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6251810ba74de5" /><Relationship Type="http://schemas.openxmlformats.org/officeDocument/2006/relationships/notesMaster" Target="/ppt/notesMasters/notesMaster1.xml" Id="R69d330b7e1aa46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5e0876537e495f" /><Relationship Type="http://schemas.openxmlformats.org/officeDocument/2006/relationships/notesMaster" Target="/ppt/notesMasters/notesMaster1.xml" Id="R15147ccbcba645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768b612f8534ede" /><Relationship Type="http://schemas.openxmlformats.org/officeDocument/2006/relationships/notesMaster" Target="/ppt/notesMasters/notesMaster1.xml" Id="R24fee21ee838406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30f65a7f5094ec7" /><Relationship Type="http://schemas.openxmlformats.org/officeDocument/2006/relationships/notesMaster" Target="/ppt/notesMasters/notesMaster1.xml" Id="R044d5c2f0b0d4cb6" /></Relationships>
</file>

<file path=ppt/notesSlides/_rels/notesSlide7.xml.rels>&#65279;<?xml version="1.0" encoding="utf-8"?><Relationships xmlns="http://schemas.openxmlformats.org/package/2006/relationships"><Relationship Type="http://schemas.openxmlformats.org/officeDocument/2006/relationships/slide" Target="/ppt/slides/slide7.xml" Id="Rab1f7894977d4dc4" /><Relationship Type="http://schemas.openxmlformats.org/officeDocument/2006/relationships/notesMaster" Target="/ppt/notesMasters/notesMaster1.xml" Id="R0a1b6224988c4843" /></Relationships>
</file>

<file path=ppt/notesSlides/_rels/notesSlide8.xml.rels>&#65279;<?xml version="1.0" encoding="utf-8"?><Relationships xmlns="http://schemas.openxmlformats.org/package/2006/relationships"><Relationship Type="http://schemas.openxmlformats.org/officeDocument/2006/relationships/slide" Target="/ppt/slides/slide8.xml" Id="R8d7475c2b30243ff" /><Relationship Type="http://schemas.openxmlformats.org/officeDocument/2006/relationships/notesMaster" Target="/ppt/notesMasters/notesMaster1.xml" Id="R0722282a3fcf4a48" /></Relationships>
</file>

<file path=ppt/notesSlides/_rels/notesSlide9.xml.rels>&#65279;<?xml version="1.0" encoding="utf-8"?><Relationships xmlns="http://schemas.openxmlformats.org/package/2006/relationships"><Relationship Type="http://schemas.openxmlformats.org/officeDocument/2006/relationships/slide" Target="/ppt/slides/slide9.xml" Id="Rb662bb4ae2a44099" /><Relationship Type="http://schemas.openxmlformats.org/officeDocument/2006/relationships/notesMaster" Target="/ppt/notesMasters/notesMaster1.xml" Id="R42aa0c15294f48e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98d8f8bd3e4fd2" /><Relationship Type="http://schemas.openxmlformats.org/officeDocument/2006/relationships/notesMaster" Target="/ppt/notesMasters/notesMaster1.xml" Id="R3751127e1bd2459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e281d724fba48e0" /><Relationship Type="http://schemas.openxmlformats.org/officeDocument/2006/relationships/notesMaster" Target="/ppt/notesMasters/notesMaster1.xml" Id="R0084e19bceb24e9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045228b30064c21" /><Relationship Type="http://schemas.openxmlformats.org/officeDocument/2006/relationships/notesMaster" Target="/ppt/notesMasters/notesMaster1.xml" Id="Ra0da91689898416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4b9c5d1e6ef438f" /><Relationship Type="http://schemas.openxmlformats.org/officeDocument/2006/relationships/notesMaster" Target="/ppt/notesMasters/notesMaster1.xml" Id="Rfbd57c543f0f442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ffc7e0a90ca422b" /><Relationship Type="http://schemas.openxmlformats.org/officeDocument/2006/relationships/notesMaster" Target="/ppt/notesMasters/notesMaster1.xml" Id="Rff28c078c23c451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94cefab6c5746cb" /><Relationship Type="http://schemas.openxmlformats.org/officeDocument/2006/relationships/notesMaster" Target="/ppt/notesMasters/notesMaster1.xml" Id="R8fe5b9e87d0f4b7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1e8095d18114209" /><Relationship Type="http://schemas.openxmlformats.org/officeDocument/2006/relationships/notesMaster" Target="/ppt/notesMasters/notesMaster1.xml" Id="R44b2f34048014a1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ec77654cc8f4d7d" /><Relationship Type="http://schemas.openxmlformats.org/officeDocument/2006/relationships/notesMaster" Target="/ppt/notesMasters/notesMaster1.xml" Id="R16041fad18bc43a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c74a15e32a9412d" /><Relationship Type="http://schemas.openxmlformats.org/officeDocument/2006/relationships/notesMaster" Target="/ppt/notesMasters/notesMaster1.xml" Id="Rc8ac73cf887d45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independent case study demonstrates how I built and interpreted a complete planning and project-controls model. Quantities, rates and progress are simulated. The portfolio presents the audited original snapshot, not a newly recalculated cleanup candidate.</a:t>
            </a:r>
          </a:p>
          <a:p xmlns:a="http://schemas.openxmlformats.org/drawingml/2006/main">
            <a:r>
              <a:t/>
            </a:r>
          </a:p>
          <a:p xmlns:a="http://schemas.openxmlformats.org/drawingml/2006/main">
            <a:r>
              <a:t>[Sources]</a:t>
            </a:r>
          </a:p>
          <a:p xmlns:a="http://schemas.openxmlformats.org/drawingml/2006/main">
            <a:r>
              <a:t>Ali_Bayoumi_Planning_Project_Controls_Portfolio.pptx (corrected version 2, 07 September 2026)</a:t>
            </a:r>
          </a:p>
          <a:p xmlns:a="http://schemas.openxmlformats.org/drawingml/2006/main">
            <a:r>
              <a:t>Ali_Bayoumi_Portfolio_Audit.pdf (07 September 2026) — pp. 1, 3–4</a:t>
            </a:r>
          </a:p>
          <a:p xmlns:a="http://schemas.openxmlformats.org/drawingml/2006/main">
            <a:r>
              <a:t>All project values are from the preserved simulated P6 snapshot with data date 01-Apr-2027. No fresh P6 schedule or leveling run is claimed.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scale is 1,206 activities, 1,876 original relationships, 195 WBS nodes including the project root and 33 resources. Activity mix is 1,073 tasks, 130 milestones and three LOE activities. The separate cleanup candidate has 1,875 links; it is not the snapshot being presented.</a:t>
            </a:r>
          </a:p>
          <a:p xmlns:a="http://schemas.openxmlformats.org/drawingml/2006/main">
            <a:r>
              <a:t/>
            </a:r>
          </a:p>
          <a:p xmlns:a="http://schemas.openxmlformats.org/drawingml/2006/main">
            <a:r>
              <a:t>[Sources]</a:t>
            </a:r>
          </a:p>
          <a:p xmlns:a="http://schemas.openxmlformats.org/drawingml/2006/main">
            <a:r>
              <a:t>Ali_Bayoumi_Planning_Project_Controls_Portfolio.pptx (corrected version 2, 07 September 2026)</a:t>
            </a:r>
          </a:p>
          <a:p xmlns:a="http://schemas.openxmlformats.org/drawingml/2006/main">
            <a:r>
              <a:t>Ali_Bayoumi_Portfolio_Audit.pdf (07 September 2026) — pp. 3, 6</a:t>
            </a:r>
          </a:p>
          <a:p xmlns:a="http://schemas.openxmlformats.org/drawingml/2006/main">
            <a:r>
              <a:t>All project values are from the preserved simulated P6 snapshot with data date 01-Apr-2027. No fresh P6 schedule or leveling run is claimed.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case study update cycle has six actions: preserve the baseline, status to the data date, reschedule CPM, level resources, measure EV and issue reports. The display groups them into three stages without changing that method. This presentation uses the saved outputs; no new native run took place during the redesign.</a:t>
            </a:r>
          </a:p>
          <a:p xmlns:a="http://schemas.openxmlformats.org/drawingml/2006/main">
            <a:r>
              <a:t/>
            </a:r>
          </a:p>
          <a:p xmlns:a="http://schemas.openxmlformats.org/drawingml/2006/main">
            <a:r>
              <a:t>[Sources]</a:t>
            </a:r>
          </a:p>
          <a:p xmlns:a="http://schemas.openxmlformats.org/drawingml/2006/main">
            <a:r>
              <a:t>Ali_Bayoumi_Planning_Project_Controls_Portfolio.pptx (corrected version 2, 07 September 2026)</a:t>
            </a:r>
          </a:p>
          <a:p xmlns:a="http://schemas.openxmlformats.org/drawingml/2006/main">
            <a:r>
              <a:t>Ali_Bayoumi_Portfolio_Audit.pdf (07 September 2026) — pp. 1, 4, 6</a:t>
            </a:r>
          </a:p>
          <a:p xmlns:a="http://schemas.openxmlformats.org/drawingml/2006/main">
            <a:r>
              <a:t>All project values are from the preserved simulated P6 snapshot with data date 01-Apr-2027. No fresh P6 schedule or leveling run is claimed.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276 + 9 + 921 = 1,206. The 930 incomplete activities are the denominator used in the float screens. An activity-count completion percentage would not establish physical progress and is intentionally not presented.</a:t>
            </a:r>
          </a:p>
          <a:p xmlns:a="http://schemas.openxmlformats.org/drawingml/2006/main">
            <a:r>
              <a:t/>
            </a:r>
          </a:p>
          <a:p xmlns:a="http://schemas.openxmlformats.org/drawingml/2006/main">
            <a:r>
              <a:t>[Sources]</a:t>
            </a:r>
          </a:p>
          <a:p xmlns:a="http://schemas.openxmlformats.org/drawingml/2006/main">
            <a:r>
              <a:t>Ali_Bayoumi_Planning_Project_Controls_Portfolio.pptx (corrected version 2, 07 September 2026)</a:t>
            </a:r>
          </a:p>
          <a:p xmlns:a="http://schemas.openxmlformats.org/drawingml/2006/main">
            <a:r>
              <a:t>Ali_Bayoumi_Portfolio_Audit.pdf (07 September 2026) — p. 3</a:t>
            </a:r>
          </a:p>
          <a:p xmlns:a="http://schemas.openxmlformats.org/drawingml/2006/main">
            <a:r>
              <a:t>All project values are from the preserved simulated P6 snapshot with data date 01-Apr-2027. No fresh P6 schedule or leveling run is claimed.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three finishes are at 18:00. Baseline HO-023 handover is 22-Aug-2028; a different stored project ScheduledFinishDate is 02-Aug-2028 and must not be substituted. Preserve Scheduled Early and Late Dates is enabled. Timeline columns show the field sequence, not time-proportional spacing.</a:t>
            </a:r>
          </a:p>
          <a:p xmlns:a="http://schemas.openxmlformats.org/drawingml/2006/main">
            <a:r>
              <a:t/>
            </a:r>
          </a:p>
          <a:p xmlns:a="http://schemas.openxmlformats.org/drawingml/2006/main">
            <a:r>
              <a:t>[Sources]</a:t>
            </a:r>
          </a:p>
          <a:p xmlns:a="http://schemas.openxmlformats.org/drawingml/2006/main">
            <a:r>
              <a:t>Ali_Bayoumi_Planning_Project_Controls_Portfolio.pptx (corrected version 2, 07 September 2026)</a:t>
            </a:r>
          </a:p>
          <a:p xmlns:a="http://schemas.openxmlformats.org/drawingml/2006/main">
            <a:r>
              <a:t>Ali_Bayoumi_Portfolio_Audit.pdf (07 September 2026) — p. 4</a:t>
            </a:r>
          </a:p>
          <a:p xmlns:a="http://schemas.openxmlformats.org/drawingml/2006/main">
            <a:r>
              <a:t>All project values are from the preserved simulated P6 snapshot with data date 01-Apr-2027. No fresh P6 schedule or leveling run is claimed.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exact values reconcile to OFF-04 to the cent. SV is EV minus PV = +4,434.59; CV is EV minus AC = -12,565.41. EV is duration-based and actuals are simulated / auto-computed; reconciliation does not independently validate production or invoices. The native chart stores the exact values in thousands; labels round to one decimal.</a:t>
            </a:r>
          </a:p>
          <a:p xmlns:a="http://schemas.openxmlformats.org/drawingml/2006/main">
            <a:r>
              <a:t/>
            </a:r>
          </a:p>
          <a:p xmlns:a="http://schemas.openxmlformats.org/drawingml/2006/main">
            <a:r>
              <a:t>[Sources]</a:t>
            </a:r>
          </a:p>
          <a:p xmlns:a="http://schemas.openxmlformats.org/drawingml/2006/main">
            <a:r>
              <a:t>Ali_Bayoumi_Planning_Project_Controls_Portfolio.pptx (corrected version 2, 07 September 2026)</a:t>
            </a:r>
          </a:p>
          <a:p xmlns:a="http://schemas.openxmlformats.org/drawingml/2006/main">
            <a:r>
              <a:t>Ali_Bayoumi_Portfolio_Audit.pdf (07 September 2026) — p. 2</a:t>
            </a:r>
          </a:p>
          <a:p xmlns:a="http://schemas.openxmlformats.org/drawingml/2006/main">
            <a:r>
              <a:t>All project values are from the preserved simulated P6 snapshot with data date 01-Apr-2027. No fresh P6 schedule or leveling run is claimed.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PM-038 budget is $500,000. Its baseline elapsed work is 696 of 3,608 hours (19.2905%); current duration percent is 20.1774%. This produces the entire positive SV. Outside PM-038, planned and earned values are identical. That is the reason to resist a superficial construction-ahead statement.</a:t>
            </a:r>
          </a:p>
          <a:p xmlns:a="http://schemas.openxmlformats.org/drawingml/2006/main">
            <a:r>
              <a:t/>
            </a:r>
          </a:p>
          <a:p xmlns:a="http://schemas.openxmlformats.org/drawingml/2006/main">
            <a:r>
              <a:t>[Sources]</a:t>
            </a:r>
          </a:p>
          <a:p xmlns:a="http://schemas.openxmlformats.org/drawingml/2006/main">
            <a:r>
              <a:t>Ali_Bayoumi_Planning_Project_Controls_Portfolio.pptx (corrected version 2, 07 September 2026)</a:t>
            </a:r>
          </a:p>
          <a:p xmlns:a="http://schemas.openxmlformats.org/drawingml/2006/main">
            <a:r>
              <a:t>Ali_Bayoumi_Portfolio_Audit.pdf (07 September 2026) — p. 2</a:t>
            </a:r>
          </a:p>
          <a:p xmlns:a="http://schemas.openxmlformats.org/drawingml/2006/main">
            <a:r>
              <a:t>All project values are from the preserved simulated P6 snapshot with data date 01-Apr-2027. No fresh P6 schedule or leveling run is claimed.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CIV-013 has BAC 53,368 and AC 60,868; CIV-017 has BAC 63,022 and AC 72,522. Both are completed foundation reinforcement / concrete work and have zero remaining cost. EAC = 940,042.33 + 4,328,238.67 = 5,268,281; VAC = BAC - EAC = -17,000. BAC/CPI would be a separate sensitivity, not this configured forecast.</a:t>
            </a:r>
          </a:p>
          <a:p xmlns:a="http://schemas.openxmlformats.org/drawingml/2006/main">
            <a:r>
              <a:t/>
            </a:r>
          </a:p>
          <a:p xmlns:a="http://schemas.openxmlformats.org/drawingml/2006/main">
            <a:r>
              <a:t>[Sources]</a:t>
            </a:r>
          </a:p>
          <a:p xmlns:a="http://schemas.openxmlformats.org/drawingml/2006/main">
            <a:r>
              <a:t>Ali_Bayoumi_Planning_Project_Controls_Portfolio.pptx (corrected version 2, 07 September 2026)</a:t>
            </a:r>
          </a:p>
          <a:p xmlns:a="http://schemas.openxmlformats.org/drawingml/2006/main">
            <a:r>
              <a:t>Ali_Bayoumi_Portfolio_Audit.pdf (07 September 2026) — p. 2</a:t>
            </a:r>
          </a:p>
          <a:p xmlns:a="http://schemas.openxmlformats.org/drawingml/2006/main">
            <a:r>
              <a:t>All project values are from the preserved simulated P6 snapshot with data date 01-Apr-2027. No fresh P6 schedule or leveling run is claimed.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GF-ST-007 finish is 09-Apr-2027 00:00 on a 24/7 calendar. Pour and handover are at 18:00. OFF-06 is an eight-activity filtered extract ending at the pour; it is not the full ground-floor scope or proof of the entire project longest path. Seven reported BL1 dates differ from the XML baseline; the baseline comparisons shown here use baseline 4516. Review 96-hour lag purpose and next-floor start tied to the pour +8h before changing the engineering assumptions. Timeline columns group gates, not proportional durations.</a:t>
            </a:r>
          </a:p>
          <a:p xmlns:a="http://schemas.openxmlformats.org/drawingml/2006/main">
            <a:r>
              <a:t/>
            </a:r>
          </a:p>
          <a:p xmlns:a="http://schemas.openxmlformats.org/drawingml/2006/main">
            <a:r>
              <a:t>[Sources]</a:t>
            </a:r>
          </a:p>
          <a:p xmlns:a="http://schemas.openxmlformats.org/drawingml/2006/main">
            <a:r>
              <a:t>Ali_Bayoumi_Planning_Project_Controls_Portfolio.pptx (corrected version 2, 07 September 2026)</a:t>
            </a:r>
          </a:p>
          <a:p xmlns:a="http://schemas.openxmlformats.org/drawingml/2006/main">
            <a:r>
              <a:t>Ali_Bayoumi_Portfolio_Audit.pdf (07 September 2026) — pp. 4–5</a:t>
            </a:r>
          </a:p>
          <a:p xmlns:a="http://schemas.openxmlformats.org/drawingml/2006/main">
            <a:r>
              <a:t>All project values are from the preserved simulated P6 snapshot with data date 01-Apr-2027. No fresh P6 schedule or leveling run is claimed.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Resources are 19 labor crews, four equipment resources and ten materials. Crew units cannot be translated to headcount without resource definitions. The Office-1 log reports 31 direct delays, 469 predecessor delays and zero unlevelable activities. The offline source comparison finds 222 incomplete activities with different early / remaining dates. A single-project saved-assignment screen found no nominal labor capacity excess, but this is not a complete native leveling rerun with the external resource environment.</a:t>
            </a:r>
          </a:p>
          <a:p xmlns:a="http://schemas.openxmlformats.org/drawingml/2006/main">
            <a:r>
              <a:t/>
            </a:r>
          </a:p>
          <a:p xmlns:a="http://schemas.openxmlformats.org/drawingml/2006/main">
            <a:r>
              <a:t>[Sources]</a:t>
            </a:r>
          </a:p>
          <a:p xmlns:a="http://schemas.openxmlformats.org/drawingml/2006/main">
            <a:r>
              <a:t>Ali_Bayoumi_Planning_Project_Controls_Portfolio.pptx (corrected version 2, 07 September 2026)</a:t>
            </a:r>
          </a:p>
          <a:p xmlns:a="http://schemas.openxmlformats.org/drawingml/2006/main">
            <a:r>
              <a:t>Ali_Bayoumi_Portfolio_Audit.pdf (07 September 2026) — p. 6</a:t>
            </a:r>
          </a:p>
          <a:p xmlns:a="http://schemas.openxmlformats.org/drawingml/2006/main">
            <a:r>
              <a:t>All project values are from the preserved simulated P6 snapshot with data date 01-Apr-2027. No fresh P6 schedule or leveling run is claimed.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table dates are finish gates in 2027 from the original OFF-07 page-one extract embedded in the corrected portfolio. Manufacturing is followed by FAT, delivery, inspection and approval; the table shows selected finish gates and does not remove inspection from the sequence. The corrected April–June analytical filter includes all June 30 starts: 189 rows rather than 186. Added activities are FL1-IP-003, GF-MEPSF-006 and GF-MEPSF-007. Source filter: Status not Completed; Start &lt; 01-Jul-2027; Finish &gt;= 01-Apr-2027.</a:t>
            </a:r>
          </a:p>
          <a:p xmlns:a="http://schemas.openxmlformats.org/drawingml/2006/main">
            <a:r>
              <a:t/>
            </a:r>
          </a:p>
          <a:p xmlns:a="http://schemas.openxmlformats.org/drawingml/2006/main">
            <a:r>
              <a:t>[Sources]</a:t>
            </a:r>
          </a:p>
          <a:p xmlns:a="http://schemas.openxmlformats.org/drawingml/2006/main">
            <a:r>
              <a:t>Ali_Bayoumi_Planning_Project_Controls_Portfolio.pptx (corrected version 2, 07 September 2026)</a:t>
            </a:r>
          </a:p>
          <a:p xmlns:a="http://schemas.openxmlformats.org/drawingml/2006/main">
            <a:r>
              <a:t>Ali_Bayoumi_Portfolio_Audit.pdf (07 September 2026) — pp. 4, 7</a:t>
            </a:r>
          </a:p>
          <a:p xmlns:a="http://schemas.openxmlformats.org/drawingml/2006/main">
            <a:r>
              <a:t>All project values are from the preserved simulated P6 snapshot with data date 01-Apr-2027. No fresh P6 schedule or leveling run is claimed.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Audit findings: no cycles, broken references or exact duplicate relationship types; two intended open endpoints, NTP and final handover; no constraints, expected finishes or future actuals. Among 930 incomplete activities, 184 have zero float and 496 exceed 44 own-calendar working days. Twelve activities only have SS successors. The redundant SF link has a separate one-link cleanup candidate; it is not adopted in this presentation. No 2026–2028 holiday exceptions were found. 708 activities have neither assignment nor expense and need a package-to-cost mapping to evaluate coverage.</a:t>
            </a:r>
          </a:p>
          <a:p xmlns:a="http://schemas.openxmlformats.org/drawingml/2006/main">
            <a:r>
              <a:t/>
            </a:r>
          </a:p>
          <a:p xmlns:a="http://schemas.openxmlformats.org/drawingml/2006/main">
            <a:r>
              <a:t>[Sources]</a:t>
            </a:r>
          </a:p>
          <a:p xmlns:a="http://schemas.openxmlformats.org/drawingml/2006/main">
            <a:r>
              <a:t>Ali_Bayoumi_Planning_Project_Controls_Portfolio.pptx (corrected version 2, 07 September 2026)</a:t>
            </a:r>
          </a:p>
          <a:p xmlns:a="http://schemas.openxmlformats.org/drawingml/2006/main">
            <a:r>
              <a:t>Ali_Bayoumi_Portfolio_Audit.pdf (07 September 2026) — pp. 3, 5–8</a:t>
            </a:r>
          </a:p>
          <a:p xmlns:a="http://schemas.openxmlformats.org/drawingml/2006/main">
            <a:r>
              <a:t>All project values are from the preserved simulated P6 snapshot with data date 01-Apr-2027. No fresh P6 schedule or leveling run is claimed.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next update should resolve assumptions, preserve the baseline and regenerate the native outputs before making new date or performance claims. Structural method / temporary works confirmation, procurement evidence and explanation of actual-cost variance are the operational priorities. Any cleanup candidate needs a separate-project import, F9 and leveling run, with logs retained. These are recommended next actions, not claims that they have already been completed.</a:t>
            </a:r>
          </a:p>
          <a:p xmlns:a="http://schemas.openxmlformats.org/drawingml/2006/main">
            <a:r>
              <a:t/>
            </a:r>
          </a:p>
          <a:p xmlns:a="http://schemas.openxmlformats.org/drawingml/2006/main">
            <a:r>
              <a:t>[Sources]</a:t>
            </a:r>
          </a:p>
          <a:p xmlns:a="http://schemas.openxmlformats.org/drawingml/2006/main">
            <a:r>
              <a:t>Ali_Bayoumi_Planning_Project_Controls_Portfolio.pptx (corrected version 2, 07 September 2026)</a:t>
            </a:r>
          </a:p>
          <a:p xmlns:a="http://schemas.openxmlformats.org/drawingml/2006/main">
            <a:r>
              <a:t>Ali_Bayoumi_Portfolio_Audit.pdf (07 September 2026) — pp. 5, 7–9</a:t>
            </a:r>
          </a:p>
          <a:p xmlns:a="http://schemas.openxmlformats.org/drawingml/2006/main">
            <a:r>
              <a:t>All project values are from the preserved simulated P6 snapshot with data date 01-Apr-2027. No fresh P6 schedule or leveling run is claimed.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embedded picture is an enlarged crop of the original OFF-04 report image from the corrected source PowerPoint, retained as documentary evidence. It shows the planned, earned and actual value columns. The original image bytes remain embedded and the crop is editable in PowerPoint. The main EVM charts elsewhere are native editable charts. A PV/EV/AC curve is not a commercial cash-flow forecast because payment terms, receipts and timing were not modeled. Five reports in the source pack are OFF-03 through OFF-07.</a:t>
            </a:r>
          </a:p>
          <a:p xmlns:a="http://schemas.openxmlformats.org/drawingml/2006/main">
            <a:r>
              <a:t/>
            </a:r>
          </a:p>
          <a:p xmlns:a="http://schemas.openxmlformats.org/drawingml/2006/main">
            <a:r>
              <a:t>[Sources]</a:t>
            </a:r>
          </a:p>
          <a:p xmlns:a="http://schemas.openxmlformats.org/drawingml/2006/main">
            <a:r>
              <a:t>Embedded asset: ppt/media/image3.png from the corrected source portfolio; original OFF-04 Update 01 – Earned Value Summary.</a:t>
            </a:r>
          </a:p>
          <a:p xmlns:a="http://schemas.openxmlformats.org/drawingml/2006/main">
            <a:r>
              <a:t>[/Sources]</a:t>
            </a:r>
          </a:p>
          <a:p xmlns:a="http://schemas.openxmlformats.org/drawingml/2006/main">
            <a:r>
              <a:t/>
            </a:r>
          </a:p>
          <a:p xmlns:a="http://schemas.openxmlformats.org/drawingml/2006/main">
            <a:r>
              <a:t>[Sources]</a:t>
            </a:r>
          </a:p>
          <a:p xmlns:a="http://schemas.openxmlformats.org/drawingml/2006/main">
            <a:r>
              <a:t>Ali_Bayoumi_Planning_Project_Controls_Portfolio.pptx (corrected version 2, 07 September 2026)</a:t>
            </a:r>
          </a:p>
          <a:p xmlns:a="http://schemas.openxmlformats.org/drawingml/2006/main">
            <a:r>
              <a:t>Ali_Bayoumi_Portfolio_Audit.pdf (07 September 2026) — pp. 2, 6, 9</a:t>
            </a:r>
          </a:p>
          <a:p xmlns:a="http://schemas.openxmlformats.org/drawingml/2006/main">
            <a:r>
              <a:t>All project values are from the preserved simulated P6 snapshot with data date 01-Apr-2027. No fresh P6 schedule or leveling run is claimed.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case study demonstrates WBS and CPM construction, baseline and update governance, resource loading and leveling interpretation, earned value and completion forecasting, structural / near-critical review and lookahead reporting. The current XER contains no embedded baseline; the supplied XML archive includes it. The work is an independent simulation, not client-approved delivery, certified actuals or a fresh P6 forecast. All source artifacts listed are in the original portfolio package, rather than embedded working P6 files inside this presentation.</a:t>
            </a:r>
          </a:p>
          <a:p xmlns:a="http://schemas.openxmlformats.org/drawingml/2006/main">
            <a:r>
              <a:t/>
            </a:r>
          </a:p>
          <a:p xmlns:a="http://schemas.openxmlformats.org/drawingml/2006/main">
            <a:r>
              <a:t>[Sources]</a:t>
            </a:r>
          </a:p>
          <a:p xmlns:a="http://schemas.openxmlformats.org/drawingml/2006/main">
            <a:r>
              <a:t>Ali_Bayoumi_Planning_Project_Controls_Portfolio.pptx (corrected version 2, 07 September 2026)</a:t>
            </a:r>
          </a:p>
          <a:p xmlns:a="http://schemas.openxmlformats.org/drawingml/2006/main">
            <a:r>
              <a:t>Ali_Bayoumi_Portfolio_Audit.pdf (07 September 2026) — pp. 1, 9</a:t>
            </a:r>
          </a:p>
          <a:p xmlns:a="http://schemas.openxmlformats.org/drawingml/2006/main">
            <a:r>
              <a:t>All project values are from the preserved simulated P6 snapshot with data date 01-Apr-2027. No fresh P6 schedule or leveling run is claimed.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existing portfolio slide 12 and its speaker notes, preserved simulated update dated 01 Apr 2027. The review comment and response deadline below are training additions.</a:t>
            </a:r>
          </a:p>
          <a:p xmlns:a="http://schemas.openxmlformats.org/drawingml/2006/main">
            <a:r>
              <a:t/>
            </a:r>
          </a:p>
          <a:p xmlns:a="http://schemas.openxmlformats.org/drawingml/2006/main">
            <a:r>
              <a:t>Talk track: I would first confirm whether the omission is intentional. Continuous curing and site labor can legitimately use different calendars. I request approved working-time assumptions before inserting holidays. I preserve the submitted programme, update a separate copy and compare the same milestone after a native schedule run. I record the response and retain the calculation log. A missing exception is a review query, not proof of a specific completion delay. I have not rerun the full P6 model for this exercise.</a:t>
            </a:r>
          </a:p>
          <a:p xmlns:a="http://schemas.openxmlformats.org/drawingml/2006/main">
            <a:r>
              <a:t/>
            </a:r>
          </a:p>
          <a:p xmlns:a="http://schemas.openxmlformats.org/drawingml/2006/main">
            <a:r>
              <a:t>Question: How many days does this finding delay handover? Answer: The saved evidence does not establish that. The approved calendar, affected activities and recalculated controlling path are needed.</a:t>
            </a:r>
          </a:p>
          <a:p xmlns:a="http://schemas.openxmlformats.org/drawingml/2006/main">
            <a:r>
              <a:t/>
            </a:r>
          </a:p>
          <a:p xmlns:a="http://schemas.openxmlformats.org/drawingml/2006/main">
            <a:r>
              <a:t>Independent training exercise using assumed events and data; not a live contractual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quantities, record IDs, actions and dates on this slide are assumed training data. Mock Q-001 is an assumed jointly measured quantity sheet totalling 160 m³. Mock IR-001 is an assumed inspection release covering that quantity. No real or fabricated signed records are supplied.</a:t>
            </a:r>
          </a:p>
          <a:p xmlns:a="http://schemas.openxmlformats.org/drawingml/2006/main">
            <a:r>
              <a:t/>
            </a:r>
          </a:p>
          <a:p xmlns:a="http://schemas.openxmlformats.org/drawingml/2006/main">
            <a:r>
              <a:t>Calculation: planned 200/400 = 50%; reported 180/400 = 45%; verified 160/400 = 40%. Verified minus planned = -10 percentage points, or -40 m³. Reported minus verified = 20 m³. The unverified quantity is not automatically rejected work. Reconcile the measurement and acceptance cut-off before recognising it. Both log entries remain open.</a:t>
            </a:r>
          </a:p>
          <a:p xmlns:a="http://schemas.openxmlformats.org/drawingml/2006/main">
            <a:r>
              <a:t/>
            </a:r>
          </a:p>
          <a:p xmlns:a="http://schemas.openxmlformats.org/drawingml/2006/main">
            <a:r>
              <a:t>Measurement rule: recognise installed and accepted concrete quantities against the same 400 m³ scope. Reconcile delivery tickets, location-tagged daily records, measurements and inspection releases. Do not mix unaccepted quantities with accepted quantities or compare different cut-offs.</a:t>
            </a:r>
          </a:p>
          <a:p xmlns:a="http://schemas.openxmlformats.org/drawingml/2006/main">
            <a:r>
              <a:t/>
            </a:r>
          </a:p>
          <a:p xmlns:a="http://schemas.openxmlformats.org/drawingml/2006/main">
            <a:r>
              <a:t>Question: Does 40% describe the whole P6 project? Answer: No. It is only the assumed slab package. Whole-project progress needs documented weighting across packages and consistent measurement rules. The existing P6 EV is duration-based, so this physical percentage does not replace its earned-value calculation. A production shortfall alone does not establish a delay to handover.</a:t>
            </a:r>
          </a:p>
          <a:p xmlns:a="http://schemas.openxmlformats.org/drawingml/2006/main">
            <a:r>
              <a:t/>
            </a:r>
          </a:p>
          <a:p xmlns:a="http://schemas.openxmlformats.org/drawingml/2006/main">
            <a:r>
              <a:t>Independent training exercise using assumed events and data; not a live contractual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simplified prospective TIA uses an assumed current update, not the original 1,206-activity P6 programme. No change to HO-023 or the main project forecast is asserted. The output is an independently calculated CPM training model, not a native P6 scheduling run.</a:t>
            </a:r>
          </a:p>
          <a:p xmlns:a="http://schemas.openxmlformats.org/drawingml/2006/main">
            <a:r>
              <a:t/>
            </a:r>
          </a:p>
          <a:p xmlns:a="http://schemas.openxmlformats.org/drawingml/2006/main">
            <a:r>
              <a:t>Assumptions: data date 05 Apr 2027 at 08:00; enabling work before this date is complete. All remaining activities are unstarted. Monday–Friday calendar, 08:00–12:00 and 13:00–17:00, no holidays. FS links with zero lag, no date constraints, no resource limits or leveling, no concurrency, mitigation or acceleration. A parallel documentation activity takes 8 working days from release, finishes 14 Apr 2027 and must also precede handover. Its float is 5 working days before the event and 9 afterwards.</a:t>
            </a:r>
          </a:p>
          <a:p xmlns:a="http://schemas.openxmlformats.org/drawingml/2006/main">
            <a:r>
              <a:t/>
            </a:r>
          </a:p>
          <a:p xmlns:a="http://schemas.openxmlformats.org/drawingml/2006/main">
            <a:r>
              <a:t>Network before: release to installation (10d), testing (3d), M-TR01 handover. Parallel release to documentation (8d) to handover. Network after: insert E-01 design clarification (4 working days, 05–08 Apr) between release and installation. Documentation stays unchanged. Original remaining controlling duration max(10+3,8)=13 days. Impacted duration max(4+10+3,8)=17 days. Difference=4 working days. Handover moves from 21 Apr at 17:00 to 27 Apr at 17:00, six calendar days.</a:t>
            </a:r>
          </a:p>
          <a:p xmlns:a="http://schemas.openxmlformats.org/drawingml/2006/main">
            <a:r>
              <a:t/>
            </a:r>
          </a:p>
          <a:p xmlns:a="http://schemas.openxmlformats.org/drawingml/2006/main">
            <a:r>
              <a:t>Question: Does any four-day event cause four days of completion delay? Answer: No. Here the insertion affects the controlling path with zero float. Float, parallel paths, calendar changes and mitigation can change the result.</a:t>
            </a:r>
          </a:p>
          <a:p xmlns:a="http://schemas.openxmlformats.org/drawingml/2006/main">
            <a:r>
              <a:t/>
            </a:r>
          </a:p>
          <a:p xmlns:a="http://schemas.openxmlformats.org/drawingml/2006/main">
            <a:r>
              <a:t>Procedure learning scope: Introductory knowledge of FIDIC-based contract procedures. Identify the contract form, edition and Particular Conditions before checking event allocation, notices, records and assessment. No clause numbers or notice periods are assumed. The model supports EOT review but does not establish entitlement or compensation.</a:t>
            </a:r>
          </a:p>
          <a:p xmlns:a="http://schemas.openxmlformats.org/drawingml/2006/main">
            <a:r>
              <a:t/>
            </a:r>
          </a:p>
          <a:p xmlns:a="http://schemas.openxmlformats.org/drawingml/2006/main">
            <a:r>
              <a:t>Method reference: Society of Construction Law, Delay and Disruption Protocol, 2nd edition (2017), Part B 4.3 and 11.6(b): https://www.scl.org.uk/sites/default/files/documents/SCL_Delay_Protocol_2nd_Edition_Final.pdf</a:t>
            </a:r>
          </a:p>
          <a:p xmlns:a="http://schemas.openxmlformats.org/drawingml/2006/main">
            <a:r>
              <a:t>Contract context: FIDIC Golden Principles (2019), discussion of Particular Conditions: https://fidic.org/books/fidic-golden-principles-2019</a:t>
            </a:r>
          </a:p>
          <a:p xmlns:a="http://schemas.openxmlformats.org/drawingml/2006/main">
            <a:r>
              <a:t/>
            </a:r>
          </a:p>
          <a:p xmlns:a="http://schemas.openxmlformats.org/drawingml/2006/main">
            <a:r>
              <a:t>Independent training exercise using assumed events and data; not a live contractual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e9a9b063764b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74c7f12b6f4fc4" /><Relationship Type="http://schemas.openxmlformats.org/officeDocument/2006/relationships/slideLayout" Target="/ppt/slideLayouts/slideLayout1.xml" Id="Redcc21befc3e4c7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cc21befc3e4c7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7022f8708b94be8" /><Relationship Type="http://schemas.openxmlformats.org/officeDocument/2006/relationships/notesSlide" Target="/ppt/notesSlides/notesSlide1.xml" Id="Ra310eeda36fa4e8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1680081c48f4e44" /><Relationship Type="http://schemas.openxmlformats.org/officeDocument/2006/relationships/notesSlide" Target="/ppt/notesSlides/notesSlide2.xml" Id="Reb587ca383e74e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8e8d715acc34f24" /><Relationship Type="http://schemas.openxmlformats.org/officeDocument/2006/relationships/notesSlide" Target="/ppt/notesSlides/notesSlide3.xml" Id="R9fcf0997e3de420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e5af98bd43b415b" /><Relationship Type="http://schemas.openxmlformats.org/officeDocument/2006/relationships/chart" Target="/ppt/slides/charts/chart1.xml" Id="R2769987aedfc4d32" /><Relationship Type="http://schemas.openxmlformats.org/officeDocument/2006/relationships/notesSlide" Target="/ppt/notesSlides/notesSlide4.xml" Id="R0977cbd557034b1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39a4b47975949b0" /><Relationship Type="http://schemas.openxmlformats.org/officeDocument/2006/relationships/notesSlide" Target="/ppt/notesSlides/notesSlide5.xml" Id="Rbc1872d038e0409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062ae0e672b41d5" /><Relationship Type="http://schemas.openxmlformats.org/officeDocument/2006/relationships/chart" Target="/ppt/slides/charts/chart2.xml" Id="R1d95660345184fe5" /><Relationship Type="http://schemas.openxmlformats.org/officeDocument/2006/relationships/notesSlide" Target="/ppt/notesSlides/notesSlide6.xml" Id="R40f58ddd580f4d2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c693af121b7414c" /><Relationship Type="http://schemas.openxmlformats.org/officeDocument/2006/relationships/notesSlide" Target="/ppt/notesSlides/notesSlide7.xml" Id="R6c9ebe1546e3408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802a4649e2a4e71" /><Relationship Type="http://schemas.openxmlformats.org/officeDocument/2006/relationships/chart" Target="/ppt/slides/charts/chart3.xml" Id="Re54d8823efc242cb" /><Relationship Type="http://schemas.openxmlformats.org/officeDocument/2006/relationships/notesSlide" Target="/ppt/notesSlides/notesSlide8.xml" Id="Rfe463adea6784ee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93379f417fe48bf" /><Relationship Type="http://schemas.openxmlformats.org/officeDocument/2006/relationships/notesSlide" Target="/ppt/notesSlides/notesSlide9.xml" Id="R967ad738e8b64ab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de598ad260f418c" /><Relationship Type="http://schemas.openxmlformats.org/officeDocument/2006/relationships/chart" Target="/ppt/slides/charts/chart4.xml" Id="R65ee3b142f1449a9" /><Relationship Type="http://schemas.openxmlformats.org/officeDocument/2006/relationships/notesSlide" Target="/ppt/notesSlides/notesSlide10.xml" Id="R5db17ece0650431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566fd6d1c1d4aa1" /><Relationship Type="http://schemas.openxmlformats.org/officeDocument/2006/relationships/notesSlide" Target="/ppt/notesSlides/notesSlide11.xml" Id="R22017564d455403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adc84eac8744728" /><Relationship Type="http://schemas.openxmlformats.org/officeDocument/2006/relationships/notesSlide" Target="/ppt/notesSlides/notesSlide12.xml" Id="R16aa3e47cf4c49b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f603a5c313c41b0" /><Relationship Type="http://schemas.openxmlformats.org/officeDocument/2006/relationships/notesSlide" Target="/ppt/notesSlides/notesSlide13.xml" Id="R63c9bc4c35fb451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fd3bbc6793248b7" /><Relationship Type="http://schemas.openxmlformats.org/officeDocument/2006/relationships/image" Target="/ppt/media/image.png" Id="R5c3f85f17fb44d96" /><Relationship Type="http://schemas.openxmlformats.org/officeDocument/2006/relationships/notesSlide" Target="/ppt/notesSlides/notesSlide14.xml" Id="Rcbe89235d2c8432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55a1ab8e4c6443e" /><Relationship Type="http://schemas.openxmlformats.org/officeDocument/2006/relationships/notesSlide" Target="/ppt/notesSlides/notesSlide15.xml" Id="R9e22759948fe422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125c4020f754982" /><Relationship Type="http://schemas.openxmlformats.org/officeDocument/2006/relationships/notesSlide" Target="/ppt/notesSlides/notesSlide16.xml" Id="R46bf72287fa3488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8cfe6edfda847f7" /><Relationship Type="http://schemas.openxmlformats.org/officeDocument/2006/relationships/notesSlide" Target="/ppt/notesSlides/notesSlide17.xml" Id="R9ab2be405472428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e05c7a3b7b54b14" /><Relationship Type="http://schemas.openxmlformats.org/officeDocument/2006/relationships/notesSlide" Target="/ppt/notesSlides/notesSlide18.xml" Id="R2374a351e7fc47c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Activities</c:v>
          </c:tx>
          <c:spPr>
            <a:solidFill xmlns:a="http://schemas.openxmlformats.org/drawingml/2006/main">
              <a:srgbClr val="2563EB"/>
            </a:solidFill>
          </c:spPr>
          <c:dPt>
            <c:idx val="0"/>
            <c:invertIfNegative val="0"/>
            <c:spPr>
              <a:solidFill xmlns:a="http://schemas.openxmlformats.org/drawingml/2006/main">
                <a:srgbClr val="2563EB"/>
              </a:solidFill>
            </c:spPr>
          </c:dPt>
          <c:dPt>
            <c:idx val="1"/>
            <c:invertIfNegative val="0"/>
            <c:spPr>
              <a:solidFill xmlns:a="http://schemas.openxmlformats.org/drawingml/2006/main">
                <a:srgbClr val="111111"/>
              </a:solidFill>
            </c:spPr>
          </c:dPt>
          <c:dPt>
            <c:idx val="2"/>
            <c:invertIfNegative val="0"/>
            <c:spPr>
              <a:solidFill xmlns:a="http://schemas.openxmlformats.org/drawingml/2006/main">
                <a:srgbClr val="B8C0CC"/>
              </a:solidFill>
            </c:spPr>
          </c:dPt>
          <c:cat>
            <c:strRef>
              <c:f>'Chart Data'!$A$2:$A$4</c:f>
              <c:strCache>
                <c:ptCount val="3"/>
                <c:pt idx="0">
                  <c:v>Complete</c:v>
                </c:pt>
                <c:pt idx="1">
                  <c:v>In progress</c:v>
                </c:pt>
                <c:pt idx="2">
                  <c:v>Not started</c:v>
                </c:pt>
              </c:strCache>
            </c:strRef>
          </c:cat>
          <c:val>
            <c:numRef>
              <c:f>'Chart Data'!$B$2:$B$4</c:f>
              <c:numCache>
                <c:formatCode>#,##0</c:formatCode>
                <c:ptCount val="3"/>
                <c:pt idx="0">
                  <c:v>276</c:v>
                </c:pt>
                <c:pt idx="1">
                  <c:v>9</c:v>
                </c:pt>
                <c:pt idx="2">
                  <c:v>921</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11111"/>
                  </a:solidFil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DE3"/>
            </a:solidFill>
          </a:ln>
        </c:spPr>
        <c:txPr>
          <a:bodyPr xmlns:a="http://schemas.openxmlformats.org/drawingml/2006/main" anchorCtr="1"/>
          <a:lstStyle xmlns:a="http://schemas.openxmlformats.org/drawingml/2006/main"/>
          <a:p xmlns:a="http://schemas.openxmlformats.org/drawingml/2006/main">
            <a:pPr>
              <a:defRPr sz="1650">
                <a:solidFill>
                  <a:srgbClr val="565E68"/>
                </a:solidFill>
              </a:defRPr>
            </a:pPr>
          </a:p>
        </c:txPr>
        <c:crossAx val="48672768"/>
      </c:catAx>
      <c:valAx>
        <c:axId val="48672768"/>
        <c:scaling>
          <c:orientation val="minMax"/>
          <c:max val="1000"/>
          <c:min val="0"/>
        </c:scaling>
        <c:delete val="0"/>
        <c:axPos val="l"/>
        <c:majorGridlines>
          <c:spPr>
            <a:ln xmlns:a="http://schemas.openxmlformats.org/drawingml/2006/main" w="9525">
              <a:solidFill>
                <a:srgbClr val="D8DDE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65E68"/>
                </a:solidFill>
              </a:defRPr>
            </a:pPr>
          </a:p>
        </c:txPr>
        <c:crossAx val="48650112"/>
        <c:crossBetween val="between"/>
        <c:majorUnit val="250"/>
      </c:valAx>
      <c:spPr>
        <a:noFill xmlns:a="http://schemas.openxmlformats.org/drawingml/2006/main"/>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USD thousands</c:v>
          </c:tx>
          <c:spPr>
            <a:solidFill xmlns:a="http://schemas.openxmlformats.org/drawingml/2006/main">
              <a:srgbClr val="2563EB"/>
            </a:solidFill>
          </c:spPr>
          <c:dPt>
            <c:idx val="0"/>
            <c:invertIfNegative val="0"/>
            <c:spPr>
              <a:solidFill xmlns:a="http://schemas.openxmlformats.org/drawingml/2006/main">
                <a:srgbClr val="B8C0CC"/>
              </a:solidFill>
            </c:spPr>
          </c:dPt>
          <c:dPt>
            <c:idx val="1"/>
            <c:invertIfNegative val="0"/>
            <c:spPr>
              <a:solidFill xmlns:a="http://schemas.openxmlformats.org/drawingml/2006/main">
                <a:srgbClr val="2563EB"/>
              </a:solidFill>
            </c:spPr>
          </c:dPt>
          <c:dPt>
            <c:idx val="2"/>
            <c:invertIfNegative val="0"/>
            <c:spPr>
              <a:solidFill xmlns:a="http://schemas.openxmlformats.org/drawingml/2006/main">
                <a:srgbClr val="111111"/>
              </a:solidFill>
            </c:spPr>
          </c:dPt>
          <c:cat>
            <c:strRef>
              <c:f>'Chart Data'!$A$2:$A$4</c:f>
              <c:strCache>
                <c:ptCount val="3"/>
                <c:pt idx="0">
                  <c:v>PV</c:v>
                </c:pt>
                <c:pt idx="1">
                  <c:v>EV</c:v>
                </c:pt>
                <c:pt idx="2">
                  <c:v>AC</c:v>
                </c:pt>
              </c:strCache>
            </c:strRef>
          </c:cat>
          <c:val>
            <c:numRef>
              <c:f>'Chart Data'!$B$2:$B$4</c:f>
              <c:numCache>
                <c:formatCode>0.0</c:formatCode>
                <c:ptCount val="3"/>
                <c:pt idx="0">
                  <c:v>923.04233</c:v>
                </c:pt>
                <c:pt idx="1">
                  <c:v>927.47692</c:v>
                </c:pt>
                <c:pt idx="2">
                  <c:v>940.04233</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11111"/>
                  </a:solidFil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DE3"/>
            </a:solidFill>
          </a:ln>
        </c:spPr>
        <c:txPr>
          <a:bodyPr xmlns:a="http://schemas.openxmlformats.org/drawingml/2006/main" anchorCtr="1"/>
          <a:lstStyle xmlns:a="http://schemas.openxmlformats.org/drawingml/2006/main"/>
          <a:p xmlns:a="http://schemas.openxmlformats.org/drawingml/2006/main">
            <a:pPr>
              <a:defRPr sz="1650">
                <a:solidFill>
                  <a:srgbClr val="565E68"/>
                </a:solidFill>
              </a:defRPr>
            </a:pPr>
          </a:p>
        </c:txPr>
        <c:crossAx val="48672768"/>
      </c:catAx>
      <c:valAx>
        <c:axId val="48672768"/>
        <c:scaling>
          <c:orientation val="minMax"/>
          <c:max val="1000"/>
          <c:min val="0"/>
        </c:scaling>
        <c:delete val="0"/>
        <c:axPos val="l"/>
        <c:majorGridlines>
          <c:spPr>
            <a:ln xmlns:a="http://schemas.openxmlformats.org/drawingml/2006/main" w="9525">
              <a:solidFill>
                <a:srgbClr val="D8DDE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65E68"/>
                </a:solidFill>
              </a:defRPr>
            </a:pPr>
          </a:p>
        </c:txPr>
        <c:crossAx val="48650112"/>
        <c:crossBetween val="between"/>
        <c:majorUnit val="250"/>
      </c:valAx>
      <c:spPr>
        <a:noFill xmlns:a="http://schemas.openxmlformats.org/drawingml/2006/main"/>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Budget</c:v>
          </c:tx>
          <c:spPr>
            <a:solidFill xmlns:a="http://schemas.openxmlformats.org/drawingml/2006/main">
              <a:srgbClr val="B8C0CC"/>
            </a:solidFill>
          </c:spPr>
          <c:cat>
            <c:strRef>
              <c:f>'Chart Data'!$A$2:$A$3</c:f>
              <c:strCache>
                <c:ptCount val="2"/>
                <c:pt idx="0">
                  <c:v>CIV-013</c:v>
                </c:pt>
                <c:pt idx="1">
                  <c:v>CIV-017</c:v>
                </c:pt>
              </c:strCache>
            </c:strRef>
          </c:cat>
          <c:val>
            <c:numRef>
              <c:f>'Chart Data'!$B$2:$B$3</c:f>
              <c:numCache>
                <c:formatCode>#,##0</c:formatCode>
                <c:ptCount val="2"/>
                <c:pt idx="0">
                  <c:v>53368</c:v>
                </c:pt>
                <c:pt idx="1">
                  <c:v>63022</c:v>
                </c:pt>
              </c:numCache>
            </c:numRef>
          </c:val>
        </c:ser>
        <c:ser>
          <c:idx val="1"/>
          <c:order val="1"/>
          <c:tx>
            <c:v>Actual</c:v>
          </c:tx>
          <c:spPr>
            <a:solidFill xmlns:a="http://schemas.openxmlformats.org/drawingml/2006/main">
              <a:srgbClr val="2563EB"/>
            </a:solidFill>
          </c:spPr>
          <c:cat>
            <c:strRef>
              <c:f>'Chart Data'!$C$2:$C$3</c:f>
              <c:strCache>
                <c:ptCount val="2"/>
                <c:pt idx="0">
                  <c:v>CIV-013</c:v>
                </c:pt>
                <c:pt idx="1">
                  <c:v>CIV-017</c:v>
                </c:pt>
              </c:strCache>
            </c:strRef>
          </c:cat>
          <c:val>
            <c:numRef>
              <c:f>'Chart Data'!$D$2:$D$3</c:f>
              <c:numCache>
                <c:formatCode>#,##0</c:formatCode>
                <c:ptCount val="2"/>
                <c:pt idx="0">
                  <c:v>60868</c:v>
                </c:pt>
                <c:pt idx="1">
                  <c:v>72522</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11111"/>
                  </a:solidFil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DE3"/>
            </a:solidFill>
          </a:ln>
        </c:spPr>
        <c:txPr>
          <a:bodyPr xmlns:a="http://schemas.openxmlformats.org/drawingml/2006/main" anchorCtr="1"/>
          <a:lstStyle xmlns:a="http://schemas.openxmlformats.org/drawingml/2006/main"/>
          <a:p xmlns:a="http://schemas.openxmlformats.org/drawingml/2006/main">
            <a:pPr>
              <a:defRPr sz="1650">
                <a:solidFill>
                  <a:srgbClr val="565E68"/>
                </a:solidFill>
              </a:defRPr>
            </a:pPr>
          </a:p>
        </c:txPr>
        <c:crossAx val="48672768"/>
      </c:catAx>
      <c:valAx>
        <c:axId val="48672768"/>
        <c:scaling>
          <c:orientation val="minMax"/>
          <c:max val="80000"/>
          <c:min val="0"/>
        </c:scaling>
        <c:delete val="0"/>
        <c:axPos val="l"/>
        <c:majorGridlines>
          <c:spPr>
            <a:ln xmlns:a="http://schemas.openxmlformats.org/drawingml/2006/main" w="9525">
              <a:solidFill>
                <a:srgbClr val="D8DDE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65E68"/>
                </a:solidFill>
              </a:defRPr>
            </a:pPr>
          </a:p>
        </c:txPr>
        <c:crossAx val="48650112"/>
        <c:crossBetween val="between"/>
        <c:majorUnit val="2000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11111"/>
              </a:solidFil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Resources</c:v>
          </c:tx>
          <c:spPr>
            <a:solidFill xmlns:a="http://schemas.openxmlformats.org/drawingml/2006/main">
              <a:srgbClr val="2563EB"/>
            </a:solidFill>
          </c:spPr>
          <c:dPt>
            <c:idx val="0"/>
            <c:invertIfNegative val="0"/>
            <c:spPr>
              <a:solidFill xmlns:a="http://schemas.openxmlformats.org/drawingml/2006/main">
                <a:srgbClr val="2563EB"/>
              </a:solidFill>
            </c:spPr>
          </c:dPt>
          <c:dPt>
            <c:idx val="1"/>
            <c:invertIfNegative val="0"/>
            <c:spPr>
              <a:solidFill xmlns:a="http://schemas.openxmlformats.org/drawingml/2006/main">
                <a:srgbClr val="111111"/>
              </a:solidFill>
            </c:spPr>
          </c:dPt>
          <c:dPt>
            <c:idx val="2"/>
            <c:invertIfNegative val="0"/>
            <c:spPr>
              <a:solidFill xmlns:a="http://schemas.openxmlformats.org/drawingml/2006/main">
                <a:srgbClr val="B8C0CC"/>
              </a:solidFill>
            </c:spPr>
          </c:dPt>
          <c:cat>
            <c:strRef>
              <c:f>'Chart Data'!$A$2:$A$4</c:f>
              <c:strCache>
                <c:ptCount val="3"/>
                <c:pt idx="0">
                  <c:v>Labor crews</c:v>
                </c:pt>
                <c:pt idx="1">
                  <c:v>Equipment</c:v>
                </c:pt>
                <c:pt idx="2">
                  <c:v>Materials</c:v>
                </c:pt>
              </c:strCache>
            </c:strRef>
          </c:cat>
          <c:val>
            <c:numRef>
              <c:f>'Chart Data'!$B$2:$B$4</c:f>
              <c:numCache>
                <c:formatCode>#,##0</c:formatCode>
                <c:ptCount val="3"/>
                <c:pt idx="0">
                  <c:v>19</c:v>
                </c:pt>
                <c:pt idx="1">
                  <c:v>4</c:v>
                </c:pt>
                <c:pt idx="2">
                  <c:v>10</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11111"/>
                  </a:solidFil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DE3"/>
            </a:solidFill>
          </a:ln>
        </c:spPr>
        <c:txPr>
          <a:bodyPr xmlns:a="http://schemas.openxmlformats.org/drawingml/2006/main" anchorCtr="1"/>
          <a:lstStyle xmlns:a="http://schemas.openxmlformats.org/drawingml/2006/main"/>
          <a:p xmlns:a="http://schemas.openxmlformats.org/drawingml/2006/main">
            <a:pPr>
              <a:defRPr sz="1650">
                <a:solidFill>
                  <a:srgbClr val="565E68"/>
                </a:solidFill>
              </a:defRPr>
            </a:pPr>
          </a:p>
        </c:txPr>
        <c:crossAx val="48672768"/>
      </c:catAx>
      <c:valAx>
        <c:axId val="48672768"/>
        <c:scaling>
          <c:orientation val="minMax"/>
          <c:max val="20"/>
          <c:min val="0"/>
        </c:scaling>
        <c:delete val="0"/>
        <c:axPos val="l"/>
        <c:majorGridlines>
          <c:spPr>
            <a:ln xmlns:a="http://schemas.openxmlformats.org/drawingml/2006/main" w="9525">
              <a:solidFill>
                <a:srgbClr val="D8DDE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65E68"/>
                </a:solidFill>
              </a:defRPr>
            </a:pPr>
          </a:p>
        </c:txPr>
        <c:crossAx val="48650112"/>
        <c:crossBetween val="between"/>
        <c:majorUnit val="5"/>
      </c:valAx>
      <c:spPr>
        <a:noFill xmlns:a="http://schemas.openxmlformats.org/drawingml/2006/main"/>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1">
            <a:extLst xmlns:a="http://schemas.openxmlformats.org/drawingml/2006/main">
              <a:ext uri="{FF2B5EF4-FFF2-40B4-BE49-F238E27FC236}">
                <a16:creationId xmlns:a16="http://schemas.microsoft.com/office/drawing/2014/main" id="{9AC5BA68-F90F-4E40-8ADA-4DC7E829FCCA}"/>
              </a:ext>
            </a:extLst>
          </p:cNvPr>
          <p:cNvSpPr>
            <a:spLocks xmlns:a="http://schemas.openxmlformats.org/drawingml/2006/main" noGrp="1"/>
          </p:cNvSpPr>
          <p:nvPr/>
        </p:nvSpPr>
        <p:spPr>
          <a:xfrm xmlns:a="http://schemas.openxmlformats.org/drawingml/2006/main">
            <a:off x="609600" y="40005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111111"/>
                </a:solidFill>
                <a:latin typeface="Arial"/>
                <a:ea typeface="Arial"/>
                <a:cs typeface="Arial"/>
              </a:defRPr>
            </a:pPr>
            <a:r>
              <a:rPr sz="2250" b="1">
                <a:solidFill>
                  <a:srgbClr val="111111"/>
                </a:solidFill>
                <a:latin typeface="Arial"/>
                <a:ea typeface="Arial"/>
                <a:cs typeface="Arial"/>
              </a:rPr>
              <a:t>ALI BAYOUMI</a:t>
            </a:r>
          </a:p>
        </p:txBody>
      </p:sp>
      <p:sp>
        <p:nvSpPr>
          <p:cNvPr id="2" name="text-2">
            <a:extLst xmlns:a="http://schemas.openxmlformats.org/drawingml/2006/main">
              <a:ext uri="{FF2B5EF4-FFF2-40B4-BE49-F238E27FC236}">
                <a16:creationId xmlns:a16="http://schemas.microsoft.com/office/drawing/2014/main" id="{79942DFD-4317-47FA-828B-A25CF4C8CE62}"/>
              </a:ext>
            </a:extLst>
          </p:cNvPr>
          <p:cNvSpPr>
            <a:spLocks xmlns:a="http://schemas.openxmlformats.org/drawingml/2006/main" noGrp="1"/>
          </p:cNvSpPr>
          <p:nvPr/>
        </p:nvSpPr>
        <p:spPr>
          <a:xfrm xmlns:a="http://schemas.openxmlformats.org/drawingml/2006/main">
            <a:off x="609600" y="11239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2563EB"/>
                </a:solidFill>
                <a:latin typeface="Arial"/>
                <a:ea typeface="Arial"/>
                <a:cs typeface="Arial"/>
              </a:defRPr>
            </a:pPr>
            <a:r>
              <a:rPr sz="1650" b="0">
                <a:solidFill>
                  <a:srgbClr val="2563EB"/>
                </a:solidFill>
                <a:latin typeface="Arial"/>
                <a:ea typeface="Arial"/>
                <a:cs typeface="Arial"/>
              </a:rPr>
              <a:t>INDEPENDENT PORTFOLIO CASE STUDY</a:t>
            </a:r>
          </a:p>
        </p:txBody>
      </p:sp>
      <p:sp>
        <p:nvSpPr>
          <p:cNvPr id="3" name="text-3">
            <a:extLst xmlns:a="http://schemas.openxmlformats.org/drawingml/2006/main">
              <a:ext uri="{FF2B5EF4-FFF2-40B4-BE49-F238E27FC236}">
                <a16:creationId xmlns:a16="http://schemas.microsoft.com/office/drawing/2014/main" id="{517C74A6-5577-4BCA-A41B-A54E3050CAA8}"/>
              </a:ext>
            </a:extLst>
          </p:cNvPr>
          <p:cNvSpPr>
            <a:spLocks xmlns:a="http://schemas.openxmlformats.org/drawingml/2006/main" noGrp="1"/>
          </p:cNvSpPr>
          <p:nvPr/>
        </p:nvSpPr>
        <p:spPr>
          <a:xfrm xmlns:a="http://schemas.openxmlformats.org/drawingml/2006/main">
            <a:off x="609600" y="2047875"/>
            <a:ext cx="10668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6600" b="1">
                <a:solidFill>
                  <a:srgbClr val="111111"/>
                </a:solidFill>
                <a:latin typeface="Arial"/>
                <a:ea typeface="Arial"/>
                <a:cs typeface="Arial"/>
              </a:defRPr>
            </a:pPr>
            <a:r>
              <a:rPr sz="6600" b="1">
                <a:solidFill>
                  <a:srgbClr val="111111"/>
                </a:solidFill>
                <a:latin typeface="Arial"/>
                <a:ea typeface="Arial"/>
                <a:cs typeface="Arial"/>
              </a:rPr>
              <a:t>Planning &amp;</a:t>
            </a:r>
          </a:p>
          <a:p xmlns:a="http://schemas.openxmlformats.org/drawingml/2006/main">
            <a:pPr algn="l">
              <a:buNone/>
              <a:defRPr sz="6600" b="1">
                <a:solidFill>
                  <a:srgbClr val="111111"/>
                </a:solidFill>
                <a:latin typeface="Arial"/>
                <a:ea typeface="Arial"/>
                <a:cs typeface="Arial"/>
              </a:defRPr>
            </a:pPr>
            <a:r>
              <a:rPr sz="6600" b="1">
                <a:solidFill>
                  <a:srgbClr val="111111"/>
                </a:solidFill>
                <a:latin typeface="Arial"/>
                <a:ea typeface="Arial"/>
                <a:cs typeface="Arial"/>
              </a:rPr>
              <a:t>Project Controls</a:t>
            </a:r>
          </a:p>
        </p:txBody>
      </p:sp>
      <p:sp>
        <p:nvSpPr>
          <p:cNvPr id="4" name="rule-4">
            <a:extLst xmlns:a="http://schemas.openxmlformats.org/drawingml/2006/main">
              <a:ext uri="{FF2B5EF4-FFF2-40B4-BE49-F238E27FC236}">
                <a16:creationId xmlns:a16="http://schemas.microsoft.com/office/drawing/2014/main" id="{59BADC7A-5784-47AB-86A4-4D6B8DA18E9D}"/>
              </a:ext>
            </a:extLst>
          </p:cNvPr>
          <p:cNvSpPr>
            <a:spLocks xmlns:a="http://schemas.openxmlformats.org/drawingml/2006/main" noGrp="1"/>
          </p:cNvSpPr>
          <p:nvPr/>
        </p:nvSpPr>
        <p:spPr>
          <a:xfrm xmlns:a="http://schemas.openxmlformats.org/drawingml/2006/main">
            <a:off x="609600" y="4533900"/>
            <a:ext cx="1524000" cy="0"/>
          </a:xfrm>
          <a:prstGeom xmlns:a="http://schemas.openxmlformats.org/drawingml/2006/main" prst="line">
            <a:avLst/>
          </a:prstGeom>
          <a:noFill xmlns:a="http://schemas.openxmlformats.org/drawingml/2006/main"/>
          <a:ln xmlns:a="http://schemas.openxmlformats.org/drawingml/2006/main" w="47625">
            <a:solidFill>
              <a:srgbClr val="2563EB"/>
            </a:solidFill>
            <a:prstDash val="solid"/>
          </a:ln>
        </p:spPr>
      </p:sp>
      <p:sp>
        <p:nvSpPr>
          <p:cNvPr id="5" name="text-5">
            <a:extLst xmlns:a="http://schemas.openxmlformats.org/drawingml/2006/main">
              <a:ext uri="{FF2B5EF4-FFF2-40B4-BE49-F238E27FC236}">
                <a16:creationId xmlns:a16="http://schemas.microsoft.com/office/drawing/2014/main" id="{3552AC35-59D3-43BA-AAD6-89B3DB61733C}"/>
              </a:ext>
            </a:extLst>
          </p:cNvPr>
          <p:cNvSpPr>
            <a:spLocks xmlns:a="http://schemas.openxmlformats.org/drawingml/2006/main" noGrp="1"/>
          </p:cNvSpPr>
          <p:nvPr/>
        </p:nvSpPr>
        <p:spPr>
          <a:xfrm xmlns:a="http://schemas.openxmlformats.org/drawingml/2006/main">
            <a:off x="609600" y="49530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0">
                <a:solidFill>
                  <a:srgbClr val="111111"/>
                </a:solidFill>
                <a:latin typeface="Arial"/>
                <a:ea typeface="Arial"/>
                <a:cs typeface="Arial"/>
              </a:defRPr>
            </a:pPr>
            <a:r>
              <a:rPr sz="2400" b="0">
                <a:solidFill>
                  <a:srgbClr val="111111"/>
                </a:solidFill>
                <a:latin typeface="Arial"/>
                <a:ea typeface="Arial"/>
                <a:cs typeface="Arial"/>
              </a:rPr>
              <a:t>G+9 office building + roof</a:t>
            </a:r>
          </a:p>
        </p:txBody>
      </p:sp>
      <p:sp>
        <p:nvSpPr>
          <p:cNvPr id="6" name="text-6">
            <a:extLst xmlns:a="http://schemas.openxmlformats.org/drawingml/2006/main">
              <a:ext uri="{FF2B5EF4-FFF2-40B4-BE49-F238E27FC236}">
                <a16:creationId xmlns:a16="http://schemas.microsoft.com/office/drawing/2014/main" id="{BA97967B-393E-4A4B-B924-7BF98A019A04}"/>
              </a:ext>
            </a:extLst>
          </p:cNvPr>
          <p:cNvSpPr>
            <a:spLocks xmlns:a="http://schemas.openxmlformats.org/drawingml/2006/main" noGrp="1"/>
          </p:cNvSpPr>
          <p:nvPr/>
        </p:nvSpPr>
        <p:spPr>
          <a:xfrm xmlns:a="http://schemas.openxmlformats.org/drawingml/2006/main">
            <a:off x="609600" y="55054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65E68"/>
                </a:solidFill>
                <a:latin typeface="Arial"/>
                <a:ea typeface="Arial"/>
                <a:cs typeface="Arial"/>
              </a:defRPr>
            </a:pPr>
            <a:r>
              <a:rPr sz="1800" b="0">
                <a:solidFill>
                  <a:srgbClr val="565E68"/>
                </a:solidFill>
                <a:latin typeface="Arial"/>
                <a:ea typeface="Arial"/>
                <a:cs typeface="Arial"/>
              </a:rPr>
              <a:t>Primavera P6  /  Baseline, update and management reporting</a:t>
            </a:r>
          </a:p>
        </p:txBody>
      </p:sp>
      <p:sp>
        <p:nvSpPr>
          <p:cNvPr id="7" name="text-7">
            <a:extLst xmlns:a="http://schemas.openxmlformats.org/drawingml/2006/main">
              <a:ext uri="{FF2B5EF4-FFF2-40B4-BE49-F238E27FC236}">
                <a16:creationId xmlns:a16="http://schemas.microsoft.com/office/drawing/2014/main" id="{A24AA43F-D6A6-4C46-8F2B-A6FDA8BF16DD}"/>
              </a:ext>
            </a:extLst>
          </p:cNvPr>
          <p:cNvSpPr>
            <a:spLocks xmlns:a="http://schemas.openxmlformats.org/drawingml/2006/main" noGrp="1"/>
          </p:cNvSpPr>
          <p:nvPr/>
        </p:nvSpPr>
        <p:spPr>
          <a:xfrm xmlns:a="http://schemas.openxmlformats.org/drawingml/2006/main">
            <a:off x="609600" y="64484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565E68"/>
                </a:solidFill>
                <a:latin typeface="Arial"/>
                <a:ea typeface="Arial"/>
                <a:cs typeface="Arial"/>
              </a:defRPr>
            </a:pPr>
            <a:r>
              <a:rPr sz="1275" b="0">
                <a:solidFill>
                  <a:srgbClr val="565E68"/>
                </a:solidFill>
                <a:latin typeface="Arial"/>
                <a:ea typeface="Arial"/>
                <a:cs typeface="Arial"/>
              </a:rPr>
              <a:t>SIMULATED PROJECT  ·  REPORTING DATA DATE 01 APR 2027</a:t>
            </a:r>
          </a:p>
        </p:txBody>
      </p:sp>
    </p:spTree>
    <p:extLst>
      <p:ext uri="{BB962C8B-B14F-4D97-AF65-F5344CB8AC3E}">
        <p14:creationId xmlns:p14="http://schemas.microsoft.com/office/powerpoint/2010/main" val="147117432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8">
            <a:extLst xmlns:a="http://schemas.openxmlformats.org/drawingml/2006/main">
              <a:ext uri="{FF2B5EF4-FFF2-40B4-BE49-F238E27FC236}">
                <a16:creationId xmlns:a16="http://schemas.microsoft.com/office/drawing/2014/main" id="{FD02B788-F0D1-427A-9273-CBA882D0B78D}"/>
              </a:ext>
            </a:extLst>
          </p:cNvPr>
          <p:cNvSpPr>
            <a:spLocks xmlns:a="http://schemas.openxmlformats.org/drawingml/2006/main" noGrp="1"/>
          </p:cNvSpPr>
          <p:nvPr/>
        </p:nvSpPr>
        <p:spPr>
          <a:xfrm xmlns:a="http://schemas.openxmlformats.org/drawingml/2006/main">
            <a:off x="609600" y="3238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2563EB"/>
                </a:solidFill>
                <a:latin typeface="Arial"/>
                <a:ea typeface="Arial"/>
                <a:cs typeface="Arial"/>
              </a:defRPr>
            </a:pPr>
            <a:r>
              <a:rPr sz="1275" b="1">
                <a:solidFill>
                  <a:srgbClr val="2563EB"/>
                </a:solidFill>
                <a:latin typeface="Arial"/>
                <a:ea typeface="Arial"/>
                <a:cs typeface="Arial"/>
              </a:rPr>
              <a:t>PROGRAMME SCALE</a:t>
            </a:r>
          </a:p>
        </p:txBody>
      </p:sp>
      <p:sp>
        <p:nvSpPr>
          <p:cNvPr id="2" name="slide-2-title">
            <a:extLst xmlns:a="http://schemas.openxmlformats.org/drawingml/2006/main">
              <a:ext uri="{FF2B5EF4-FFF2-40B4-BE49-F238E27FC236}">
                <a16:creationId xmlns:a16="http://schemas.microsoft.com/office/drawing/2014/main" id="{ADD6F76D-0A88-4FE6-BCC6-A75ADA98AD0E}"/>
              </a:ext>
            </a:extLst>
          </p:cNvPr>
          <p:cNvSpPr>
            <a:spLocks xmlns:a="http://schemas.openxmlformats.org/drawingml/2006/main" noGrp="1"/>
          </p:cNvSpPr>
          <p:nvPr/>
        </p:nvSpPr>
        <p:spPr>
          <a:xfrm xmlns:a="http://schemas.openxmlformats.org/drawingml/2006/main">
            <a:off x="609600" y="7905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111111"/>
                </a:solidFill>
                <a:latin typeface="Arial"/>
                <a:ea typeface="Arial"/>
                <a:cs typeface="Arial"/>
              </a:defRPr>
            </a:pPr>
            <a:r>
              <a:rPr sz="3600" b="1">
                <a:solidFill>
                  <a:srgbClr val="111111"/>
                </a:solidFill>
                <a:latin typeface="Arial"/>
                <a:ea typeface="Arial"/>
                <a:cs typeface="Arial"/>
              </a:rPr>
              <a:t>A complete building programme</a:t>
            </a:r>
          </a:p>
        </p:txBody>
      </p:sp>
      <p:sp>
        <p:nvSpPr>
          <p:cNvPr id="3" name="rule-9">
            <a:extLst xmlns:a="http://schemas.openxmlformats.org/drawingml/2006/main">
              <a:ext uri="{FF2B5EF4-FFF2-40B4-BE49-F238E27FC236}">
                <a16:creationId xmlns:a16="http://schemas.microsoft.com/office/drawing/2014/main" id="{88C9A760-4BA5-4A0A-A2C3-F11991402A3F}"/>
              </a:ext>
            </a:extLst>
          </p:cNvPr>
          <p:cNvSpPr>
            <a:spLocks xmlns:a="http://schemas.openxmlformats.org/drawingml/2006/main" noGrp="1"/>
          </p:cNvSpPr>
          <p:nvPr/>
        </p:nvSpPr>
        <p:spPr>
          <a:xfrm xmlns:a="http://schemas.openxmlformats.org/drawingml/2006/main">
            <a:off x="609600" y="6362700"/>
            <a:ext cx="10972800" cy="0"/>
          </a:xfrm>
          <a:prstGeom xmlns:a="http://schemas.openxmlformats.org/drawingml/2006/main" prst="line">
            <a:avLst/>
          </a:prstGeom>
          <a:noFill xmlns:a="http://schemas.openxmlformats.org/drawingml/2006/main"/>
          <a:ln xmlns:a="http://schemas.openxmlformats.org/drawingml/2006/main" w="9525">
            <a:solidFill>
              <a:srgbClr val="D8DDE3"/>
            </a:solidFill>
            <a:prstDash val="solid"/>
          </a:ln>
        </p:spPr>
      </p:sp>
      <p:sp>
        <p:nvSpPr>
          <p:cNvPr id="4" name="text-10">
            <a:extLst xmlns:a="http://schemas.openxmlformats.org/drawingml/2006/main">
              <a:ext uri="{FF2B5EF4-FFF2-40B4-BE49-F238E27FC236}">
                <a16:creationId xmlns:a16="http://schemas.microsoft.com/office/drawing/2014/main" id="{F70943E3-7632-44F8-AFA5-2938F8D7C7B7}"/>
              </a:ext>
            </a:extLst>
          </p:cNvPr>
          <p:cNvSpPr>
            <a:spLocks xmlns:a="http://schemas.openxmlformats.org/drawingml/2006/main" noGrp="1"/>
          </p:cNvSpPr>
          <p:nvPr/>
        </p:nvSpPr>
        <p:spPr>
          <a:xfrm xmlns:a="http://schemas.openxmlformats.org/drawingml/2006/main">
            <a:off x="609600" y="6534150"/>
            <a:ext cx="685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0">
                <a:solidFill>
                  <a:srgbClr val="565E68"/>
                </a:solidFill>
                <a:latin typeface="Arial"/>
                <a:ea typeface="Arial"/>
                <a:cs typeface="Arial"/>
              </a:defRPr>
            </a:pPr>
            <a:r>
              <a:rPr sz="975" b="0">
                <a:solidFill>
                  <a:srgbClr val="565E68"/>
                </a:solidFill>
                <a:latin typeface="Arial"/>
                <a:ea typeface="Arial"/>
                <a:cs typeface="Arial"/>
              </a:rPr>
              <a:t>ALI BAYOUMI  /  PRIMAVERA P6 CASE STUDY</a:t>
            </a:r>
          </a:p>
        </p:txBody>
      </p:sp>
      <p:sp>
        <p:nvSpPr>
          <p:cNvPr id="5" name="text-11">
            <a:extLst xmlns:a="http://schemas.openxmlformats.org/drawingml/2006/main">
              <a:ext uri="{FF2B5EF4-FFF2-40B4-BE49-F238E27FC236}">
                <a16:creationId xmlns:a16="http://schemas.microsoft.com/office/drawing/2014/main" id="{AFBDE366-2065-4BA2-86DC-6499B7FEBB4D}"/>
              </a:ext>
            </a:extLst>
          </p:cNvPr>
          <p:cNvSpPr>
            <a:spLocks xmlns:a="http://schemas.openxmlformats.org/drawingml/2006/main" noGrp="1"/>
          </p:cNvSpPr>
          <p:nvPr/>
        </p:nvSpPr>
        <p:spPr>
          <a:xfrm xmlns:a="http://schemas.openxmlformats.org/drawingml/2006/main">
            <a:off x="8229600" y="653415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a:solidFill>
                  <a:srgbClr val="565E68"/>
                </a:solidFill>
                <a:latin typeface="Arial"/>
                <a:ea typeface="Arial"/>
                <a:cs typeface="Arial"/>
              </a:defRPr>
            </a:pPr>
            <a:r>
              <a:rPr sz="975" b="0">
                <a:solidFill>
                  <a:srgbClr val="565E68"/>
                </a:solidFill>
                <a:latin typeface="Arial"/>
                <a:ea typeface="Arial"/>
                <a:cs typeface="Arial"/>
              </a:rPr>
              <a:t>SIMULATED PROJECT</a:t>
            </a:r>
          </a:p>
        </p:txBody>
      </p:sp>
      <p:sp>
        <p:nvSpPr>
          <p:cNvPr id="6" name="text-12">
            <a:extLst xmlns:a="http://schemas.openxmlformats.org/drawingml/2006/main">
              <a:ext uri="{FF2B5EF4-FFF2-40B4-BE49-F238E27FC236}">
                <a16:creationId xmlns:a16="http://schemas.microsoft.com/office/drawing/2014/main" id="{35472F2C-5704-472A-891A-FF1449BAA089}"/>
              </a:ext>
            </a:extLst>
          </p:cNvPr>
          <p:cNvSpPr>
            <a:spLocks xmlns:a="http://schemas.openxmlformats.org/drawingml/2006/main" noGrp="1"/>
          </p:cNvSpPr>
          <p:nvPr/>
        </p:nvSpPr>
        <p:spPr>
          <a:xfrm xmlns:a="http://schemas.openxmlformats.org/drawingml/2006/main">
            <a:off x="11144250" y="64960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111111"/>
                </a:solidFill>
                <a:latin typeface="Arial"/>
                <a:ea typeface="Arial"/>
                <a:cs typeface="Arial"/>
              </a:defRPr>
            </a:pPr>
            <a:r>
              <a:rPr sz="1350" b="0">
                <a:solidFill>
                  <a:srgbClr val="111111"/>
                </a:solidFill>
                <a:latin typeface="Arial"/>
                <a:ea typeface="Arial"/>
                <a:cs typeface="Arial"/>
              </a:rPr>
              <a:t>02</a:t>
            </a:r>
          </a:p>
        </p:txBody>
      </p:sp>
      <p:sp>
        <p:nvSpPr>
          <p:cNvPr id="7" name="text-13">
            <a:extLst xmlns:a="http://schemas.openxmlformats.org/drawingml/2006/main">
              <a:ext uri="{FF2B5EF4-FFF2-40B4-BE49-F238E27FC236}">
                <a16:creationId xmlns:a16="http://schemas.microsoft.com/office/drawing/2014/main" id="{EC58D9F0-BB22-4677-A10F-6DE771206EE6}"/>
              </a:ext>
            </a:extLst>
          </p:cNvPr>
          <p:cNvSpPr>
            <a:spLocks xmlns:a="http://schemas.openxmlformats.org/drawingml/2006/main" noGrp="1"/>
          </p:cNvSpPr>
          <p:nvPr/>
        </p:nvSpPr>
        <p:spPr>
          <a:xfrm xmlns:a="http://schemas.openxmlformats.org/drawingml/2006/main">
            <a:off x="609600" y="2076450"/>
            <a:ext cx="5381625" cy="15361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800" b="1">
                <a:solidFill>
                  <a:srgbClr val="111111"/>
                </a:solidFill>
                <a:latin typeface="Arial"/>
                <a:ea typeface="Arial"/>
                <a:cs typeface="Arial"/>
              </a:defRPr>
            </a:pPr>
            <a:r>
              <a:rPr sz="10800" b="1">
                <a:solidFill>
                  <a:srgbClr val="111111"/>
                </a:solidFill>
                <a:latin typeface="Arial"/>
                <a:ea typeface="Arial"/>
                <a:cs typeface="Arial"/>
              </a:rPr>
              <a:t>1,206</a:t>
            </a:r>
          </a:p>
        </p:txBody>
      </p:sp>
      <p:sp>
        <p:nvSpPr>
          <p:cNvPr id="8" name="text-14">
            <a:extLst xmlns:a="http://schemas.openxmlformats.org/drawingml/2006/main">
              <a:ext uri="{FF2B5EF4-FFF2-40B4-BE49-F238E27FC236}">
                <a16:creationId xmlns:a16="http://schemas.microsoft.com/office/drawing/2014/main" id="{CC40007C-6DFF-42CC-805A-9D37C38AF49C}"/>
              </a:ext>
            </a:extLst>
          </p:cNvPr>
          <p:cNvSpPr>
            <a:spLocks xmlns:a="http://schemas.openxmlformats.org/drawingml/2006/main" noGrp="1"/>
          </p:cNvSpPr>
          <p:nvPr/>
        </p:nvSpPr>
        <p:spPr>
          <a:xfrm xmlns:a="http://schemas.openxmlformats.org/drawingml/2006/main">
            <a:off x="609600" y="3688842"/>
            <a:ext cx="5381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565E68"/>
                </a:solidFill>
                <a:latin typeface="Arial"/>
                <a:ea typeface="Arial"/>
                <a:cs typeface="Arial"/>
              </a:defRPr>
            </a:pPr>
            <a:r>
              <a:rPr sz="1650" b="0">
                <a:solidFill>
                  <a:srgbClr val="565E68"/>
                </a:solidFill>
                <a:latin typeface="Arial"/>
                <a:ea typeface="Arial"/>
                <a:cs typeface="Arial"/>
              </a:rPr>
              <a:t>scheduled activities</a:t>
            </a:r>
          </a:p>
        </p:txBody>
      </p:sp>
      <p:sp>
        <p:nvSpPr>
          <p:cNvPr id="9" name="text-15">
            <a:extLst xmlns:a="http://schemas.openxmlformats.org/drawingml/2006/main">
              <a:ext uri="{FF2B5EF4-FFF2-40B4-BE49-F238E27FC236}">
                <a16:creationId xmlns:a16="http://schemas.microsoft.com/office/drawing/2014/main" id="{43ECAC7A-BD85-443E-B40A-217285AB0076}"/>
              </a:ext>
            </a:extLst>
          </p:cNvPr>
          <p:cNvSpPr>
            <a:spLocks xmlns:a="http://schemas.openxmlformats.org/drawingml/2006/main" noGrp="1"/>
          </p:cNvSpPr>
          <p:nvPr/>
        </p:nvSpPr>
        <p:spPr>
          <a:xfrm xmlns:a="http://schemas.openxmlformats.org/drawingml/2006/main">
            <a:off x="647700" y="4343400"/>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0">
                <a:solidFill>
                  <a:srgbClr val="565E68"/>
                </a:solidFill>
                <a:latin typeface="Arial"/>
                <a:ea typeface="Arial"/>
                <a:cs typeface="Arial"/>
              </a:defRPr>
            </a:pPr>
            <a:r>
              <a:rPr sz="2400" b="0">
                <a:solidFill>
                  <a:srgbClr val="565E68"/>
                </a:solidFill>
                <a:latin typeface="Arial"/>
                <a:ea typeface="Arial"/>
                <a:cs typeface="Arial"/>
              </a:rPr>
              <a:t>G+9 + roof</a:t>
            </a:r>
          </a:p>
          <a:p xmlns:a="http://schemas.openxmlformats.org/drawingml/2006/main">
            <a:pPr algn="l">
              <a:buNone/>
              <a:defRPr sz="2400" b="0">
                <a:solidFill>
                  <a:srgbClr val="565E68"/>
                </a:solidFill>
                <a:latin typeface="Arial"/>
                <a:ea typeface="Arial"/>
                <a:cs typeface="Arial"/>
              </a:defRPr>
            </a:pPr>
            <a:r>
              <a:rPr sz="2400" b="0">
                <a:solidFill>
                  <a:srgbClr val="565E68"/>
                </a:solidFill>
                <a:latin typeface="Arial"/>
                <a:ea typeface="Arial"/>
                <a:cs typeface="Arial"/>
              </a:rPr>
              <a:t>Engineering through handover</a:t>
            </a:r>
          </a:p>
        </p:txBody>
      </p:sp>
      <p:sp>
        <p:nvSpPr>
          <p:cNvPr id="10" name="text-16">
            <a:extLst xmlns:a="http://schemas.openxmlformats.org/drawingml/2006/main">
              <a:ext uri="{FF2B5EF4-FFF2-40B4-BE49-F238E27FC236}">
                <a16:creationId xmlns:a16="http://schemas.microsoft.com/office/drawing/2014/main" id="{611BF6BB-55C9-445A-93D2-5EEA95F5D9C8}"/>
              </a:ext>
            </a:extLst>
          </p:cNvPr>
          <p:cNvSpPr>
            <a:spLocks xmlns:a="http://schemas.openxmlformats.org/drawingml/2006/main" noGrp="1"/>
          </p:cNvSpPr>
          <p:nvPr/>
        </p:nvSpPr>
        <p:spPr>
          <a:xfrm xmlns:a="http://schemas.openxmlformats.org/drawingml/2006/main">
            <a:off x="6743700" y="2028825"/>
            <a:ext cx="4838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575" b="1">
                <a:solidFill>
                  <a:srgbClr val="111111"/>
                </a:solidFill>
                <a:latin typeface="Arial"/>
                <a:ea typeface="Arial"/>
                <a:cs typeface="Arial"/>
              </a:defRPr>
            </a:pPr>
            <a:r>
              <a:rPr sz="4575" b="1">
                <a:solidFill>
                  <a:srgbClr val="111111"/>
                </a:solidFill>
                <a:latin typeface="Arial"/>
                <a:ea typeface="Arial"/>
                <a:cs typeface="Arial"/>
              </a:rPr>
              <a:t>1,876</a:t>
            </a:r>
          </a:p>
        </p:txBody>
      </p:sp>
      <p:sp>
        <p:nvSpPr>
          <p:cNvPr id="11" name="text-17">
            <a:extLst xmlns:a="http://schemas.openxmlformats.org/drawingml/2006/main">
              <a:ext uri="{FF2B5EF4-FFF2-40B4-BE49-F238E27FC236}">
                <a16:creationId xmlns:a16="http://schemas.microsoft.com/office/drawing/2014/main" id="{E9FA0BA0-6B09-4AA0-920A-E6CFF43C9B63}"/>
              </a:ext>
            </a:extLst>
          </p:cNvPr>
          <p:cNvSpPr>
            <a:spLocks xmlns:a="http://schemas.openxmlformats.org/drawingml/2006/main" noGrp="1"/>
          </p:cNvSpPr>
          <p:nvPr/>
        </p:nvSpPr>
        <p:spPr>
          <a:xfrm xmlns:a="http://schemas.openxmlformats.org/drawingml/2006/main">
            <a:off x="6762750" y="2714625"/>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565E68"/>
                </a:solidFill>
                <a:latin typeface="Arial"/>
                <a:ea typeface="Arial"/>
                <a:cs typeface="Arial"/>
              </a:defRPr>
            </a:pPr>
            <a:r>
              <a:rPr sz="1650" b="0">
                <a:solidFill>
                  <a:srgbClr val="565E68"/>
                </a:solidFill>
                <a:latin typeface="Arial"/>
                <a:ea typeface="Arial"/>
                <a:cs typeface="Arial"/>
              </a:rPr>
              <a:t>logic relationships</a:t>
            </a:r>
          </a:p>
        </p:txBody>
      </p:sp>
      <p:sp>
        <p:nvSpPr>
          <p:cNvPr id="12" name="rule-18">
            <a:extLst xmlns:a="http://schemas.openxmlformats.org/drawingml/2006/main">
              <a:ext uri="{FF2B5EF4-FFF2-40B4-BE49-F238E27FC236}">
                <a16:creationId xmlns:a16="http://schemas.microsoft.com/office/drawing/2014/main" id="{7A2EAC9E-3967-4561-81CD-8395448A6B67}"/>
              </a:ext>
            </a:extLst>
          </p:cNvPr>
          <p:cNvSpPr>
            <a:spLocks xmlns:a="http://schemas.openxmlformats.org/drawingml/2006/main" noGrp="1"/>
          </p:cNvSpPr>
          <p:nvPr/>
        </p:nvSpPr>
        <p:spPr>
          <a:xfrm xmlns:a="http://schemas.openxmlformats.org/drawingml/2006/main">
            <a:off x="6743700" y="3105150"/>
            <a:ext cx="4838700" cy="0"/>
          </a:xfrm>
          <a:prstGeom xmlns:a="http://schemas.openxmlformats.org/drawingml/2006/main" prst="line">
            <a:avLst/>
          </a:prstGeom>
          <a:noFill xmlns:a="http://schemas.openxmlformats.org/drawingml/2006/main"/>
          <a:ln xmlns:a="http://schemas.openxmlformats.org/drawingml/2006/main" w="9525">
            <a:solidFill>
              <a:srgbClr val="D8DDE3"/>
            </a:solidFill>
            <a:prstDash val="solid"/>
          </a:ln>
        </p:spPr>
      </p:sp>
      <p:sp>
        <p:nvSpPr>
          <p:cNvPr id="13" name="text-19">
            <a:extLst xmlns:a="http://schemas.openxmlformats.org/drawingml/2006/main">
              <a:ext uri="{FF2B5EF4-FFF2-40B4-BE49-F238E27FC236}">
                <a16:creationId xmlns:a16="http://schemas.microsoft.com/office/drawing/2014/main" id="{0D3DB0BB-7601-40F8-B9B5-3CB7C859684A}"/>
              </a:ext>
            </a:extLst>
          </p:cNvPr>
          <p:cNvSpPr>
            <a:spLocks xmlns:a="http://schemas.openxmlformats.org/drawingml/2006/main" noGrp="1"/>
          </p:cNvSpPr>
          <p:nvPr/>
        </p:nvSpPr>
        <p:spPr>
          <a:xfrm xmlns:a="http://schemas.openxmlformats.org/drawingml/2006/main">
            <a:off x="6743700" y="3248025"/>
            <a:ext cx="4838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575" b="1">
                <a:solidFill>
                  <a:srgbClr val="111111"/>
                </a:solidFill>
                <a:latin typeface="Arial"/>
                <a:ea typeface="Arial"/>
                <a:cs typeface="Arial"/>
              </a:defRPr>
            </a:pPr>
            <a:r>
              <a:rPr sz="4575" b="1">
                <a:solidFill>
                  <a:srgbClr val="111111"/>
                </a:solidFill>
                <a:latin typeface="Arial"/>
                <a:ea typeface="Arial"/>
                <a:cs typeface="Arial"/>
              </a:rPr>
              <a:t>195</a:t>
            </a:r>
          </a:p>
        </p:txBody>
      </p:sp>
      <p:sp>
        <p:nvSpPr>
          <p:cNvPr id="14" name="text-20">
            <a:extLst xmlns:a="http://schemas.openxmlformats.org/drawingml/2006/main">
              <a:ext uri="{FF2B5EF4-FFF2-40B4-BE49-F238E27FC236}">
                <a16:creationId xmlns:a16="http://schemas.microsoft.com/office/drawing/2014/main" id="{FFD1A176-B471-4FC1-B9F3-01B05EA5FC71}"/>
              </a:ext>
            </a:extLst>
          </p:cNvPr>
          <p:cNvSpPr>
            <a:spLocks xmlns:a="http://schemas.openxmlformats.org/drawingml/2006/main" noGrp="1"/>
          </p:cNvSpPr>
          <p:nvPr/>
        </p:nvSpPr>
        <p:spPr>
          <a:xfrm xmlns:a="http://schemas.openxmlformats.org/drawingml/2006/main">
            <a:off x="6762750" y="3933825"/>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565E68"/>
                </a:solidFill>
                <a:latin typeface="Arial"/>
                <a:ea typeface="Arial"/>
                <a:cs typeface="Arial"/>
              </a:defRPr>
            </a:pPr>
            <a:r>
              <a:rPr sz="1650" b="0">
                <a:solidFill>
                  <a:srgbClr val="565E68"/>
                </a:solidFill>
                <a:latin typeface="Arial"/>
                <a:ea typeface="Arial"/>
                <a:cs typeface="Arial"/>
              </a:rPr>
              <a:t>WBS nodes, including project root</a:t>
            </a:r>
          </a:p>
        </p:txBody>
      </p:sp>
      <p:sp>
        <p:nvSpPr>
          <p:cNvPr id="15" name="rule-21">
            <a:extLst xmlns:a="http://schemas.openxmlformats.org/drawingml/2006/main">
              <a:ext uri="{FF2B5EF4-FFF2-40B4-BE49-F238E27FC236}">
                <a16:creationId xmlns:a16="http://schemas.microsoft.com/office/drawing/2014/main" id="{9E625A5F-15C5-4964-8A9E-6E3AB49EA913}"/>
              </a:ext>
            </a:extLst>
          </p:cNvPr>
          <p:cNvSpPr>
            <a:spLocks xmlns:a="http://schemas.openxmlformats.org/drawingml/2006/main" noGrp="1"/>
          </p:cNvSpPr>
          <p:nvPr/>
        </p:nvSpPr>
        <p:spPr>
          <a:xfrm xmlns:a="http://schemas.openxmlformats.org/drawingml/2006/main">
            <a:off x="6743700" y="4324350"/>
            <a:ext cx="4838700" cy="0"/>
          </a:xfrm>
          <a:prstGeom xmlns:a="http://schemas.openxmlformats.org/drawingml/2006/main" prst="line">
            <a:avLst/>
          </a:prstGeom>
          <a:noFill xmlns:a="http://schemas.openxmlformats.org/drawingml/2006/main"/>
          <a:ln xmlns:a="http://schemas.openxmlformats.org/drawingml/2006/main" w="9525">
            <a:solidFill>
              <a:srgbClr val="D8DDE3"/>
            </a:solidFill>
            <a:prstDash val="solid"/>
          </a:ln>
        </p:spPr>
      </p:sp>
      <p:sp>
        <p:nvSpPr>
          <p:cNvPr id="16" name="text-22">
            <a:extLst xmlns:a="http://schemas.openxmlformats.org/drawingml/2006/main">
              <a:ext uri="{FF2B5EF4-FFF2-40B4-BE49-F238E27FC236}">
                <a16:creationId xmlns:a16="http://schemas.microsoft.com/office/drawing/2014/main" id="{5FF00853-CF7F-403E-B9CC-4F0355EE0832}"/>
              </a:ext>
            </a:extLst>
          </p:cNvPr>
          <p:cNvSpPr>
            <a:spLocks xmlns:a="http://schemas.openxmlformats.org/drawingml/2006/main" noGrp="1"/>
          </p:cNvSpPr>
          <p:nvPr/>
        </p:nvSpPr>
        <p:spPr>
          <a:xfrm xmlns:a="http://schemas.openxmlformats.org/drawingml/2006/main">
            <a:off x="6743700" y="4467225"/>
            <a:ext cx="4838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575" b="1">
                <a:solidFill>
                  <a:srgbClr val="111111"/>
                </a:solidFill>
                <a:latin typeface="Arial"/>
                <a:ea typeface="Arial"/>
                <a:cs typeface="Arial"/>
              </a:defRPr>
            </a:pPr>
            <a:r>
              <a:rPr sz="4575" b="1">
                <a:solidFill>
                  <a:srgbClr val="111111"/>
                </a:solidFill>
                <a:latin typeface="Arial"/>
                <a:ea typeface="Arial"/>
                <a:cs typeface="Arial"/>
              </a:rPr>
              <a:t>33</a:t>
            </a:r>
          </a:p>
        </p:txBody>
      </p:sp>
      <p:sp>
        <p:nvSpPr>
          <p:cNvPr id="17" name="text-23">
            <a:extLst xmlns:a="http://schemas.openxmlformats.org/drawingml/2006/main">
              <a:ext uri="{FF2B5EF4-FFF2-40B4-BE49-F238E27FC236}">
                <a16:creationId xmlns:a16="http://schemas.microsoft.com/office/drawing/2014/main" id="{7C19FF2A-6D59-49FB-AA59-1B04CDC45A5A}"/>
              </a:ext>
            </a:extLst>
          </p:cNvPr>
          <p:cNvSpPr>
            <a:spLocks xmlns:a="http://schemas.openxmlformats.org/drawingml/2006/main" noGrp="1"/>
          </p:cNvSpPr>
          <p:nvPr/>
        </p:nvSpPr>
        <p:spPr>
          <a:xfrm xmlns:a="http://schemas.openxmlformats.org/drawingml/2006/main">
            <a:off x="6762750" y="5153025"/>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565E68"/>
                </a:solidFill>
                <a:latin typeface="Arial"/>
                <a:ea typeface="Arial"/>
                <a:cs typeface="Arial"/>
              </a:defRPr>
            </a:pPr>
            <a:r>
              <a:rPr sz="1650" b="0">
                <a:solidFill>
                  <a:srgbClr val="565E68"/>
                </a:solidFill>
                <a:latin typeface="Arial"/>
                <a:ea typeface="Arial"/>
                <a:cs typeface="Arial"/>
              </a:rPr>
              <a:t>resources</a:t>
            </a:r>
          </a:p>
        </p:txBody>
      </p:sp>
      <p:sp>
        <p:nvSpPr>
          <p:cNvPr id="18" name="text-24">
            <a:extLst xmlns:a="http://schemas.openxmlformats.org/drawingml/2006/main">
              <a:ext uri="{FF2B5EF4-FFF2-40B4-BE49-F238E27FC236}">
                <a16:creationId xmlns:a16="http://schemas.microsoft.com/office/drawing/2014/main" id="{90F201DA-5548-4EB6-8D33-7A5475D9DBF0}"/>
              </a:ext>
            </a:extLst>
          </p:cNvPr>
          <p:cNvSpPr>
            <a:spLocks xmlns:a="http://schemas.openxmlformats.org/drawingml/2006/main" noGrp="1"/>
          </p:cNvSpPr>
          <p:nvPr/>
        </p:nvSpPr>
        <p:spPr>
          <a:xfrm xmlns:a="http://schemas.openxmlformats.org/drawingml/2006/main">
            <a:off x="609600" y="59055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565E68"/>
                </a:solidFill>
                <a:latin typeface="Arial"/>
                <a:ea typeface="Arial"/>
                <a:cs typeface="Arial"/>
              </a:defRPr>
            </a:pPr>
            <a:r>
              <a:rPr sz="1650" b="0">
                <a:solidFill>
                  <a:srgbClr val="565E68"/>
                </a:solidFill>
                <a:latin typeface="Arial"/>
                <a:ea typeface="Arial"/>
                <a:cs typeface="Arial"/>
              </a:rPr>
              <a:t>Engineering · Procurement · Construction · MEP · Finishes · External works · Handover</a:t>
            </a:r>
          </a:p>
        </p:txBody>
      </p:sp>
    </p:spTree>
    <p:extLst>
      <p:ext uri="{BB962C8B-B14F-4D97-AF65-F5344CB8AC3E}">
        <p14:creationId xmlns:p14="http://schemas.microsoft.com/office/powerpoint/2010/main" val="58096968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ext-25">
            <a:extLst xmlns:a="http://schemas.openxmlformats.org/drawingml/2006/main">
              <a:ext uri="{FF2B5EF4-FFF2-40B4-BE49-F238E27FC236}">
                <a16:creationId xmlns:a16="http://schemas.microsoft.com/office/drawing/2014/main" id="{9F0CA939-370F-47F4-8B50-AE903F07FE1C}"/>
              </a:ext>
            </a:extLst>
          </p:cNvPr>
          <p:cNvSpPr>
            <a:spLocks xmlns:a="http://schemas.openxmlformats.org/drawingml/2006/main" noGrp="1"/>
          </p:cNvSpPr>
          <p:nvPr/>
        </p:nvSpPr>
        <p:spPr>
          <a:xfrm xmlns:a="http://schemas.openxmlformats.org/drawingml/2006/main">
            <a:off x="609600" y="3238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2563EB"/>
                </a:solidFill>
                <a:latin typeface="Arial"/>
                <a:ea typeface="Arial"/>
                <a:cs typeface="Arial"/>
              </a:defRPr>
            </a:pPr>
            <a:r>
              <a:rPr sz="1275" b="1">
                <a:solidFill>
                  <a:srgbClr val="2563EB"/>
                </a:solidFill>
                <a:latin typeface="Arial"/>
                <a:ea typeface="Arial"/>
                <a:cs typeface="Arial"/>
              </a:rPr>
              <a:t>CONTROL METHOD</a:t>
            </a:r>
          </a:p>
        </p:txBody>
      </p:sp>
      <p:sp>
        <p:nvSpPr>
          <p:cNvPr id="2" name="slide-3-title">
            <a:extLst xmlns:a="http://schemas.openxmlformats.org/drawingml/2006/main">
              <a:ext uri="{FF2B5EF4-FFF2-40B4-BE49-F238E27FC236}">
                <a16:creationId xmlns:a16="http://schemas.microsoft.com/office/drawing/2014/main" id="{64FD1B6E-88C3-4976-A285-6A6D80BB8AD2}"/>
              </a:ext>
            </a:extLst>
          </p:cNvPr>
          <p:cNvSpPr>
            <a:spLocks xmlns:a="http://schemas.openxmlformats.org/drawingml/2006/main" noGrp="1"/>
          </p:cNvSpPr>
          <p:nvPr/>
        </p:nvSpPr>
        <p:spPr>
          <a:xfrm xmlns:a="http://schemas.openxmlformats.org/drawingml/2006/main">
            <a:off x="609600" y="7905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111111"/>
                </a:solidFill>
                <a:latin typeface="Arial"/>
                <a:ea typeface="Arial"/>
                <a:cs typeface="Arial"/>
              </a:defRPr>
            </a:pPr>
            <a:r>
              <a:rPr sz="3600" b="1">
                <a:solidFill>
                  <a:srgbClr val="111111"/>
                </a:solidFill>
                <a:latin typeface="Arial"/>
                <a:ea typeface="Arial"/>
                <a:cs typeface="Arial"/>
              </a:rPr>
              <a:t>One reporting cut connects the model</a:t>
            </a:r>
          </a:p>
        </p:txBody>
      </p:sp>
      <p:sp>
        <p:nvSpPr>
          <p:cNvPr id="3" name="rule-26">
            <a:extLst xmlns:a="http://schemas.openxmlformats.org/drawingml/2006/main">
              <a:ext uri="{FF2B5EF4-FFF2-40B4-BE49-F238E27FC236}">
                <a16:creationId xmlns:a16="http://schemas.microsoft.com/office/drawing/2014/main" id="{85380402-C393-4458-A7A8-54161234E9F0}"/>
              </a:ext>
            </a:extLst>
          </p:cNvPr>
          <p:cNvSpPr>
            <a:spLocks xmlns:a="http://schemas.openxmlformats.org/drawingml/2006/main" noGrp="1"/>
          </p:cNvSpPr>
          <p:nvPr/>
        </p:nvSpPr>
        <p:spPr>
          <a:xfrm xmlns:a="http://schemas.openxmlformats.org/drawingml/2006/main">
            <a:off x="609600" y="6362700"/>
            <a:ext cx="10972800" cy="0"/>
          </a:xfrm>
          <a:prstGeom xmlns:a="http://schemas.openxmlformats.org/drawingml/2006/main" prst="line">
            <a:avLst/>
          </a:prstGeom>
          <a:noFill xmlns:a="http://schemas.openxmlformats.org/drawingml/2006/main"/>
          <a:ln xmlns:a="http://schemas.openxmlformats.org/drawingml/2006/main" w="9525">
            <a:solidFill>
              <a:srgbClr val="D8DDE3"/>
            </a:solidFill>
            <a:prstDash val="solid"/>
          </a:ln>
        </p:spPr>
      </p:sp>
      <p:sp>
        <p:nvSpPr>
          <p:cNvPr id="4" name="text-27">
            <a:extLst xmlns:a="http://schemas.openxmlformats.org/drawingml/2006/main">
              <a:ext uri="{FF2B5EF4-FFF2-40B4-BE49-F238E27FC236}">
                <a16:creationId xmlns:a16="http://schemas.microsoft.com/office/drawing/2014/main" id="{EC5EB993-40B9-49C7-AE1E-AEE3989D120C}"/>
              </a:ext>
            </a:extLst>
          </p:cNvPr>
          <p:cNvSpPr>
            <a:spLocks xmlns:a="http://schemas.openxmlformats.org/drawingml/2006/main" noGrp="1"/>
          </p:cNvSpPr>
          <p:nvPr/>
        </p:nvSpPr>
        <p:spPr>
          <a:xfrm xmlns:a="http://schemas.openxmlformats.org/drawingml/2006/main">
            <a:off x="609600" y="6534150"/>
            <a:ext cx="685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0">
                <a:solidFill>
                  <a:srgbClr val="565E68"/>
                </a:solidFill>
                <a:latin typeface="Arial"/>
                <a:ea typeface="Arial"/>
                <a:cs typeface="Arial"/>
              </a:defRPr>
            </a:pPr>
            <a:r>
              <a:rPr sz="975" b="0">
                <a:solidFill>
                  <a:srgbClr val="565E68"/>
                </a:solidFill>
                <a:latin typeface="Arial"/>
                <a:ea typeface="Arial"/>
                <a:cs typeface="Arial"/>
              </a:rPr>
              <a:t>ALI BAYOUMI  /  PRIMAVERA P6 CASE STUDY</a:t>
            </a:r>
          </a:p>
        </p:txBody>
      </p:sp>
      <p:sp>
        <p:nvSpPr>
          <p:cNvPr id="5" name="text-28">
            <a:extLst xmlns:a="http://schemas.openxmlformats.org/drawingml/2006/main">
              <a:ext uri="{FF2B5EF4-FFF2-40B4-BE49-F238E27FC236}">
                <a16:creationId xmlns:a16="http://schemas.microsoft.com/office/drawing/2014/main" id="{FB3F57AC-B156-43E6-B8C8-12A32084C6D7}"/>
              </a:ext>
            </a:extLst>
          </p:cNvPr>
          <p:cNvSpPr>
            <a:spLocks xmlns:a="http://schemas.openxmlformats.org/drawingml/2006/main" noGrp="1"/>
          </p:cNvSpPr>
          <p:nvPr/>
        </p:nvSpPr>
        <p:spPr>
          <a:xfrm xmlns:a="http://schemas.openxmlformats.org/drawingml/2006/main">
            <a:off x="8229600" y="653415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a:solidFill>
                  <a:srgbClr val="565E68"/>
                </a:solidFill>
                <a:latin typeface="Arial"/>
                <a:ea typeface="Arial"/>
                <a:cs typeface="Arial"/>
              </a:defRPr>
            </a:pPr>
            <a:r>
              <a:rPr sz="975" b="0">
                <a:solidFill>
                  <a:srgbClr val="565E68"/>
                </a:solidFill>
                <a:latin typeface="Arial"/>
                <a:ea typeface="Arial"/>
                <a:cs typeface="Arial"/>
              </a:rPr>
              <a:t>SIMULATED PROJECT</a:t>
            </a:r>
          </a:p>
        </p:txBody>
      </p:sp>
      <p:sp>
        <p:nvSpPr>
          <p:cNvPr id="6" name="text-29">
            <a:extLst xmlns:a="http://schemas.openxmlformats.org/drawingml/2006/main">
              <a:ext uri="{FF2B5EF4-FFF2-40B4-BE49-F238E27FC236}">
                <a16:creationId xmlns:a16="http://schemas.microsoft.com/office/drawing/2014/main" id="{78175957-8A33-42B1-ABA4-006C7C6250DE}"/>
              </a:ext>
            </a:extLst>
          </p:cNvPr>
          <p:cNvSpPr>
            <a:spLocks xmlns:a="http://schemas.openxmlformats.org/drawingml/2006/main" noGrp="1"/>
          </p:cNvSpPr>
          <p:nvPr/>
        </p:nvSpPr>
        <p:spPr>
          <a:xfrm xmlns:a="http://schemas.openxmlformats.org/drawingml/2006/main">
            <a:off x="11144250" y="64960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111111"/>
                </a:solidFill>
                <a:latin typeface="Arial"/>
                <a:ea typeface="Arial"/>
                <a:cs typeface="Arial"/>
              </a:defRPr>
            </a:pPr>
            <a:r>
              <a:rPr sz="1350" b="0">
                <a:solidFill>
                  <a:srgbClr val="111111"/>
                </a:solidFill>
                <a:latin typeface="Arial"/>
                <a:ea typeface="Arial"/>
                <a:cs typeface="Arial"/>
              </a:rPr>
              <a:t>03</a:t>
            </a:r>
          </a:p>
        </p:txBody>
      </p:sp>
      <p:sp>
        <p:nvSpPr>
          <p:cNvPr id="7" name="text-30">
            <a:extLst xmlns:a="http://schemas.openxmlformats.org/drawingml/2006/main">
              <a:ext uri="{FF2B5EF4-FFF2-40B4-BE49-F238E27FC236}">
                <a16:creationId xmlns:a16="http://schemas.microsoft.com/office/drawing/2014/main" id="{DD70DE35-D623-451B-863E-FE02FE882799}"/>
              </a:ext>
            </a:extLst>
          </p:cNvPr>
          <p:cNvSpPr>
            <a:spLocks xmlns:a="http://schemas.openxmlformats.org/drawingml/2006/main" noGrp="1"/>
          </p:cNvSpPr>
          <p:nvPr/>
        </p:nvSpPr>
        <p:spPr>
          <a:xfrm xmlns:a="http://schemas.openxmlformats.org/drawingml/2006/main">
            <a:off x="609600" y="17811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565E68"/>
                </a:solidFill>
                <a:latin typeface="Arial"/>
                <a:ea typeface="Arial"/>
                <a:cs typeface="Arial"/>
              </a:defRPr>
            </a:pPr>
            <a:r>
              <a:rPr sz="1950" b="0">
                <a:solidFill>
                  <a:srgbClr val="565E68"/>
                </a:solidFill>
                <a:latin typeface="Arial"/>
                <a:ea typeface="Arial"/>
                <a:cs typeface="Arial"/>
              </a:rPr>
              <a:t>Data date: 01 Apr 2027. Dates, cost and resources are reconciled before reporting.</a:t>
            </a:r>
          </a:p>
        </p:txBody>
      </p:sp>
      <p:sp>
        <p:nvSpPr>
          <p:cNvPr id="8" name="rule-31">
            <a:extLst xmlns:a="http://schemas.openxmlformats.org/drawingml/2006/main">
              <a:ext uri="{FF2B5EF4-FFF2-40B4-BE49-F238E27FC236}">
                <a16:creationId xmlns:a16="http://schemas.microsoft.com/office/drawing/2014/main" id="{59C9ACF0-83E3-43FC-BE73-AE427C87F911}"/>
              </a:ext>
            </a:extLst>
          </p:cNvPr>
          <p:cNvSpPr>
            <a:spLocks xmlns:a="http://schemas.openxmlformats.org/drawingml/2006/main" noGrp="1"/>
          </p:cNvSpPr>
          <p:nvPr/>
        </p:nvSpPr>
        <p:spPr>
          <a:xfrm xmlns:a="http://schemas.openxmlformats.org/drawingml/2006/main">
            <a:off x="609600" y="3505200"/>
            <a:ext cx="10972800" cy="0"/>
          </a:xfrm>
          <a:prstGeom xmlns:a="http://schemas.openxmlformats.org/drawingml/2006/main" prst="line">
            <a:avLst/>
          </a:prstGeom>
          <a:noFill xmlns:a="http://schemas.openxmlformats.org/drawingml/2006/main"/>
          <a:ln xmlns:a="http://schemas.openxmlformats.org/drawingml/2006/main" w="11430">
            <a:solidFill>
              <a:srgbClr val="111111"/>
            </a:solidFill>
            <a:prstDash val="solid"/>
          </a:ln>
        </p:spPr>
      </p:sp>
      <p:sp>
        <p:nvSpPr>
          <p:cNvPr id="9" name="milestone-32">
            <a:extLst xmlns:a="http://schemas.openxmlformats.org/drawingml/2006/main">
              <a:ext uri="{FF2B5EF4-FFF2-40B4-BE49-F238E27FC236}">
                <a16:creationId xmlns:a16="http://schemas.microsoft.com/office/drawing/2014/main" id="{7B4A4357-730A-4463-8D0A-466BB2D4EA4B}"/>
              </a:ext>
            </a:extLst>
          </p:cNvPr>
          <p:cNvSpPr>
            <a:spLocks xmlns:a="http://schemas.openxmlformats.org/drawingml/2006/main" noGrp="1"/>
          </p:cNvSpPr>
          <p:nvPr/>
        </p:nvSpPr>
        <p:spPr>
          <a:xfrm xmlns:a="http://schemas.openxmlformats.org/drawingml/2006/main">
            <a:off x="561975" y="3457575"/>
            <a:ext cx="95250" cy="95250"/>
          </a:xfrm>
          <a:prstGeom xmlns:a="http://schemas.openxmlformats.org/drawingml/2006/main" prst="ellipse">
            <a:avLst/>
          </a:prstGeom>
          <a:solidFill xmlns:a="http://schemas.openxmlformats.org/drawingml/2006/main">
            <a:srgbClr val="111111"/>
          </a:solidFill>
          <a:ln xmlns:a="http://schemas.openxmlformats.org/drawingml/2006/main" w="0">
            <a:noFill/>
          </a:ln>
        </p:spPr>
      </p:sp>
      <p:sp>
        <p:nvSpPr>
          <p:cNvPr id="10" name="text-33">
            <a:extLst xmlns:a="http://schemas.openxmlformats.org/drawingml/2006/main">
              <a:ext uri="{FF2B5EF4-FFF2-40B4-BE49-F238E27FC236}">
                <a16:creationId xmlns:a16="http://schemas.microsoft.com/office/drawing/2014/main" id="{1D987C12-C256-4654-925F-0D0863867135}"/>
              </a:ext>
            </a:extLst>
          </p:cNvPr>
          <p:cNvSpPr>
            <a:spLocks xmlns:a="http://schemas.openxmlformats.org/drawingml/2006/main" noGrp="1"/>
          </p:cNvSpPr>
          <p:nvPr/>
        </p:nvSpPr>
        <p:spPr>
          <a:xfrm xmlns:a="http://schemas.openxmlformats.org/drawingml/2006/main">
            <a:off x="609600" y="26098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111111"/>
                </a:solidFill>
                <a:latin typeface="Arial"/>
                <a:ea typeface="Arial"/>
                <a:cs typeface="Arial"/>
              </a:defRPr>
            </a:pPr>
            <a:r>
              <a:rPr sz="3000" b="1">
                <a:solidFill>
                  <a:srgbClr val="111111"/>
                </a:solidFill>
                <a:latin typeface="Arial"/>
                <a:ea typeface="Arial"/>
                <a:cs typeface="Arial"/>
              </a:rPr>
              <a:t>01 / Establish</a:t>
            </a:r>
          </a:p>
        </p:txBody>
      </p:sp>
      <p:sp>
        <p:nvSpPr>
          <p:cNvPr id="11" name="text-34">
            <a:extLst xmlns:a="http://schemas.openxmlformats.org/drawingml/2006/main">
              <a:ext uri="{FF2B5EF4-FFF2-40B4-BE49-F238E27FC236}">
                <a16:creationId xmlns:a16="http://schemas.microsoft.com/office/drawing/2014/main" id="{CC3B4EDF-DEA6-4C5D-B15C-CB69C0182E14}"/>
              </a:ext>
            </a:extLst>
          </p:cNvPr>
          <p:cNvSpPr>
            <a:spLocks xmlns:a="http://schemas.openxmlformats.org/drawingml/2006/main" noGrp="1"/>
          </p:cNvSpPr>
          <p:nvPr/>
        </p:nvSpPr>
        <p:spPr>
          <a:xfrm xmlns:a="http://schemas.openxmlformats.org/drawingml/2006/main">
            <a:off x="609600" y="39433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rial"/>
                <a:ea typeface="Arial"/>
                <a:cs typeface="Arial"/>
              </a:defRPr>
            </a:pPr>
            <a:r>
              <a:rPr sz="2400" b="1">
                <a:solidFill>
                  <a:srgbClr val="111111"/>
                </a:solidFill>
                <a:latin typeface="Arial"/>
                <a:ea typeface="Arial"/>
                <a:cs typeface="Arial"/>
              </a:rPr>
              <a:t>Baseline &amp; status</a:t>
            </a:r>
          </a:p>
        </p:txBody>
      </p:sp>
      <p:sp>
        <p:nvSpPr>
          <p:cNvPr id="12" name="text-35">
            <a:extLst xmlns:a="http://schemas.openxmlformats.org/drawingml/2006/main">
              <a:ext uri="{FF2B5EF4-FFF2-40B4-BE49-F238E27FC236}">
                <a16:creationId xmlns:a16="http://schemas.microsoft.com/office/drawing/2014/main" id="{8EA56713-EBFC-4AFF-98B4-D0CCC57025B3}"/>
              </a:ext>
            </a:extLst>
          </p:cNvPr>
          <p:cNvSpPr>
            <a:spLocks xmlns:a="http://schemas.openxmlformats.org/drawingml/2006/main" noGrp="1"/>
          </p:cNvSpPr>
          <p:nvPr/>
        </p:nvSpPr>
        <p:spPr>
          <a:xfrm xmlns:a="http://schemas.openxmlformats.org/drawingml/2006/main">
            <a:off x="609600" y="4610100"/>
            <a:ext cx="33147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65E68"/>
                </a:solidFill>
                <a:latin typeface="Arial"/>
                <a:ea typeface="Arial"/>
                <a:cs typeface="Arial"/>
              </a:defRPr>
            </a:pPr>
            <a:r>
              <a:rPr sz="1800" b="0">
                <a:solidFill>
                  <a:srgbClr val="565E68"/>
                </a:solidFill>
                <a:latin typeface="Arial"/>
                <a:ea typeface="Arial"/>
                <a:cs typeface="Arial"/>
              </a:rPr>
              <a:t>Preserve the original baseline.</a:t>
            </a:r>
          </a:p>
          <a:p xmlns:a="http://schemas.openxmlformats.org/drawingml/2006/main">
            <a:pPr algn="l">
              <a:buNone/>
              <a:defRPr sz="1800" b="0">
                <a:solidFill>
                  <a:srgbClr val="565E68"/>
                </a:solidFill>
                <a:latin typeface="Arial"/>
                <a:ea typeface="Arial"/>
                <a:cs typeface="Arial"/>
              </a:defRPr>
            </a:pPr>
            <a:r>
              <a:rPr sz="1800" b="0">
                <a:solidFill>
                  <a:srgbClr val="565E68"/>
                </a:solidFill>
                <a:latin typeface="Arial"/>
                <a:ea typeface="Arial"/>
                <a:cs typeface="Arial"/>
              </a:rPr>
              <a:t>Update actuals and remaining work to the data date.</a:t>
            </a:r>
          </a:p>
        </p:txBody>
      </p:sp>
      <p:sp>
        <p:nvSpPr>
          <p:cNvPr id="13" name="milestone-36">
            <a:extLst xmlns:a="http://schemas.openxmlformats.org/drawingml/2006/main">
              <a:ext uri="{FF2B5EF4-FFF2-40B4-BE49-F238E27FC236}">
                <a16:creationId xmlns:a16="http://schemas.microsoft.com/office/drawing/2014/main" id="{515F7BB0-FBED-4894-900F-20FC525D7E02}"/>
              </a:ext>
            </a:extLst>
          </p:cNvPr>
          <p:cNvSpPr>
            <a:spLocks xmlns:a="http://schemas.openxmlformats.org/drawingml/2006/main" noGrp="1"/>
          </p:cNvSpPr>
          <p:nvPr/>
        </p:nvSpPr>
        <p:spPr>
          <a:xfrm xmlns:a="http://schemas.openxmlformats.org/drawingml/2006/main">
            <a:off x="4314825" y="3457575"/>
            <a:ext cx="95250" cy="95250"/>
          </a:xfrm>
          <a:prstGeom xmlns:a="http://schemas.openxmlformats.org/drawingml/2006/main" prst="ellipse">
            <a:avLst/>
          </a:prstGeom>
          <a:solidFill xmlns:a="http://schemas.openxmlformats.org/drawingml/2006/main">
            <a:srgbClr val="111111"/>
          </a:solidFill>
          <a:ln xmlns:a="http://schemas.openxmlformats.org/drawingml/2006/main" w="0">
            <a:noFill/>
          </a:ln>
        </p:spPr>
      </p:sp>
      <p:sp>
        <p:nvSpPr>
          <p:cNvPr id="14" name="text-37">
            <a:extLst xmlns:a="http://schemas.openxmlformats.org/drawingml/2006/main">
              <a:ext uri="{FF2B5EF4-FFF2-40B4-BE49-F238E27FC236}">
                <a16:creationId xmlns:a16="http://schemas.microsoft.com/office/drawing/2014/main" id="{EEB59774-D660-4421-9EFD-7C05C487AD68}"/>
              </a:ext>
            </a:extLst>
          </p:cNvPr>
          <p:cNvSpPr>
            <a:spLocks xmlns:a="http://schemas.openxmlformats.org/drawingml/2006/main" noGrp="1"/>
          </p:cNvSpPr>
          <p:nvPr/>
        </p:nvSpPr>
        <p:spPr>
          <a:xfrm xmlns:a="http://schemas.openxmlformats.org/drawingml/2006/main">
            <a:off x="4362450" y="26098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111111"/>
                </a:solidFill>
                <a:latin typeface="Arial"/>
                <a:ea typeface="Arial"/>
                <a:cs typeface="Arial"/>
              </a:defRPr>
            </a:pPr>
            <a:r>
              <a:rPr sz="3000" b="1">
                <a:solidFill>
                  <a:srgbClr val="111111"/>
                </a:solidFill>
                <a:latin typeface="Arial"/>
                <a:ea typeface="Arial"/>
                <a:cs typeface="Arial"/>
              </a:rPr>
              <a:t>02 / Calculate</a:t>
            </a:r>
          </a:p>
        </p:txBody>
      </p:sp>
      <p:sp>
        <p:nvSpPr>
          <p:cNvPr id="15" name="text-38">
            <a:extLst xmlns:a="http://schemas.openxmlformats.org/drawingml/2006/main">
              <a:ext uri="{FF2B5EF4-FFF2-40B4-BE49-F238E27FC236}">
                <a16:creationId xmlns:a16="http://schemas.microsoft.com/office/drawing/2014/main" id="{4365DFC5-5B47-4180-B070-F1B62A45ECD3}"/>
              </a:ext>
            </a:extLst>
          </p:cNvPr>
          <p:cNvSpPr>
            <a:spLocks xmlns:a="http://schemas.openxmlformats.org/drawingml/2006/main" noGrp="1"/>
          </p:cNvSpPr>
          <p:nvPr/>
        </p:nvSpPr>
        <p:spPr>
          <a:xfrm xmlns:a="http://schemas.openxmlformats.org/drawingml/2006/main">
            <a:off x="4362450" y="39433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rial"/>
                <a:ea typeface="Arial"/>
                <a:cs typeface="Arial"/>
              </a:defRPr>
            </a:pPr>
            <a:r>
              <a:rPr sz="2400" b="1">
                <a:solidFill>
                  <a:srgbClr val="111111"/>
                </a:solidFill>
                <a:latin typeface="Arial"/>
                <a:ea typeface="Arial"/>
                <a:cs typeface="Arial"/>
              </a:rPr>
              <a:t>CPM &amp; resources</a:t>
            </a:r>
          </a:p>
        </p:txBody>
      </p:sp>
      <p:sp>
        <p:nvSpPr>
          <p:cNvPr id="16" name="text-39">
            <a:extLst xmlns:a="http://schemas.openxmlformats.org/drawingml/2006/main">
              <a:ext uri="{FF2B5EF4-FFF2-40B4-BE49-F238E27FC236}">
                <a16:creationId xmlns:a16="http://schemas.microsoft.com/office/drawing/2014/main" id="{8A3EA939-7FF8-4A75-B02D-9D22F7BBA0CC}"/>
              </a:ext>
            </a:extLst>
          </p:cNvPr>
          <p:cNvSpPr>
            <a:spLocks xmlns:a="http://schemas.openxmlformats.org/drawingml/2006/main" noGrp="1"/>
          </p:cNvSpPr>
          <p:nvPr/>
        </p:nvSpPr>
        <p:spPr>
          <a:xfrm xmlns:a="http://schemas.openxmlformats.org/drawingml/2006/main">
            <a:off x="4362450" y="4610100"/>
            <a:ext cx="33147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65E68"/>
                </a:solidFill>
                <a:latin typeface="Arial"/>
                <a:ea typeface="Arial"/>
                <a:cs typeface="Arial"/>
              </a:defRPr>
            </a:pPr>
            <a:r>
              <a:rPr sz="1800" b="0">
                <a:solidFill>
                  <a:srgbClr val="565E68"/>
                </a:solidFill>
                <a:latin typeface="Arial"/>
                <a:ea typeface="Arial"/>
                <a:cs typeface="Arial"/>
              </a:rPr>
              <a:t>Reschedule the logic.</a:t>
            </a:r>
          </a:p>
          <a:p xmlns:a="http://schemas.openxmlformats.org/drawingml/2006/main">
            <a:pPr algn="l">
              <a:buNone/>
              <a:defRPr sz="1800" b="0">
                <a:solidFill>
                  <a:srgbClr val="565E68"/>
                </a:solidFill>
                <a:latin typeface="Arial"/>
                <a:ea typeface="Arial"/>
                <a:cs typeface="Arial"/>
              </a:defRPr>
            </a:pPr>
            <a:r>
              <a:rPr sz="1800" b="0">
                <a:solidFill>
                  <a:srgbClr val="565E68"/>
                </a:solidFill>
                <a:latin typeface="Arial"/>
                <a:ea typeface="Arial"/>
                <a:cs typeface="Arial"/>
              </a:rPr>
              <a:t>Review resource leveling and preserved early / late dates.</a:t>
            </a:r>
          </a:p>
        </p:txBody>
      </p:sp>
      <p:sp>
        <p:nvSpPr>
          <p:cNvPr id="17" name="milestone-40">
            <a:extLst xmlns:a="http://schemas.openxmlformats.org/drawingml/2006/main">
              <a:ext uri="{FF2B5EF4-FFF2-40B4-BE49-F238E27FC236}">
                <a16:creationId xmlns:a16="http://schemas.microsoft.com/office/drawing/2014/main" id="{E5ED8951-AC2D-4B57-9364-9293FCF44CD9}"/>
              </a:ext>
            </a:extLst>
          </p:cNvPr>
          <p:cNvSpPr>
            <a:spLocks xmlns:a="http://schemas.openxmlformats.org/drawingml/2006/main" noGrp="1"/>
          </p:cNvSpPr>
          <p:nvPr/>
        </p:nvSpPr>
        <p:spPr>
          <a:xfrm xmlns:a="http://schemas.openxmlformats.org/drawingml/2006/main">
            <a:off x="8067675" y="3457575"/>
            <a:ext cx="95250" cy="95250"/>
          </a:xfrm>
          <a:prstGeom xmlns:a="http://schemas.openxmlformats.org/drawingml/2006/main" prst="ellipse">
            <a:avLst/>
          </a:prstGeom>
          <a:solidFill xmlns:a="http://schemas.openxmlformats.org/drawingml/2006/main">
            <a:srgbClr val="111111"/>
          </a:solidFill>
          <a:ln xmlns:a="http://schemas.openxmlformats.org/drawingml/2006/main" w="0">
            <a:noFill/>
          </a:ln>
        </p:spPr>
      </p:sp>
      <p:sp>
        <p:nvSpPr>
          <p:cNvPr id="18" name="text-41">
            <a:extLst xmlns:a="http://schemas.openxmlformats.org/drawingml/2006/main">
              <a:ext uri="{FF2B5EF4-FFF2-40B4-BE49-F238E27FC236}">
                <a16:creationId xmlns:a16="http://schemas.microsoft.com/office/drawing/2014/main" id="{7B008A34-4F8E-4274-B79B-9E1004728FB2}"/>
              </a:ext>
            </a:extLst>
          </p:cNvPr>
          <p:cNvSpPr>
            <a:spLocks xmlns:a="http://schemas.openxmlformats.org/drawingml/2006/main" noGrp="1"/>
          </p:cNvSpPr>
          <p:nvPr/>
        </p:nvSpPr>
        <p:spPr>
          <a:xfrm xmlns:a="http://schemas.openxmlformats.org/drawingml/2006/main">
            <a:off x="8115300" y="26098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111111"/>
                </a:solidFill>
                <a:latin typeface="Arial"/>
                <a:ea typeface="Arial"/>
                <a:cs typeface="Arial"/>
              </a:defRPr>
            </a:pPr>
            <a:r>
              <a:rPr sz="3000" b="1">
                <a:solidFill>
                  <a:srgbClr val="111111"/>
                </a:solidFill>
                <a:latin typeface="Arial"/>
                <a:ea typeface="Arial"/>
                <a:cs typeface="Arial"/>
              </a:rPr>
              <a:t>03 / Interpret</a:t>
            </a:r>
          </a:p>
        </p:txBody>
      </p:sp>
      <p:sp>
        <p:nvSpPr>
          <p:cNvPr id="19" name="text-42">
            <a:extLst xmlns:a="http://schemas.openxmlformats.org/drawingml/2006/main">
              <a:ext uri="{FF2B5EF4-FFF2-40B4-BE49-F238E27FC236}">
                <a16:creationId xmlns:a16="http://schemas.microsoft.com/office/drawing/2014/main" id="{C4C4CEAF-C4CF-4003-A89B-592812C0998F}"/>
              </a:ext>
            </a:extLst>
          </p:cNvPr>
          <p:cNvSpPr>
            <a:spLocks xmlns:a="http://schemas.openxmlformats.org/drawingml/2006/main" noGrp="1"/>
          </p:cNvSpPr>
          <p:nvPr/>
        </p:nvSpPr>
        <p:spPr>
          <a:xfrm xmlns:a="http://schemas.openxmlformats.org/drawingml/2006/main">
            <a:off x="8115300" y="39433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rial"/>
                <a:ea typeface="Arial"/>
                <a:cs typeface="Arial"/>
              </a:defRPr>
            </a:pPr>
            <a:r>
              <a:rPr sz="2400" b="1">
                <a:solidFill>
                  <a:srgbClr val="111111"/>
                </a:solidFill>
                <a:latin typeface="Arial"/>
                <a:ea typeface="Arial"/>
                <a:cs typeface="Arial"/>
              </a:rPr>
              <a:t>Value &amp; priorities</a:t>
            </a:r>
          </a:p>
        </p:txBody>
      </p:sp>
      <p:sp>
        <p:nvSpPr>
          <p:cNvPr id="20" name="text-43">
            <a:extLst xmlns:a="http://schemas.openxmlformats.org/drawingml/2006/main">
              <a:ext uri="{FF2B5EF4-FFF2-40B4-BE49-F238E27FC236}">
                <a16:creationId xmlns:a16="http://schemas.microsoft.com/office/drawing/2014/main" id="{12572AAB-0803-4E20-A2DA-E46FF84CAA81}"/>
              </a:ext>
            </a:extLst>
          </p:cNvPr>
          <p:cNvSpPr>
            <a:spLocks xmlns:a="http://schemas.openxmlformats.org/drawingml/2006/main" noGrp="1"/>
          </p:cNvSpPr>
          <p:nvPr/>
        </p:nvSpPr>
        <p:spPr>
          <a:xfrm xmlns:a="http://schemas.openxmlformats.org/drawingml/2006/main">
            <a:off x="8115300" y="4610100"/>
            <a:ext cx="33147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65E68"/>
                </a:solidFill>
                <a:latin typeface="Arial"/>
                <a:ea typeface="Arial"/>
                <a:cs typeface="Arial"/>
              </a:defRPr>
            </a:pPr>
            <a:r>
              <a:rPr sz="1800" b="0">
                <a:solidFill>
                  <a:srgbClr val="565E68"/>
                </a:solidFill>
                <a:latin typeface="Arial"/>
                <a:ea typeface="Arial"/>
                <a:cs typeface="Arial"/>
              </a:rPr>
              <a:t>Reconcile earned value.</a:t>
            </a:r>
          </a:p>
          <a:p xmlns:a="http://schemas.openxmlformats.org/drawingml/2006/main">
            <a:pPr algn="l">
              <a:buNone/>
              <a:defRPr sz="1800" b="0">
                <a:solidFill>
                  <a:srgbClr val="565E68"/>
                </a:solidFill>
                <a:latin typeface="Arial"/>
                <a:ea typeface="Arial"/>
                <a:cs typeface="Arial"/>
              </a:defRPr>
            </a:pPr>
            <a:r>
              <a:rPr sz="1800" b="0">
                <a:solidFill>
                  <a:srgbClr val="565E68"/>
                </a:solidFill>
                <a:latin typeface="Arial"/>
                <a:ea typeface="Arial"/>
                <a:cs typeface="Arial"/>
              </a:rPr>
              <a:t>Issue the critical-path, cost, resource and lookahead reports.</a:t>
            </a:r>
          </a:p>
        </p:txBody>
      </p:sp>
    </p:spTree>
    <p:extLst>
      <p:ext uri="{BB962C8B-B14F-4D97-AF65-F5344CB8AC3E}">
        <p14:creationId xmlns:p14="http://schemas.microsoft.com/office/powerpoint/2010/main" val="122205426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44">
            <a:extLst xmlns:a="http://schemas.openxmlformats.org/drawingml/2006/main">
              <a:ext uri="{FF2B5EF4-FFF2-40B4-BE49-F238E27FC236}">
                <a16:creationId xmlns:a16="http://schemas.microsoft.com/office/drawing/2014/main" id="{1CB580C7-15DE-4D2D-A84D-E35B361FDB0B}"/>
              </a:ext>
            </a:extLst>
          </p:cNvPr>
          <p:cNvSpPr>
            <a:spLocks xmlns:a="http://schemas.openxmlformats.org/drawingml/2006/main" noGrp="1"/>
          </p:cNvSpPr>
          <p:nvPr/>
        </p:nvSpPr>
        <p:spPr>
          <a:xfrm xmlns:a="http://schemas.openxmlformats.org/drawingml/2006/main">
            <a:off x="609600" y="3238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2563EB"/>
                </a:solidFill>
                <a:latin typeface="Arial"/>
                <a:ea typeface="Arial"/>
                <a:cs typeface="Arial"/>
              </a:defRPr>
            </a:pPr>
            <a:r>
              <a:rPr sz="1275" b="1">
                <a:solidFill>
                  <a:srgbClr val="2563EB"/>
                </a:solidFill>
                <a:latin typeface="Arial"/>
                <a:ea typeface="Arial"/>
                <a:cs typeface="Arial"/>
              </a:rPr>
              <a:t>STATUS AT DATA DATE</a:t>
            </a:r>
          </a:p>
        </p:txBody>
      </p:sp>
      <p:sp>
        <p:nvSpPr>
          <p:cNvPr id="2" name="slide-4-title">
            <a:extLst xmlns:a="http://schemas.openxmlformats.org/drawingml/2006/main">
              <a:ext uri="{FF2B5EF4-FFF2-40B4-BE49-F238E27FC236}">
                <a16:creationId xmlns:a16="http://schemas.microsoft.com/office/drawing/2014/main" id="{B6D50E2A-C46C-403B-AC5C-37644894FA4E}"/>
              </a:ext>
            </a:extLst>
          </p:cNvPr>
          <p:cNvSpPr>
            <a:spLocks xmlns:a="http://schemas.openxmlformats.org/drawingml/2006/main" noGrp="1"/>
          </p:cNvSpPr>
          <p:nvPr/>
        </p:nvSpPr>
        <p:spPr>
          <a:xfrm xmlns:a="http://schemas.openxmlformats.org/drawingml/2006/main">
            <a:off x="609600" y="7905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111111"/>
                </a:solidFill>
                <a:latin typeface="Arial"/>
                <a:ea typeface="Arial"/>
                <a:cs typeface="Arial"/>
              </a:defRPr>
            </a:pPr>
            <a:r>
              <a:rPr sz="3600" b="1">
                <a:solidFill>
                  <a:srgbClr val="111111"/>
                </a:solidFill>
                <a:latin typeface="Arial"/>
                <a:ea typeface="Arial"/>
                <a:cs typeface="Arial"/>
              </a:rPr>
              <a:t>276 activities complete; 930 remain open</a:t>
            </a:r>
          </a:p>
        </p:txBody>
      </p:sp>
      <p:sp>
        <p:nvSpPr>
          <p:cNvPr id="3" name="rule-45">
            <a:extLst xmlns:a="http://schemas.openxmlformats.org/drawingml/2006/main">
              <a:ext uri="{FF2B5EF4-FFF2-40B4-BE49-F238E27FC236}">
                <a16:creationId xmlns:a16="http://schemas.microsoft.com/office/drawing/2014/main" id="{C242608B-1AFE-41B0-8BC3-CB0A7AD3D136}"/>
              </a:ext>
            </a:extLst>
          </p:cNvPr>
          <p:cNvSpPr>
            <a:spLocks xmlns:a="http://schemas.openxmlformats.org/drawingml/2006/main" noGrp="1"/>
          </p:cNvSpPr>
          <p:nvPr/>
        </p:nvSpPr>
        <p:spPr>
          <a:xfrm xmlns:a="http://schemas.openxmlformats.org/drawingml/2006/main">
            <a:off x="609600" y="6362700"/>
            <a:ext cx="10972800" cy="0"/>
          </a:xfrm>
          <a:prstGeom xmlns:a="http://schemas.openxmlformats.org/drawingml/2006/main" prst="line">
            <a:avLst/>
          </a:prstGeom>
          <a:noFill xmlns:a="http://schemas.openxmlformats.org/drawingml/2006/main"/>
          <a:ln xmlns:a="http://schemas.openxmlformats.org/drawingml/2006/main" w="9525">
            <a:solidFill>
              <a:srgbClr val="D8DDE3"/>
            </a:solidFill>
            <a:prstDash val="solid"/>
          </a:ln>
        </p:spPr>
      </p:sp>
      <p:sp>
        <p:nvSpPr>
          <p:cNvPr id="4" name="text-46">
            <a:extLst xmlns:a="http://schemas.openxmlformats.org/drawingml/2006/main">
              <a:ext uri="{FF2B5EF4-FFF2-40B4-BE49-F238E27FC236}">
                <a16:creationId xmlns:a16="http://schemas.microsoft.com/office/drawing/2014/main" id="{D12570EF-7D7D-45C8-AAB7-7BE9624F8F04}"/>
              </a:ext>
            </a:extLst>
          </p:cNvPr>
          <p:cNvSpPr>
            <a:spLocks xmlns:a="http://schemas.openxmlformats.org/drawingml/2006/main" noGrp="1"/>
          </p:cNvSpPr>
          <p:nvPr/>
        </p:nvSpPr>
        <p:spPr>
          <a:xfrm xmlns:a="http://schemas.openxmlformats.org/drawingml/2006/main">
            <a:off x="609600" y="6534150"/>
            <a:ext cx="685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0">
                <a:solidFill>
                  <a:srgbClr val="565E68"/>
                </a:solidFill>
                <a:latin typeface="Arial"/>
                <a:ea typeface="Arial"/>
                <a:cs typeface="Arial"/>
              </a:defRPr>
            </a:pPr>
            <a:r>
              <a:rPr sz="975" b="0">
                <a:solidFill>
                  <a:srgbClr val="565E68"/>
                </a:solidFill>
                <a:latin typeface="Arial"/>
                <a:ea typeface="Arial"/>
                <a:cs typeface="Arial"/>
              </a:rPr>
              <a:t>ALI BAYOUMI  /  PRIMAVERA P6 CASE STUDY</a:t>
            </a:r>
          </a:p>
        </p:txBody>
      </p:sp>
      <p:sp>
        <p:nvSpPr>
          <p:cNvPr id="5" name="text-47">
            <a:extLst xmlns:a="http://schemas.openxmlformats.org/drawingml/2006/main">
              <a:ext uri="{FF2B5EF4-FFF2-40B4-BE49-F238E27FC236}">
                <a16:creationId xmlns:a16="http://schemas.microsoft.com/office/drawing/2014/main" id="{943F0C61-615B-4733-BE3B-DFDA22A3062C}"/>
              </a:ext>
            </a:extLst>
          </p:cNvPr>
          <p:cNvSpPr>
            <a:spLocks xmlns:a="http://schemas.openxmlformats.org/drawingml/2006/main" noGrp="1"/>
          </p:cNvSpPr>
          <p:nvPr/>
        </p:nvSpPr>
        <p:spPr>
          <a:xfrm xmlns:a="http://schemas.openxmlformats.org/drawingml/2006/main">
            <a:off x="8229600" y="653415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a:solidFill>
                  <a:srgbClr val="565E68"/>
                </a:solidFill>
                <a:latin typeface="Arial"/>
                <a:ea typeface="Arial"/>
                <a:cs typeface="Arial"/>
              </a:defRPr>
            </a:pPr>
            <a:r>
              <a:rPr sz="975" b="0">
                <a:solidFill>
                  <a:srgbClr val="565E68"/>
                </a:solidFill>
                <a:latin typeface="Arial"/>
                <a:ea typeface="Arial"/>
                <a:cs typeface="Arial"/>
              </a:rPr>
              <a:t>SIMULATED PROJECT</a:t>
            </a:r>
          </a:p>
        </p:txBody>
      </p:sp>
      <p:sp>
        <p:nvSpPr>
          <p:cNvPr id="6" name="text-48">
            <a:extLst xmlns:a="http://schemas.openxmlformats.org/drawingml/2006/main">
              <a:ext uri="{FF2B5EF4-FFF2-40B4-BE49-F238E27FC236}">
                <a16:creationId xmlns:a16="http://schemas.microsoft.com/office/drawing/2014/main" id="{C719C4FC-9465-445C-913B-3A00B12237EE}"/>
              </a:ext>
            </a:extLst>
          </p:cNvPr>
          <p:cNvSpPr>
            <a:spLocks xmlns:a="http://schemas.openxmlformats.org/drawingml/2006/main" noGrp="1"/>
          </p:cNvSpPr>
          <p:nvPr/>
        </p:nvSpPr>
        <p:spPr>
          <a:xfrm xmlns:a="http://schemas.openxmlformats.org/drawingml/2006/main">
            <a:off x="11144250" y="64960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111111"/>
                </a:solidFill>
                <a:latin typeface="Arial"/>
                <a:ea typeface="Arial"/>
                <a:cs typeface="Arial"/>
              </a:defRPr>
            </a:pPr>
            <a:r>
              <a:rPr sz="1350" b="0">
                <a:solidFill>
                  <a:srgbClr val="111111"/>
                </a:solidFill>
                <a:latin typeface="Arial"/>
                <a:ea typeface="Arial"/>
                <a:cs typeface="Arial"/>
              </a:rPr>
              <a:t>04</a:t>
            </a:r>
          </a:p>
        </p:txBody>
      </p:sp>
      <p:graphicFrame>
        <p:nvGraphicFramePr>
          <p:cNvPr id="21" name="Chart"/>
          <p:cNvGraphicFramePr/>
          <p:nvPr/>
        </p:nvGraphicFramePr>
        <p:xfrm>
          <a:off xmlns:a="http://schemas.openxmlformats.org/drawingml/2006/main" x="609600" y="1943100"/>
          <a:ext xmlns:a="http://schemas.openxmlformats.org/drawingml/2006/main" cx="6286500" cy="3762375"/>
        </p:xfrm>
        <a:graphic xmlns:a="http://schemas.openxmlformats.org/drawingml/2006/main">
          <a:graphicData uri="http://schemas.openxmlformats.org/drawingml/2006/chart">
            <c:chart xmlns:r="http://schemas.openxmlformats.org/officeDocument/2006/relationships" xmlns:c="http://schemas.openxmlformats.org/drawingml/2006/chart" r:id="R2769987aedfc4d32"/>
          </a:graphicData>
        </a:graphic>
      </p:graphicFrame>
      <p:sp>
        <p:nvSpPr>
          <p:cNvPr id="8" name="text-49">
            <a:extLst xmlns:a="http://schemas.openxmlformats.org/drawingml/2006/main">
              <a:ext uri="{FF2B5EF4-FFF2-40B4-BE49-F238E27FC236}">
                <a16:creationId xmlns:a16="http://schemas.microsoft.com/office/drawing/2014/main" id="{EA5D7AA6-7E32-4E20-8C42-A05C73BBC606}"/>
              </a:ext>
            </a:extLst>
          </p:cNvPr>
          <p:cNvSpPr>
            <a:spLocks xmlns:a="http://schemas.openxmlformats.org/drawingml/2006/main" noGrp="1"/>
          </p:cNvSpPr>
          <p:nvPr/>
        </p:nvSpPr>
        <p:spPr>
          <a:xfrm xmlns:a="http://schemas.openxmlformats.org/drawingml/2006/main">
            <a:off x="7543800" y="2076450"/>
            <a:ext cx="4038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00" b="1">
                <a:solidFill>
                  <a:srgbClr val="111111"/>
                </a:solidFill>
                <a:latin typeface="Arial"/>
                <a:ea typeface="Arial"/>
                <a:cs typeface="Arial"/>
              </a:defRPr>
            </a:pPr>
            <a:r>
              <a:rPr sz="2700" b="1">
                <a:solidFill>
                  <a:srgbClr val="111111"/>
                </a:solidFill>
                <a:latin typeface="Arial"/>
                <a:ea typeface="Arial"/>
                <a:cs typeface="Arial"/>
              </a:rPr>
              <a:t>01 APR 2027</a:t>
            </a:r>
          </a:p>
        </p:txBody>
      </p:sp>
      <p:sp>
        <p:nvSpPr>
          <p:cNvPr id="9" name="text-50">
            <a:extLst xmlns:a="http://schemas.openxmlformats.org/drawingml/2006/main">
              <a:ext uri="{FF2B5EF4-FFF2-40B4-BE49-F238E27FC236}">
                <a16:creationId xmlns:a16="http://schemas.microsoft.com/office/drawing/2014/main" id="{2293CD95-8DA2-41B4-90B5-84A2D7FE7074}"/>
              </a:ext>
            </a:extLst>
          </p:cNvPr>
          <p:cNvSpPr>
            <a:spLocks xmlns:a="http://schemas.openxmlformats.org/drawingml/2006/main" noGrp="1"/>
          </p:cNvSpPr>
          <p:nvPr/>
        </p:nvSpPr>
        <p:spPr>
          <a:xfrm xmlns:a="http://schemas.openxmlformats.org/drawingml/2006/main">
            <a:off x="7543800" y="2724150"/>
            <a:ext cx="4038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565E68"/>
                </a:solidFill>
                <a:latin typeface="Arial"/>
                <a:ea typeface="Arial"/>
                <a:cs typeface="Arial"/>
              </a:defRPr>
            </a:pPr>
            <a:r>
              <a:rPr sz="1950" b="0">
                <a:solidFill>
                  <a:srgbClr val="565E68"/>
                </a:solidFill>
                <a:latin typeface="Arial"/>
                <a:ea typeface="Arial"/>
                <a:cs typeface="Arial"/>
              </a:rPr>
              <a:t>A single status snapshot</a:t>
            </a:r>
          </a:p>
          <a:p xmlns:a="http://schemas.openxmlformats.org/drawingml/2006/main">
            <a:pPr algn="l">
              <a:buNone/>
              <a:defRPr sz="1950" b="0">
                <a:solidFill>
                  <a:srgbClr val="565E68"/>
                </a:solidFill>
                <a:latin typeface="Arial"/>
                <a:ea typeface="Arial"/>
                <a:cs typeface="Arial"/>
              </a:defRPr>
            </a:pPr>
            <a:r>
              <a:rPr sz="1950" b="0">
                <a:solidFill>
                  <a:srgbClr val="565E68"/>
                </a:solidFill>
                <a:latin typeface="Arial"/>
                <a:ea typeface="Arial"/>
                <a:cs typeface="Arial"/>
              </a:rPr>
              <a:t>across the integrated programme.</a:t>
            </a:r>
          </a:p>
        </p:txBody>
      </p:sp>
      <p:sp>
        <p:nvSpPr>
          <p:cNvPr id="10" name="text-51">
            <a:extLst xmlns:a="http://schemas.openxmlformats.org/drawingml/2006/main">
              <a:ext uri="{FF2B5EF4-FFF2-40B4-BE49-F238E27FC236}">
                <a16:creationId xmlns:a16="http://schemas.microsoft.com/office/drawing/2014/main" id="{CC588C71-462A-45C4-A8FD-641FE1C10A06}"/>
              </a:ext>
            </a:extLst>
          </p:cNvPr>
          <p:cNvSpPr>
            <a:spLocks xmlns:a="http://schemas.openxmlformats.org/drawingml/2006/main" noGrp="1"/>
          </p:cNvSpPr>
          <p:nvPr/>
        </p:nvSpPr>
        <p:spPr>
          <a:xfrm xmlns:a="http://schemas.openxmlformats.org/drawingml/2006/main">
            <a:off x="7543800" y="4067175"/>
            <a:ext cx="4038600" cy="917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6450" b="1">
                <a:solidFill>
                  <a:srgbClr val="111111"/>
                </a:solidFill>
                <a:latin typeface="Arial"/>
                <a:ea typeface="Arial"/>
                <a:cs typeface="Arial"/>
              </a:defRPr>
            </a:pPr>
            <a:r>
              <a:rPr sz="6450" b="1">
                <a:solidFill>
                  <a:srgbClr val="111111"/>
                </a:solidFill>
                <a:latin typeface="Arial"/>
                <a:ea typeface="Arial"/>
                <a:cs typeface="Arial"/>
              </a:rPr>
              <a:t>9</a:t>
            </a:r>
          </a:p>
        </p:txBody>
      </p:sp>
      <p:sp>
        <p:nvSpPr>
          <p:cNvPr id="11" name="text-52">
            <a:extLst xmlns:a="http://schemas.openxmlformats.org/drawingml/2006/main">
              <a:ext uri="{FF2B5EF4-FFF2-40B4-BE49-F238E27FC236}">
                <a16:creationId xmlns:a16="http://schemas.microsoft.com/office/drawing/2014/main" id="{17BD483E-399A-463A-89DB-986075A912C5}"/>
              </a:ext>
            </a:extLst>
          </p:cNvPr>
          <p:cNvSpPr>
            <a:spLocks xmlns:a="http://schemas.openxmlformats.org/drawingml/2006/main" noGrp="1"/>
          </p:cNvSpPr>
          <p:nvPr/>
        </p:nvSpPr>
        <p:spPr>
          <a:xfrm xmlns:a="http://schemas.openxmlformats.org/drawingml/2006/main">
            <a:off x="7543800" y="5060823"/>
            <a:ext cx="403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565E68"/>
                </a:solidFill>
                <a:latin typeface="Arial"/>
                <a:ea typeface="Arial"/>
                <a:cs typeface="Arial"/>
              </a:defRPr>
            </a:pPr>
            <a:r>
              <a:rPr sz="1650" b="0">
                <a:solidFill>
                  <a:srgbClr val="565E68"/>
                </a:solidFill>
                <a:latin typeface="Arial"/>
                <a:ea typeface="Arial"/>
                <a:cs typeface="Arial"/>
              </a:rPr>
              <a:t>activities in progress</a:t>
            </a:r>
          </a:p>
        </p:txBody>
      </p:sp>
      <p:sp>
        <p:nvSpPr>
          <p:cNvPr id="12" name="text-53">
            <a:extLst xmlns:a="http://schemas.openxmlformats.org/drawingml/2006/main">
              <a:ext uri="{FF2B5EF4-FFF2-40B4-BE49-F238E27FC236}">
                <a16:creationId xmlns:a16="http://schemas.microsoft.com/office/drawing/2014/main" id="{36292D09-E997-46C7-A2D3-9854D5ABCB9C}"/>
              </a:ext>
            </a:extLst>
          </p:cNvPr>
          <p:cNvSpPr>
            <a:spLocks xmlns:a="http://schemas.openxmlformats.org/drawingml/2006/main" noGrp="1"/>
          </p:cNvSpPr>
          <p:nvPr/>
        </p:nvSpPr>
        <p:spPr>
          <a:xfrm xmlns:a="http://schemas.openxmlformats.org/drawingml/2006/main">
            <a:off x="609600" y="58102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565E68"/>
                </a:solidFill>
                <a:latin typeface="Arial"/>
                <a:ea typeface="Arial"/>
                <a:cs typeface="Arial"/>
              </a:defRPr>
            </a:pPr>
            <a:r>
              <a:rPr sz="1650" b="0">
                <a:solidFill>
                  <a:srgbClr val="565E68"/>
                </a:solidFill>
                <a:latin typeface="Arial"/>
                <a:ea typeface="Arial"/>
                <a:cs typeface="Arial"/>
              </a:rPr>
              <a:t>Counts describe activity status. They are not a weighted physical-progress percentage.</a:t>
            </a:r>
          </a:p>
        </p:txBody>
      </p:sp>
    </p:spTree>
    <p:extLst>
      <p:ext uri="{BB962C8B-B14F-4D97-AF65-F5344CB8AC3E}">
        <p14:creationId xmlns:p14="http://schemas.microsoft.com/office/powerpoint/2010/main" val="114380271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ext-54">
            <a:extLst xmlns:a="http://schemas.openxmlformats.org/drawingml/2006/main">
              <a:ext uri="{FF2B5EF4-FFF2-40B4-BE49-F238E27FC236}">
                <a16:creationId xmlns:a16="http://schemas.microsoft.com/office/drawing/2014/main" id="{EFDA9A27-45D3-4063-998F-25563B9B9134}"/>
              </a:ext>
            </a:extLst>
          </p:cNvPr>
          <p:cNvSpPr>
            <a:spLocks xmlns:a="http://schemas.openxmlformats.org/drawingml/2006/main" noGrp="1"/>
          </p:cNvSpPr>
          <p:nvPr/>
        </p:nvSpPr>
        <p:spPr>
          <a:xfrm xmlns:a="http://schemas.openxmlformats.org/drawingml/2006/main">
            <a:off x="609600" y="3238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2563EB"/>
                </a:solidFill>
                <a:latin typeface="Arial"/>
                <a:ea typeface="Arial"/>
                <a:cs typeface="Arial"/>
              </a:defRPr>
            </a:pPr>
            <a:r>
              <a:rPr sz="1275" b="1">
                <a:solidFill>
                  <a:srgbClr val="2563EB"/>
                </a:solidFill>
                <a:latin typeface="Arial"/>
                <a:ea typeface="Arial"/>
                <a:cs typeface="Arial"/>
              </a:rPr>
              <a:t>FINISH FORECAST</a:t>
            </a:r>
          </a:p>
        </p:txBody>
      </p:sp>
      <p:sp>
        <p:nvSpPr>
          <p:cNvPr id="2" name="slide-5-title">
            <a:extLst xmlns:a="http://schemas.openxmlformats.org/drawingml/2006/main">
              <a:ext uri="{FF2B5EF4-FFF2-40B4-BE49-F238E27FC236}">
                <a16:creationId xmlns:a16="http://schemas.microsoft.com/office/drawing/2014/main" id="{48AE6E5B-31CD-4A91-AFB9-9CF5583A9EE9}"/>
              </a:ext>
            </a:extLst>
          </p:cNvPr>
          <p:cNvSpPr>
            <a:spLocks xmlns:a="http://schemas.openxmlformats.org/drawingml/2006/main" noGrp="1"/>
          </p:cNvSpPr>
          <p:nvPr/>
        </p:nvSpPr>
        <p:spPr>
          <a:xfrm xmlns:a="http://schemas.openxmlformats.org/drawingml/2006/main">
            <a:off x="609600" y="7905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111111"/>
                </a:solidFill>
                <a:latin typeface="Arial"/>
                <a:ea typeface="Arial"/>
                <a:cs typeface="Arial"/>
              </a:defRPr>
            </a:pPr>
            <a:r>
              <a:rPr sz="3600" b="1">
                <a:solidFill>
                  <a:srgbClr val="111111"/>
                </a:solidFill>
                <a:latin typeface="Arial"/>
                <a:ea typeface="Arial"/>
                <a:cs typeface="Arial"/>
              </a:rPr>
              <a:t>Keep the three finish dates distinct</a:t>
            </a:r>
          </a:p>
        </p:txBody>
      </p:sp>
      <p:sp>
        <p:nvSpPr>
          <p:cNvPr id="3" name="rule-55">
            <a:extLst xmlns:a="http://schemas.openxmlformats.org/drawingml/2006/main">
              <a:ext uri="{FF2B5EF4-FFF2-40B4-BE49-F238E27FC236}">
                <a16:creationId xmlns:a16="http://schemas.microsoft.com/office/drawing/2014/main" id="{EC98FA7F-551A-42D2-8460-F72D8826CC6C}"/>
              </a:ext>
            </a:extLst>
          </p:cNvPr>
          <p:cNvSpPr>
            <a:spLocks xmlns:a="http://schemas.openxmlformats.org/drawingml/2006/main" noGrp="1"/>
          </p:cNvSpPr>
          <p:nvPr/>
        </p:nvSpPr>
        <p:spPr>
          <a:xfrm xmlns:a="http://schemas.openxmlformats.org/drawingml/2006/main">
            <a:off x="609600" y="6362700"/>
            <a:ext cx="10972800" cy="0"/>
          </a:xfrm>
          <a:prstGeom xmlns:a="http://schemas.openxmlformats.org/drawingml/2006/main" prst="line">
            <a:avLst/>
          </a:prstGeom>
          <a:noFill xmlns:a="http://schemas.openxmlformats.org/drawingml/2006/main"/>
          <a:ln xmlns:a="http://schemas.openxmlformats.org/drawingml/2006/main" w="9525">
            <a:solidFill>
              <a:srgbClr val="D8DDE3"/>
            </a:solidFill>
            <a:prstDash val="solid"/>
          </a:ln>
        </p:spPr>
      </p:sp>
      <p:sp>
        <p:nvSpPr>
          <p:cNvPr id="4" name="text-56">
            <a:extLst xmlns:a="http://schemas.openxmlformats.org/drawingml/2006/main">
              <a:ext uri="{FF2B5EF4-FFF2-40B4-BE49-F238E27FC236}">
                <a16:creationId xmlns:a16="http://schemas.microsoft.com/office/drawing/2014/main" id="{0239659D-42B4-4C0F-9030-13DF7266436B}"/>
              </a:ext>
            </a:extLst>
          </p:cNvPr>
          <p:cNvSpPr>
            <a:spLocks xmlns:a="http://schemas.openxmlformats.org/drawingml/2006/main" noGrp="1"/>
          </p:cNvSpPr>
          <p:nvPr/>
        </p:nvSpPr>
        <p:spPr>
          <a:xfrm xmlns:a="http://schemas.openxmlformats.org/drawingml/2006/main">
            <a:off x="609600" y="6534150"/>
            <a:ext cx="685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0">
                <a:solidFill>
                  <a:srgbClr val="565E68"/>
                </a:solidFill>
                <a:latin typeface="Arial"/>
                <a:ea typeface="Arial"/>
                <a:cs typeface="Arial"/>
              </a:defRPr>
            </a:pPr>
            <a:r>
              <a:rPr sz="975" b="0">
                <a:solidFill>
                  <a:srgbClr val="565E68"/>
                </a:solidFill>
                <a:latin typeface="Arial"/>
                <a:ea typeface="Arial"/>
                <a:cs typeface="Arial"/>
              </a:rPr>
              <a:t>ALI BAYOUMI  /  PRIMAVERA P6 CASE STUDY</a:t>
            </a:r>
          </a:p>
        </p:txBody>
      </p:sp>
      <p:sp>
        <p:nvSpPr>
          <p:cNvPr id="5" name="text-57">
            <a:extLst xmlns:a="http://schemas.openxmlformats.org/drawingml/2006/main">
              <a:ext uri="{FF2B5EF4-FFF2-40B4-BE49-F238E27FC236}">
                <a16:creationId xmlns:a16="http://schemas.microsoft.com/office/drawing/2014/main" id="{6C470EE0-E9EE-414E-921A-BC08CE8F42FF}"/>
              </a:ext>
            </a:extLst>
          </p:cNvPr>
          <p:cNvSpPr>
            <a:spLocks xmlns:a="http://schemas.openxmlformats.org/drawingml/2006/main" noGrp="1"/>
          </p:cNvSpPr>
          <p:nvPr/>
        </p:nvSpPr>
        <p:spPr>
          <a:xfrm xmlns:a="http://schemas.openxmlformats.org/drawingml/2006/main">
            <a:off x="8229600" y="653415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a:solidFill>
                  <a:srgbClr val="565E68"/>
                </a:solidFill>
                <a:latin typeface="Arial"/>
                <a:ea typeface="Arial"/>
                <a:cs typeface="Arial"/>
              </a:defRPr>
            </a:pPr>
            <a:r>
              <a:rPr sz="975" b="0">
                <a:solidFill>
                  <a:srgbClr val="565E68"/>
                </a:solidFill>
                <a:latin typeface="Arial"/>
                <a:ea typeface="Arial"/>
                <a:cs typeface="Arial"/>
              </a:rPr>
              <a:t>SIMULATED PROJECT</a:t>
            </a:r>
          </a:p>
        </p:txBody>
      </p:sp>
      <p:sp>
        <p:nvSpPr>
          <p:cNvPr id="6" name="text-58">
            <a:extLst xmlns:a="http://schemas.openxmlformats.org/drawingml/2006/main">
              <a:ext uri="{FF2B5EF4-FFF2-40B4-BE49-F238E27FC236}">
                <a16:creationId xmlns:a16="http://schemas.microsoft.com/office/drawing/2014/main" id="{2095A212-A4F8-41BA-9915-A6E6A5CB18DF}"/>
              </a:ext>
            </a:extLst>
          </p:cNvPr>
          <p:cNvSpPr>
            <a:spLocks xmlns:a="http://schemas.openxmlformats.org/drawingml/2006/main" noGrp="1"/>
          </p:cNvSpPr>
          <p:nvPr/>
        </p:nvSpPr>
        <p:spPr>
          <a:xfrm xmlns:a="http://schemas.openxmlformats.org/drawingml/2006/main">
            <a:off x="11144250" y="64960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111111"/>
                </a:solidFill>
                <a:latin typeface="Arial"/>
                <a:ea typeface="Arial"/>
                <a:cs typeface="Arial"/>
              </a:defRPr>
            </a:pPr>
            <a:r>
              <a:rPr sz="1350" b="0">
                <a:solidFill>
                  <a:srgbClr val="111111"/>
                </a:solidFill>
                <a:latin typeface="Arial"/>
                <a:ea typeface="Arial"/>
                <a:cs typeface="Arial"/>
              </a:rPr>
              <a:t>05</a:t>
            </a:r>
          </a:p>
        </p:txBody>
      </p:sp>
      <p:sp>
        <p:nvSpPr>
          <p:cNvPr id="7" name="text-59">
            <a:extLst xmlns:a="http://schemas.openxmlformats.org/drawingml/2006/main">
              <a:ext uri="{FF2B5EF4-FFF2-40B4-BE49-F238E27FC236}">
                <a16:creationId xmlns:a16="http://schemas.microsoft.com/office/drawing/2014/main" id="{350DD931-2D2F-44BF-8517-0E60C1648CF7}"/>
              </a:ext>
            </a:extLst>
          </p:cNvPr>
          <p:cNvSpPr>
            <a:spLocks xmlns:a="http://schemas.openxmlformats.org/drawingml/2006/main" noGrp="1"/>
          </p:cNvSpPr>
          <p:nvPr/>
        </p:nvSpPr>
        <p:spPr>
          <a:xfrm xmlns:a="http://schemas.openxmlformats.org/drawingml/2006/main">
            <a:off x="609600" y="17811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565E68"/>
                </a:solidFill>
                <a:latin typeface="Arial"/>
                <a:ea typeface="Arial"/>
                <a:cs typeface="Arial"/>
              </a:defRPr>
            </a:pPr>
            <a:r>
              <a:rPr sz="1950" b="0">
                <a:solidFill>
                  <a:srgbClr val="565E68"/>
                </a:solidFill>
                <a:latin typeface="Arial"/>
                <a:ea typeface="Arial"/>
                <a:cs typeface="Arial"/>
              </a:rPr>
              <a:t>Final project handover: saved early dates and leveled dates answer different questions.</a:t>
            </a:r>
          </a:p>
        </p:txBody>
      </p:sp>
      <p:sp>
        <p:nvSpPr>
          <p:cNvPr id="8" name="rule-60">
            <a:extLst xmlns:a="http://schemas.openxmlformats.org/drawingml/2006/main">
              <a:ext uri="{FF2B5EF4-FFF2-40B4-BE49-F238E27FC236}">
                <a16:creationId xmlns:a16="http://schemas.microsoft.com/office/drawing/2014/main" id="{C0438331-A11E-4CFB-9425-B07A13F5EC4B}"/>
              </a:ext>
            </a:extLst>
          </p:cNvPr>
          <p:cNvSpPr>
            <a:spLocks xmlns:a="http://schemas.openxmlformats.org/drawingml/2006/main" noGrp="1"/>
          </p:cNvSpPr>
          <p:nvPr/>
        </p:nvSpPr>
        <p:spPr>
          <a:xfrm xmlns:a="http://schemas.openxmlformats.org/drawingml/2006/main">
            <a:off x="609600" y="3438525"/>
            <a:ext cx="10972800" cy="0"/>
          </a:xfrm>
          <a:prstGeom xmlns:a="http://schemas.openxmlformats.org/drawingml/2006/main" prst="line">
            <a:avLst/>
          </a:prstGeom>
          <a:noFill xmlns:a="http://schemas.openxmlformats.org/drawingml/2006/main"/>
          <a:ln xmlns:a="http://schemas.openxmlformats.org/drawingml/2006/main" w="11430">
            <a:solidFill>
              <a:srgbClr val="111111"/>
            </a:solidFill>
            <a:prstDash val="solid"/>
          </a:ln>
        </p:spPr>
      </p:sp>
      <p:sp>
        <p:nvSpPr>
          <p:cNvPr id="9" name="milestone-61">
            <a:extLst xmlns:a="http://schemas.openxmlformats.org/drawingml/2006/main">
              <a:ext uri="{FF2B5EF4-FFF2-40B4-BE49-F238E27FC236}">
                <a16:creationId xmlns:a16="http://schemas.microsoft.com/office/drawing/2014/main" id="{8D48A893-2280-4C77-B11A-203336680858}"/>
              </a:ext>
            </a:extLst>
          </p:cNvPr>
          <p:cNvSpPr>
            <a:spLocks xmlns:a="http://schemas.openxmlformats.org/drawingml/2006/main" noGrp="1"/>
          </p:cNvSpPr>
          <p:nvPr/>
        </p:nvSpPr>
        <p:spPr>
          <a:xfrm xmlns:a="http://schemas.openxmlformats.org/drawingml/2006/main">
            <a:off x="561975" y="3390900"/>
            <a:ext cx="95250" cy="95250"/>
          </a:xfrm>
          <a:prstGeom xmlns:a="http://schemas.openxmlformats.org/drawingml/2006/main" prst="ellipse">
            <a:avLst/>
          </a:prstGeom>
          <a:solidFill xmlns:a="http://schemas.openxmlformats.org/drawingml/2006/main">
            <a:srgbClr val="111111"/>
          </a:solidFill>
          <a:ln xmlns:a="http://schemas.openxmlformats.org/drawingml/2006/main" w="0">
            <a:noFill/>
          </a:ln>
        </p:spPr>
      </p:sp>
      <p:sp>
        <p:nvSpPr>
          <p:cNvPr id="10" name="text-62">
            <a:extLst xmlns:a="http://schemas.openxmlformats.org/drawingml/2006/main">
              <a:ext uri="{FF2B5EF4-FFF2-40B4-BE49-F238E27FC236}">
                <a16:creationId xmlns:a16="http://schemas.microsoft.com/office/drawing/2014/main" id="{9BFC475A-7CB9-4003-8208-BDDDB4C5BA91}"/>
              </a:ext>
            </a:extLst>
          </p:cNvPr>
          <p:cNvSpPr>
            <a:spLocks xmlns:a="http://schemas.openxmlformats.org/drawingml/2006/main" noGrp="1"/>
          </p:cNvSpPr>
          <p:nvPr/>
        </p:nvSpPr>
        <p:spPr>
          <a:xfrm xmlns:a="http://schemas.openxmlformats.org/drawingml/2006/main">
            <a:off x="609600" y="254317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111111"/>
                </a:solidFill>
                <a:latin typeface="Arial"/>
                <a:ea typeface="Arial"/>
                <a:cs typeface="Arial"/>
              </a:defRPr>
            </a:pPr>
            <a:r>
              <a:rPr sz="3000" b="1">
                <a:solidFill>
                  <a:srgbClr val="111111"/>
                </a:solidFill>
                <a:latin typeface="Arial"/>
                <a:ea typeface="Arial"/>
                <a:cs typeface="Arial"/>
              </a:rPr>
              <a:t>15 AUG 2028</a:t>
            </a:r>
          </a:p>
        </p:txBody>
      </p:sp>
      <p:sp>
        <p:nvSpPr>
          <p:cNvPr id="11" name="text-63">
            <a:extLst xmlns:a="http://schemas.openxmlformats.org/drawingml/2006/main">
              <a:ext uri="{FF2B5EF4-FFF2-40B4-BE49-F238E27FC236}">
                <a16:creationId xmlns:a16="http://schemas.microsoft.com/office/drawing/2014/main" id="{CA520394-91EC-4E16-8B29-72EDC2BD1B1B}"/>
              </a:ext>
            </a:extLst>
          </p:cNvPr>
          <p:cNvSpPr>
            <a:spLocks xmlns:a="http://schemas.openxmlformats.org/drawingml/2006/main" noGrp="1"/>
          </p:cNvSpPr>
          <p:nvPr/>
        </p:nvSpPr>
        <p:spPr>
          <a:xfrm xmlns:a="http://schemas.openxmlformats.org/drawingml/2006/main">
            <a:off x="609600" y="389572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rial"/>
                <a:ea typeface="Arial"/>
                <a:cs typeface="Arial"/>
              </a:defRPr>
            </a:pPr>
            <a:r>
              <a:rPr sz="2400" b="1">
                <a:solidFill>
                  <a:srgbClr val="111111"/>
                </a:solidFill>
                <a:latin typeface="Arial"/>
                <a:ea typeface="Arial"/>
                <a:cs typeface="Arial"/>
              </a:rPr>
              <a:t>CPM early finish</a:t>
            </a:r>
          </a:p>
        </p:txBody>
      </p:sp>
      <p:sp>
        <p:nvSpPr>
          <p:cNvPr id="12" name="text-64">
            <a:extLst xmlns:a="http://schemas.openxmlformats.org/drawingml/2006/main">
              <a:ext uri="{FF2B5EF4-FFF2-40B4-BE49-F238E27FC236}">
                <a16:creationId xmlns:a16="http://schemas.microsoft.com/office/drawing/2014/main" id="{18E81912-19EB-49C4-86A2-59A6D6C1FB0C}"/>
              </a:ext>
            </a:extLst>
          </p:cNvPr>
          <p:cNvSpPr>
            <a:spLocks xmlns:a="http://schemas.openxmlformats.org/drawingml/2006/main" noGrp="1"/>
          </p:cNvSpPr>
          <p:nvPr/>
        </p:nvSpPr>
        <p:spPr>
          <a:xfrm xmlns:a="http://schemas.openxmlformats.org/drawingml/2006/main">
            <a:off x="609600" y="4562475"/>
            <a:ext cx="33147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65E68"/>
                </a:solidFill>
                <a:latin typeface="Arial"/>
                <a:ea typeface="Arial"/>
                <a:cs typeface="Arial"/>
              </a:defRPr>
            </a:pPr>
            <a:r>
              <a:rPr sz="1800" b="0">
                <a:solidFill>
                  <a:srgbClr val="565E68"/>
                </a:solidFill>
                <a:latin typeface="Arial"/>
                <a:ea typeface="Arial"/>
                <a:cs typeface="Arial"/>
              </a:rPr>
              <a:t>Preserved scheduled early date in the source snapshot.</a:t>
            </a:r>
          </a:p>
        </p:txBody>
      </p:sp>
      <p:sp>
        <p:nvSpPr>
          <p:cNvPr id="13" name="milestone-65">
            <a:extLst xmlns:a="http://schemas.openxmlformats.org/drawingml/2006/main">
              <a:ext uri="{FF2B5EF4-FFF2-40B4-BE49-F238E27FC236}">
                <a16:creationId xmlns:a16="http://schemas.microsoft.com/office/drawing/2014/main" id="{D9A0E32B-EB9A-46CF-B68F-38104DABE80E}"/>
              </a:ext>
            </a:extLst>
          </p:cNvPr>
          <p:cNvSpPr>
            <a:spLocks xmlns:a="http://schemas.openxmlformats.org/drawingml/2006/main" noGrp="1"/>
          </p:cNvSpPr>
          <p:nvPr/>
        </p:nvSpPr>
        <p:spPr>
          <a:xfrm xmlns:a="http://schemas.openxmlformats.org/drawingml/2006/main">
            <a:off x="4314825" y="3390900"/>
            <a:ext cx="95250" cy="95250"/>
          </a:xfrm>
          <a:prstGeom xmlns:a="http://schemas.openxmlformats.org/drawingml/2006/main" prst="ellipse">
            <a:avLst/>
          </a:prstGeom>
          <a:solidFill xmlns:a="http://schemas.openxmlformats.org/drawingml/2006/main">
            <a:srgbClr val="111111"/>
          </a:solidFill>
          <a:ln xmlns:a="http://schemas.openxmlformats.org/drawingml/2006/main" w="0">
            <a:noFill/>
          </a:ln>
        </p:spPr>
      </p:sp>
      <p:sp>
        <p:nvSpPr>
          <p:cNvPr id="14" name="text-66">
            <a:extLst xmlns:a="http://schemas.openxmlformats.org/drawingml/2006/main">
              <a:ext uri="{FF2B5EF4-FFF2-40B4-BE49-F238E27FC236}">
                <a16:creationId xmlns:a16="http://schemas.microsoft.com/office/drawing/2014/main" id="{DA260697-98C6-42CE-B43D-29423B6D9358}"/>
              </a:ext>
            </a:extLst>
          </p:cNvPr>
          <p:cNvSpPr>
            <a:spLocks xmlns:a="http://schemas.openxmlformats.org/drawingml/2006/main" noGrp="1"/>
          </p:cNvSpPr>
          <p:nvPr/>
        </p:nvSpPr>
        <p:spPr>
          <a:xfrm xmlns:a="http://schemas.openxmlformats.org/drawingml/2006/main">
            <a:off x="4362450" y="254317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111111"/>
                </a:solidFill>
                <a:latin typeface="Arial"/>
                <a:ea typeface="Arial"/>
                <a:cs typeface="Arial"/>
              </a:defRPr>
            </a:pPr>
            <a:r>
              <a:rPr sz="3000" b="1">
                <a:solidFill>
                  <a:srgbClr val="111111"/>
                </a:solidFill>
                <a:latin typeface="Arial"/>
                <a:ea typeface="Arial"/>
                <a:cs typeface="Arial"/>
              </a:rPr>
              <a:t>16 AUG 2028</a:t>
            </a:r>
          </a:p>
        </p:txBody>
      </p:sp>
      <p:sp>
        <p:nvSpPr>
          <p:cNvPr id="15" name="text-67">
            <a:extLst xmlns:a="http://schemas.openxmlformats.org/drawingml/2006/main">
              <a:ext uri="{FF2B5EF4-FFF2-40B4-BE49-F238E27FC236}">
                <a16:creationId xmlns:a16="http://schemas.microsoft.com/office/drawing/2014/main" id="{3030656D-7107-4E6D-A01F-3A0095F08490}"/>
              </a:ext>
            </a:extLst>
          </p:cNvPr>
          <p:cNvSpPr>
            <a:spLocks xmlns:a="http://schemas.openxmlformats.org/drawingml/2006/main" noGrp="1"/>
          </p:cNvSpPr>
          <p:nvPr/>
        </p:nvSpPr>
        <p:spPr>
          <a:xfrm xmlns:a="http://schemas.openxmlformats.org/drawingml/2006/main">
            <a:off x="4362450" y="389572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rial"/>
                <a:ea typeface="Arial"/>
                <a:cs typeface="Arial"/>
              </a:defRPr>
            </a:pPr>
            <a:r>
              <a:rPr sz="2400" b="1">
                <a:solidFill>
                  <a:srgbClr val="111111"/>
                </a:solidFill>
                <a:latin typeface="Arial"/>
                <a:ea typeface="Arial"/>
                <a:cs typeface="Arial"/>
              </a:rPr>
              <a:t>Leveled handover</a:t>
            </a:r>
          </a:p>
        </p:txBody>
      </p:sp>
      <p:sp>
        <p:nvSpPr>
          <p:cNvPr id="16" name="text-68">
            <a:extLst xmlns:a="http://schemas.openxmlformats.org/drawingml/2006/main">
              <a:ext uri="{FF2B5EF4-FFF2-40B4-BE49-F238E27FC236}">
                <a16:creationId xmlns:a16="http://schemas.microsoft.com/office/drawing/2014/main" id="{3A672B46-F7AB-4337-99C1-130BF79DFA18}"/>
              </a:ext>
            </a:extLst>
          </p:cNvPr>
          <p:cNvSpPr>
            <a:spLocks xmlns:a="http://schemas.openxmlformats.org/drawingml/2006/main" noGrp="1"/>
          </p:cNvSpPr>
          <p:nvPr/>
        </p:nvSpPr>
        <p:spPr>
          <a:xfrm xmlns:a="http://schemas.openxmlformats.org/drawingml/2006/main">
            <a:off x="4362450" y="4562475"/>
            <a:ext cx="33147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65E68"/>
                </a:solidFill>
                <a:latin typeface="Arial"/>
                <a:ea typeface="Arial"/>
                <a:cs typeface="Arial"/>
              </a:defRPr>
            </a:pPr>
            <a:r>
              <a:rPr sz="1800" b="0">
                <a:solidFill>
                  <a:srgbClr val="565E68"/>
                </a:solidFill>
                <a:latin typeface="Arial"/>
                <a:ea typeface="Arial"/>
                <a:cs typeface="Arial"/>
              </a:rPr>
              <a:t>Current HO-023 remaining / leveled finish.</a:t>
            </a:r>
          </a:p>
        </p:txBody>
      </p:sp>
      <p:sp>
        <p:nvSpPr>
          <p:cNvPr id="17" name="milestone-69">
            <a:extLst xmlns:a="http://schemas.openxmlformats.org/drawingml/2006/main">
              <a:ext uri="{FF2B5EF4-FFF2-40B4-BE49-F238E27FC236}">
                <a16:creationId xmlns:a16="http://schemas.microsoft.com/office/drawing/2014/main" id="{2C3BE14C-4E2E-40F9-8BF7-387B3BC3D7D1}"/>
              </a:ext>
            </a:extLst>
          </p:cNvPr>
          <p:cNvSpPr>
            <a:spLocks xmlns:a="http://schemas.openxmlformats.org/drawingml/2006/main" noGrp="1"/>
          </p:cNvSpPr>
          <p:nvPr/>
        </p:nvSpPr>
        <p:spPr>
          <a:xfrm xmlns:a="http://schemas.openxmlformats.org/drawingml/2006/main">
            <a:off x="8067675" y="3390900"/>
            <a:ext cx="95250" cy="95250"/>
          </a:xfrm>
          <a:prstGeom xmlns:a="http://schemas.openxmlformats.org/drawingml/2006/main" prst="ellipse">
            <a:avLst/>
          </a:prstGeom>
          <a:solidFill xmlns:a="http://schemas.openxmlformats.org/drawingml/2006/main">
            <a:srgbClr val="111111"/>
          </a:solidFill>
          <a:ln xmlns:a="http://schemas.openxmlformats.org/drawingml/2006/main" w="0">
            <a:noFill/>
          </a:ln>
        </p:spPr>
      </p:sp>
      <p:sp>
        <p:nvSpPr>
          <p:cNvPr id="18" name="text-70">
            <a:extLst xmlns:a="http://schemas.openxmlformats.org/drawingml/2006/main">
              <a:ext uri="{FF2B5EF4-FFF2-40B4-BE49-F238E27FC236}">
                <a16:creationId xmlns:a16="http://schemas.microsoft.com/office/drawing/2014/main" id="{9F77092F-A02D-4990-9CB6-EF80FD965A98}"/>
              </a:ext>
            </a:extLst>
          </p:cNvPr>
          <p:cNvSpPr>
            <a:spLocks xmlns:a="http://schemas.openxmlformats.org/drawingml/2006/main" noGrp="1"/>
          </p:cNvSpPr>
          <p:nvPr/>
        </p:nvSpPr>
        <p:spPr>
          <a:xfrm xmlns:a="http://schemas.openxmlformats.org/drawingml/2006/main">
            <a:off x="8115300" y="254317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111111"/>
                </a:solidFill>
                <a:latin typeface="Arial"/>
                <a:ea typeface="Arial"/>
                <a:cs typeface="Arial"/>
              </a:defRPr>
            </a:pPr>
            <a:r>
              <a:rPr sz="3000" b="1">
                <a:solidFill>
                  <a:srgbClr val="111111"/>
                </a:solidFill>
                <a:latin typeface="Arial"/>
                <a:ea typeface="Arial"/>
                <a:cs typeface="Arial"/>
              </a:rPr>
              <a:t>22 AUG 2028</a:t>
            </a:r>
          </a:p>
        </p:txBody>
      </p:sp>
      <p:sp>
        <p:nvSpPr>
          <p:cNvPr id="19" name="text-71">
            <a:extLst xmlns:a="http://schemas.openxmlformats.org/drawingml/2006/main">
              <a:ext uri="{FF2B5EF4-FFF2-40B4-BE49-F238E27FC236}">
                <a16:creationId xmlns:a16="http://schemas.microsoft.com/office/drawing/2014/main" id="{CED2522B-261E-431B-8B1B-B73C19470C9B}"/>
              </a:ext>
            </a:extLst>
          </p:cNvPr>
          <p:cNvSpPr>
            <a:spLocks xmlns:a="http://schemas.openxmlformats.org/drawingml/2006/main" noGrp="1"/>
          </p:cNvSpPr>
          <p:nvPr/>
        </p:nvSpPr>
        <p:spPr>
          <a:xfrm xmlns:a="http://schemas.openxmlformats.org/drawingml/2006/main">
            <a:off x="8115300" y="389572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rial"/>
                <a:ea typeface="Arial"/>
                <a:cs typeface="Arial"/>
              </a:defRPr>
            </a:pPr>
            <a:r>
              <a:rPr sz="2400" b="1">
                <a:solidFill>
                  <a:srgbClr val="111111"/>
                </a:solidFill>
                <a:latin typeface="Arial"/>
                <a:ea typeface="Arial"/>
                <a:cs typeface="Arial"/>
              </a:rPr>
              <a:t>Baseline handover</a:t>
            </a:r>
          </a:p>
        </p:txBody>
      </p:sp>
      <p:sp>
        <p:nvSpPr>
          <p:cNvPr id="20" name="text-72">
            <a:extLst xmlns:a="http://schemas.openxmlformats.org/drawingml/2006/main">
              <a:ext uri="{FF2B5EF4-FFF2-40B4-BE49-F238E27FC236}">
                <a16:creationId xmlns:a16="http://schemas.microsoft.com/office/drawing/2014/main" id="{103DDD56-ABA9-452A-A62C-EE5A755A2A68}"/>
              </a:ext>
            </a:extLst>
          </p:cNvPr>
          <p:cNvSpPr>
            <a:spLocks xmlns:a="http://schemas.openxmlformats.org/drawingml/2006/main" noGrp="1"/>
          </p:cNvSpPr>
          <p:nvPr/>
        </p:nvSpPr>
        <p:spPr>
          <a:xfrm xmlns:a="http://schemas.openxmlformats.org/drawingml/2006/main">
            <a:off x="8115300" y="4562475"/>
            <a:ext cx="33147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65E68"/>
                </a:solidFill>
                <a:latin typeface="Arial"/>
                <a:ea typeface="Arial"/>
                <a:cs typeface="Arial"/>
              </a:defRPr>
            </a:pPr>
            <a:r>
              <a:rPr sz="1800" b="0">
                <a:solidFill>
                  <a:srgbClr val="565E68"/>
                </a:solidFill>
                <a:latin typeface="Arial"/>
                <a:ea typeface="Arial"/>
                <a:cs typeface="Arial"/>
              </a:rPr>
              <a:t>Original baseline HO-023 finish. Use the same milestone scope.</a:t>
            </a:r>
          </a:p>
        </p:txBody>
      </p:sp>
      <p:sp>
        <p:nvSpPr>
          <p:cNvPr id="21" name="text-73">
            <a:extLst xmlns:a="http://schemas.openxmlformats.org/drawingml/2006/main">
              <a:ext uri="{FF2B5EF4-FFF2-40B4-BE49-F238E27FC236}">
                <a16:creationId xmlns:a16="http://schemas.microsoft.com/office/drawing/2014/main" id="{01ACC128-E431-4D38-BB1D-74DFF59D366E}"/>
              </a:ext>
            </a:extLst>
          </p:cNvPr>
          <p:cNvSpPr>
            <a:spLocks xmlns:a="http://schemas.openxmlformats.org/drawingml/2006/main" noGrp="1"/>
          </p:cNvSpPr>
          <p:nvPr/>
        </p:nvSpPr>
        <p:spPr>
          <a:xfrm xmlns:a="http://schemas.openxmlformats.org/drawingml/2006/main">
            <a:off x="609600" y="58102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565E68"/>
                </a:solidFill>
                <a:latin typeface="Arial"/>
                <a:ea typeface="Arial"/>
                <a:cs typeface="Arial"/>
              </a:defRPr>
            </a:pPr>
            <a:r>
              <a:rPr sz="1650" b="0">
                <a:solidFill>
                  <a:srgbClr val="565E68"/>
                </a:solidFill>
                <a:latin typeface="Arial"/>
                <a:ea typeface="Arial"/>
                <a:cs typeface="Arial"/>
              </a:rPr>
              <a:t>Saved comparison: leveled handover is 6 calendar days before baseline. This is not a tested recovery claim.</a:t>
            </a:r>
          </a:p>
        </p:txBody>
      </p:sp>
    </p:spTree>
    <p:extLst>
      <p:ext uri="{BB962C8B-B14F-4D97-AF65-F5344CB8AC3E}">
        <p14:creationId xmlns:p14="http://schemas.microsoft.com/office/powerpoint/2010/main" val="15220648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74">
            <a:extLst xmlns:a="http://schemas.openxmlformats.org/drawingml/2006/main">
              <a:ext uri="{FF2B5EF4-FFF2-40B4-BE49-F238E27FC236}">
                <a16:creationId xmlns:a16="http://schemas.microsoft.com/office/drawing/2014/main" id="{3364D6EF-AF9E-473E-B65E-ED5EF15465C6}"/>
              </a:ext>
            </a:extLst>
          </p:cNvPr>
          <p:cNvSpPr>
            <a:spLocks xmlns:a="http://schemas.openxmlformats.org/drawingml/2006/main" noGrp="1"/>
          </p:cNvSpPr>
          <p:nvPr/>
        </p:nvSpPr>
        <p:spPr>
          <a:xfrm xmlns:a="http://schemas.openxmlformats.org/drawingml/2006/main">
            <a:off x="609600" y="3238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2563EB"/>
                </a:solidFill>
                <a:latin typeface="Arial"/>
                <a:ea typeface="Arial"/>
                <a:cs typeface="Arial"/>
              </a:defRPr>
            </a:pPr>
            <a:r>
              <a:rPr sz="1275" b="1">
                <a:solidFill>
                  <a:srgbClr val="2563EB"/>
                </a:solidFill>
                <a:latin typeface="Arial"/>
                <a:ea typeface="Arial"/>
                <a:cs typeface="Arial"/>
              </a:rPr>
              <a:t>EARNED VALUE</a:t>
            </a:r>
          </a:p>
        </p:txBody>
      </p:sp>
      <p:sp>
        <p:nvSpPr>
          <p:cNvPr id="2" name="slide-6-title">
            <a:extLst xmlns:a="http://schemas.openxmlformats.org/drawingml/2006/main">
              <a:ext uri="{FF2B5EF4-FFF2-40B4-BE49-F238E27FC236}">
                <a16:creationId xmlns:a16="http://schemas.microsoft.com/office/drawing/2014/main" id="{2E3A43B3-2A7E-471F-AFD2-B346901F3FB4}"/>
              </a:ext>
            </a:extLst>
          </p:cNvPr>
          <p:cNvSpPr>
            <a:spLocks xmlns:a="http://schemas.openxmlformats.org/drawingml/2006/main" noGrp="1"/>
          </p:cNvSpPr>
          <p:nvPr/>
        </p:nvSpPr>
        <p:spPr>
          <a:xfrm xmlns:a="http://schemas.openxmlformats.org/drawingml/2006/main">
            <a:off x="609600" y="7905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111111"/>
                </a:solidFill>
                <a:latin typeface="Arial"/>
                <a:ea typeface="Arial"/>
                <a:cs typeface="Arial"/>
              </a:defRPr>
            </a:pPr>
            <a:r>
              <a:rPr sz="3600" b="1">
                <a:solidFill>
                  <a:srgbClr val="111111"/>
                </a:solidFill>
                <a:latin typeface="Arial"/>
                <a:ea typeface="Arial"/>
                <a:cs typeface="Arial"/>
              </a:rPr>
              <a:t>The EVM totals reconcile to the source</a:t>
            </a:r>
          </a:p>
        </p:txBody>
      </p:sp>
      <p:sp>
        <p:nvSpPr>
          <p:cNvPr id="3" name="rule-75">
            <a:extLst xmlns:a="http://schemas.openxmlformats.org/drawingml/2006/main">
              <a:ext uri="{FF2B5EF4-FFF2-40B4-BE49-F238E27FC236}">
                <a16:creationId xmlns:a16="http://schemas.microsoft.com/office/drawing/2014/main" id="{B8DDB416-B8E2-4B76-BDB2-3E88E80F238B}"/>
              </a:ext>
            </a:extLst>
          </p:cNvPr>
          <p:cNvSpPr>
            <a:spLocks xmlns:a="http://schemas.openxmlformats.org/drawingml/2006/main" noGrp="1"/>
          </p:cNvSpPr>
          <p:nvPr/>
        </p:nvSpPr>
        <p:spPr>
          <a:xfrm xmlns:a="http://schemas.openxmlformats.org/drawingml/2006/main">
            <a:off x="609600" y="6362700"/>
            <a:ext cx="10972800" cy="0"/>
          </a:xfrm>
          <a:prstGeom xmlns:a="http://schemas.openxmlformats.org/drawingml/2006/main" prst="line">
            <a:avLst/>
          </a:prstGeom>
          <a:noFill xmlns:a="http://schemas.openxmlformats.org/drawingml/2006/main"/>
          <a:ln xmlns:a="http://schemas.openxmlformats.org/drawingml/2006/main" w="9525">
            <a:solidFill>
              <a:srgbClr val="D8DDE3"/>
            </a:solidFill>
            <a:prstDash val="solid"/>
          </a:ln>
        </p:spPr>
      </p:sp>
      <p:sp>
        <p:nvSpPr>
          <p:cNvPr id="4" name="text-76">
            <a:extLst xmlns:a="http://schemas.openxmlformats.org/drawingml/2006/main">
              <a:ext uri="{FF2B5EF4-FFF2-40B4-BE49-F238E27FC236}">
                <a16:creationId xmlns:a16="http://schemas.microsoft.com/office/drawing/2014/main" id="{DD802C09-1A5F-46FD-A8CB-57FCEADE58F5}"/>
              </a:ext>
            </a:extLst>
          </p:cNvPr>
          <p:cNvSpPr>
            <a:spLocks xmlns:a="http://schemas.openxmlformats.org/drawingml/2006/main" noGrp="1"/>
          </p:cNvSpPr>
          <p:nvPr/>
        </p:nvSpPr>
        <p:spPr>
          <a:xfrm xmlns:a="http://schemas.openxmlformats.org/drawingml/2006/main">
            <a:off x="609600" y="6534150"/>
            <a:ext cx="685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0">
                <a:solidFill>
                  <a:srgbClr val="565E68"/>
                </a:solidFill>
                <a:latin typeface="Arial"/>
                <a:ea typeface="Arial"/>
                <a:cs typeface="Arial"/>
              </a:defRPr>
            </a:pPr>
            <a:r>
              <a:rPr sz="975" b="0">
                <a:solidFill>
                  <a:srgbClr val="565E68"/>
                </a:solidFill>
                <a:latin typeface="Arial"/>
                <a:ea typeface="Arial"/>
                <a:cs typeface="Arial"/>
              </a:rPr>
              <a:t>ALI BAYOUMI  /  PRIMAVERA P6 CASE STUDY</a:t>
            </a:r>
          </a:p>
        </p:txBody>
      </p:sp>
      <p:sp>
        <p:nvSpPr>
          <p:cNvPr id="5" name="text-77">
            <a:extLst xmlns:a="http://schemas.openxmlformats.org/drawingml/2006/main">
              <a:ext uri="{FF2B5EF4-FFF2-40B4-BE49-F238E27FC236}">
                <a16:creationId xmlns:a16="http://schemas.microsoft.com/office/drawing/2014/main" id="{685AD5A8-637A-4918-A1DE-1C22ABAE8662}"/>
              </a:ext>
            </a:extLst>
          </p:cNvPr>
          <p:cNvSpPr>
            <a:spLocks xmlns:a="http://schemas.openxmlformats.org/drawingml/2006/main" noGrp="1"/>
          </p:cNvSpPr>
          <p:nvPr/>
        </p:nvSpPr>
        <p:spPr>
          <a:xfrm xmlns:a="http://schemas.openxmlformats.org/drawingml/2006/main">
            <a:off x="8229600" y="653415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a:solidFill>
                  <a:srgbClr val="565E68"/>
                </a:solidFill>
                <a:latin typeface="Arial"/>
                <a:ea typeface="Arial"/>
                <a:cs typeface="Arial"/>
              </a:defRPr>
            </a:pPr>
            <a:r>
              <a:rPr sz="975" b="0">
                <a:solidFill>
                  <a:srgbClr val="565E68"/>
                </a:solidFill>
                <a:latin typeface="Arial"/>
                <a:ea typeface="Arial"/>
                <a:cs typeface="Arial"/>
              </a:rPr>
              <a:t>SIMULATED PROJECT</a:t>
            </a:r>
          </a:p>
        </p:txBody>
      </p:sp>
      <p:sp>
        <p:nvSpPr>
          <p:cNvPr id="6" name="text-78">
            <a:extLst xmlns:a="http://schemas.openxmlformats.org/drawingml/2006/main">
              <a:ext uri="{FF2B5EF4-FFF2-40B4-BE49-F238E27FC236}">
                <a16:creationId xmlns:a16="http://schemas.microsoft.com/office/drawing/2014/main" id="{1975DB02-1A85-4E34-B101-C0128041CE80}"/>
              </a:ext>
            </a:extLst>
          </p:cNvPr>
          <p:cNvSpPr>
            <a:spLocks xmlns:a="http://schemas.openxmlformats.org/drawingml/2006/main" noGrp="1"/>
          </p:cNvSpPr>
          <p:nvPr/>
        </p:nvSpPr>
        <p:spPr>
          <a:xfrm xmlns:a="http://schemas.openxmlformats.org/drawingml/2006/main">
            <a:off x="11144250" y="64960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111111"/>
                </a:solidFill>
                <a:latin typeface="Arial"/>
                <a:ea typeface="Arial"/>
                <a:cs typeface="Arial"/>
              </a:defRPr>
            </a:pPr>
            <a:r>
              <a:rPr sz="1350" b="0">
                <a:solidFill>
                  <a:srgbClr val="111111"/>
                </a:solidFill>
                <a:latin typeface="Arial"/>
                <a:ea typeface="Arial"/>
                <a:cs typeface="Arial"/>
              </a:rPr>
              <a:t>06</a:t>
            </a:r>
          </a:p>
        </p:txBody>
      </p:sp>
      <p:sp>
        <p:nvSpPr>
          <p:cNvPr id="7" name="text-79">
            <a:extLst xmlns:a="http://schemas.openxmlformats.org/drawingml/2006/main">
              <a:ext uri="{FF2B5EF4-FFF2-40B4-BE49-F238E27FC236}">
                <a16:creationId xmlns:a16="http://schemas.microsoft.com/office/drawing/2014/main" id="{48D427A1-48D4-49D0-8E55-610D26413EC9}"/>
              </a:ext>
            </a:extLst>
          </p:cNvPr>
          <p:cNvSpPr>
            <a:spLocks xmlns:a="http://schemas.openxmlformats.org/drawingml/2006/main" noGrp="1"/>
          </p:cNvSpPr>
          <p:nvPr/>
        </p:nvSpPr>
        <p:spPr>
          <a:xfrm xmlns:a="http://schemas.openxmlformats.org/drawingml/2006/main">
            <a:off x="609600" y="1771650"/>
            <a:ext cx="628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565E68"/>
                </a:solidFill>
                <a:latin typeface="Arial"/>
                <a:ea typeface="Arial"/>
                <a:cs typeface="Arial"/>
              </a:defRPr>
            </a:pPr>
            <a:r>
              <a:rPr sz="1650" b="0">
                <a:solidFill>
                  <a:srgbClr val="565E68"/>
                </a:solidFill>
                <a:latin typeface="Arial"/>
                <a:ea typeface="Arial"/>
                <a:cs typeface="Arial"/>
              </a:rPr>
              <a:t>Cumulative value at 01 Apr 2027 · USD thousands</a:t>
            </a:r>
          </a:p>
        </p:txBody>
      </p:sp>
      <p:graphicFrame>
        <p:nvGraphicFramePr>
          <p:cNvPr id="23" name="Chart"/>
          <p:cNvGraphicFramePr/>
          <p:nvPr/>
        </p:nvGraphicFramePr>
        <p:xfrm>
          <a:off xmlns:a="http://schemas.openxmlformats.org/drawingml/2006/main" x="609600" y="2247900"/>
          <a:ext xmlns:a="http://schemas.openxmlformats.org/drawingml/2006/main" cx="6286500" cy="3457575"/>
        </p:xfrm>
        <a:graphic xmlns:a="http://schemas.openxmlformats.org/drawingml/2006/main">
          <a:graphicData uri="http://schemas.openxmlformats.org/drawingml/2006/chart">
            <c:chart xmlns:r="http://schemas.openxmlformats.org/officeDocument/2006/relationships" xmlns:c="http://schemas.openxmlformats.org/drawingml/2006/chart" r:id="R1d95660345184fe5"/>
          </a:graphicData>
        </a:graphic>
      </p:graphicFrame>
      <p:sp>
        <p:nvSpPr>
          <p:cNvPr id="9" name="text-80">
            <a:extLst xmlns:a="http://schemas.openxmlformats.org/drawingml/2006/main">
              <a:ext uri="{FF2B5EF4-FFF2-40B4-BE49-F238E27FC236}">
                <a16:creationId xmlns:a16="http://schemas.microsoft.com/office/drawing/2014/main" id="{D6C0B0BB-6CDB-4B1C-A03C-896A818684AA}"/>
              </a:ext>
            </a:extLst>
          </p:cNvPr>
          <p:cNvSpPr>
            <a:spLocks xmlns:a="http://schemas.openxmlformats.org/drawingml/2006/main" noGrp="1"/>
          </p:cNvSpPr>
          <p:nvPr/>
        </p:nvSpPr>
        <p:spPr>
          <a:xfrm xmlns:a="http://schemas.openxmlformats.org/drawingml/2006/main">
            <a:off x="7543800" y="2076450"/>
            <a:ext cx="4038600" cy="810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700" b="1">
                <a:solidFill>
                  <a:srgbClr val="111111"/>
                </a:solidFill>
                <a:latin typeface="Arial"/>
                <a:ea typeface="Arial"/>
                <a:cs typeface="Arial"/>
              </a:defRPr>
            </a:pPr>
            <a:r>
              <a:rPr sz="5700" b="1">
                <a:solidFill>
                  <a:srgbClr val="111111"/>
                </a:solidFill>
                <a:latin typeface="Arial"/>
                <a:ea typeface="Arial"/>
                <a:cs typeface="Arial"/>
              </a:rPr>
              <a:t>1.0048</a:t>
            </a:r>
          </a:p>
        </p:txBody>
      </p:sp>
      <p:sp>
        <p:nvSpPr>
          <p:cNvPr id="10" name="text-81">
            <a:extLst xmlns:a="http://schemas.openxmlformats.org/drawingml/2006/main">
              <a:ext uri="{FF2B5EF4-FFF2-40B4-BE49-F238E27FC236}">
                <a16:creationId xmlns:a16="http://schemas.microsoft.com/office/drawing/2014/main" id="{0BCC2472-C773-43EF-A9B8-3BB050F55279}"/>
              </a:ext>
            </a:extLst>
          </p:cNvPr>
          <p:cNvSpPr>
            <a:spLocks xmlns:a="http://schemas.openxmlformats.org/drawingml/2006/main" noGrp="1"/>
          </p:cNvSpPr>
          <p:nvPr/>
        </p:nvSpPr>
        <p:spPr>
          <a:xfrm xmlns:a="http://schemas.openxmlformats.org/drawingml/2006/main">
            <a:off x="7543800" y="2963418"/>
            <a:ext cx="403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565E68"/>
                </a:solidFill>
                <a:latin typeface="Arial"/>
                <a:ea typeface="Arial"/>
                <a:cs typeface="Arial"/>
              </a:defRPr>
            </a:pPr>
            <a:r>
              <a:rPr sz="1650" b="0">
                <a:solidFill>
                  <a:srgbClr val="565E68"/>
                </a:solidFill>
                <a:latin typeface="Arial"/>
                <a:ea typeface="Arial"/>
                <a:cs typeface="Arial"/>
              </a:rPr>
              <a:t>SPI = EV / PV</a:t>
            </a:r>
          </a:p>
        </p:txBody>
      </p:sp>
      <p:sp>
        <p:nvSpPr>
          <p:cNvPr id="11" name="text-82">
            <a:extLst xmlns:a="http://schemas.openxmlformats.org/drawingml/2006/main">
              <a:ext uri="{FF2B5EF4-FFF2-40B4-BE49-F238E27FC236}">
                <a16:creationId xmlns:a16="http://schemas.microsoft.com/office/drawing/2014/main" id="{37A02D16-D035-43FD-8EAC-31F91BCD2B9C}"/>
              </a:ext>
            </a:extLst>
          </p:cNvPr>
          <p:cNvSpPr>
            <a:spLocks xmlns:a="http://schemas.openxmlformats.org/drawingml/2006/main" noGrp="1"/>
          </p:cNvSpPr>
          <p:nvPr/>
        </p:nvSpPr>
        <p:spPr>
          <a:xfrm xmlns:a="http://schemas.openxmlformats.org/drawingml/2006/main">
            <a:off x="7543800" y="3971925"/>
            <a:ext cx="4038600" cy="810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700" b="1">
                <a:solidFill>
                  <a:srgbClr val="111111"/>
                </a:solidFill>
                <a:latin typeface="Arial"/>
                <a:ea typeface="Arial"/>
                <a:cs typeface="Arial"/>
              </a:defRPr>
            </a:pPr>
            <a:r>
              <a:rPr sz="5700" b="1">
                <a:solidFill>
                  <a:srgbClr val="111111"/>
                </a:solidFill>
                <a:latin typeface="Arial"/>
                <a:ea typeface="Arial"/>
                <a:cs typeface="Arial"/>
              </a:rPr>
              <a:t>0.9866</a:t>
            </a:r>
          </a:p>
        </p:txBody>
      </p:sp>
      <p:sp>
        <p:nvSpPr>
          <p:cNvPr id="12" name="text-83">
            <a:extLst xmlns:a="http://schemas.openxmlformats.org/drawingml/2006/main">
              <a:ext uri="{FF2B5EF4-FFF2-40B4-BE49-F238E27FC236}">
                <a16:creationId xmlns:a16="http://schemas.microsoft.com/office/drawing/2014/main" id="{AEC001BC-4B2F-429B-9A88-1441BE14262B}"/>
              </a:ext>
            </a:extLst>
          </p:cNvPr>
          <p:cNvSpPr>
            <a:spLocks xmlns:a="http://schemas.openxmlformats.org/drawingml/2006/main" noGrp="1"/>
          </p:cNvSpPr>
          <p:nvPr/>
        </p:nvSpPr>
        <p:spPr>
          <a:xfrm xmlns:a="http://schemas.openxmlformats.org/drawingml/2006/main">
            <a:off x="7543800" y="4858893"/>
            <a:ext cx="403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565E68"/>
                </a:solidFill>
                <a:latin typeface="Arial"/>
                <a:ea typeface="Arial"/>
                <a:cs typeface="Arial"/>
              </a:defRPr>
            </a:pPr>
            <a:r>
              <a:rPr sz="1650" b="0">
                <a:solidFill>
                  <a:srgbClr val="565E68"/>
                </a:solidFill>
                <a:latin typeface="Arial"/>
                <a:ea typeface="Arial"/>
                <a:cs typeface="Arial"/>
              </a:rPr>
              <a:t>CPI = EV / AC</a:t>
            </a:r>
          </a:p>
        </p:txBody>
      </p:sp>
      <p:sp>
        <p:nvSpPr>
          <p:cNvPr id="13" name="text-84">
            <a:extLst xmlns:a="http://schemas.openxmlformats.org/drawingml/2006/main">
              <a:ext uri="{FF2B5EF4-FFF2-40B4-BE49-F238E27FC236}">
                <a16:creationId xmlns:a16="http://schemas.microsoft.com/office/drawing/2014/main" id="{1BE1FF2F-841F-4C22-B61B-A1CCDA46F5E0}"/>
              </a:ext>
            </a:extLst>
          </p:cNvPr>
          <p:cNvSpPr>
            <a:spLocks xmlns:a="http://schemas.openxmlformats.org/drawingml/2006/main" noGrp="1"/>
          </p:cNvSpPr>
          <p:nvPr/>
        </p:nvSpPr>
        <p:spPr>
          <a:xfrm xmlns:a="http://schemas.openxmlformats.org/drawingml/2006/main">
            <a:off x="609600" y="58102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65E68"/>
                </a:solidFill>
                <a:latin typeface="Arial"/>
                <a:ea typeface="Arial"/>
                <a:cs typeface="Arial"/>
              </a:defRPr>
            </a:pPr>
            <a:r>
              <a:rPr sz="1725" b="0">
                <a:solidFill>
                  <a:srgbClr val="565E68"/>
                </a:solidFill>
                <a:latin typeface="Arial"/>
                <a:ea typeface="Arial"/>
                <a:cs typeface="Arial"/>
              </a:rPr>
              <a:t>PV $923,042.33   ·   EV $927,476.92   ·   AC $940,042.33</a:t>
            </a:r>
          </a:p>
        </p:txBody>
      </p:sp>
    </p:spTree>
    <p:extLst>
      <p:ext uri="{BB962C8B-B14F-4D97-AF65-F5344CB8AC3E}">
        <p14:creationId xmlns:p14="http://schemas.microsoft.com/office/powerpoint/2010/main" val="5412537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85">
            <a:extLst xmlns:a="http://schemas.openxmlformats.org/drawingml/2006/main">
              <a:ext uri="{FF2B5EF4-FFF2-40B4-BE49-F238E27FC236}">
                <a16:creationId xmlns:a16="http://schemas.microsoft.com/office/drawing/2014/main" id="{34424C85-5D36-4B9D-BADC-CBD55DEF33D4}"/>
              </a:ext>
            </a:extLst>
          </p:cNvPr>
          <p:cNvSpPr>
            <a:spLocks xmlns:a="http://schemas.openxmlformats.org/drawingml/2006/main" noGrp="1"/>
          </p:cNvSpPr>
          <p:nvPr/>
        </p:nvSpPr>
        <p:spPr>
          <a:xfrm xmlns:a="http://schemas.openxmlformats.org/drawingml/2006/main">
            <a:off x="609600" y="3238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2563EB"/>
                </a:solidFill>
                <a:latin typeface="Arial"/>
                <a:ea typeface="Arial"/>
                <a:cs typeface="Arial"/>
              </a:defRPr>
            </a:pPr>
            <a:r>
              <a:rPr sz="1275" b="1">
                <a:solidFill>
                  <a:srgbClr val="2563EB"/>
                </a:solidFill>
                <a:latin typeface="Arial"/>
                <a:ea typeface="Arial"/>
                <a:cs typeface="Arial"/>
              </a:rPr>
              <a:t>PERFORMANCE INTERPRETATION</a:t>
            </a:r>
          </a:p>
        </p:txBody>
      </p:sp>
      <p:sp>
        <p:nvSpPr>
          <p:cNvPr id="2" name="slide-7-title">
            <a:extLst xmlns:a="http://schemas.openxmlformats.org/drawingml/2006/main">
              <a:ext uri="{FF2B5EF4-FFF2-40B4-BE49-F238E27FC236}">
                <a16:creationId xmlns:a16="http://schemas.microsoft.com/office/drawing/2014/main" id="{1BC753B0-A1F1-4749-90CC-9FAF8D5BEA69}"/>
              </a:ext>
            </a:extLst>
          </p:cNvPr>
          <p:cNvSpPr>
            <a:spLocks xmlns:a="http://schemas.openxmlformats.org/drawingml/2006/main" noGrp="1"/>
          </p:cNvSpPr>
          <p:nvPr/>
        </p:nvSpPr>
        <p:spPr>
          <a:xfrm xmlns:a="http://schemas.openxmlformats.org/drawingml/2006/main">
            <a:off x="609600" y="7905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111111"/>
                </a:solidFill>
                <a:latin typeface="Arial"/>
                <a:ea typeface="Arial"/>
                <a:cs typeface="Arial"/>
              </a:defRPr>
            </a:pPr>
            <a:r>
              <a:rPr sz="3600" b="1">
                <a:solidFill>
                  <a:srgbClr val="111111"/>
                </a:solidFill>
                <a:latin typeface="Arial"/>
                <a:ea typeface="Arial"/>
                <a:cs typeface="Arial"/>
              </a:rPr>
              <a:t>The SPI gain is entirely reporting LOE</a:t>
            </a:r>
          </a:p>
        </p:txBody>
      </p:sp>
      <p:sp>
        <p:nvSpPr>
          <p:cNvPr id="3" name="rule-86">
            <a:extLst xmlns:a="http://schemas.openxmlformats.org/drawingml/2006/main">
              <a:ext uri="{FF2B5EF4-FFF2-40B4-BE49-F238E27FC236}">
                <a16:creationId xmlns:a16="http://schemas.microsoft.com/office/drawing/2014/main" id="{22DAE9A9-D33F-4A4C-BD71-C8FFD8D8474A}"/>
              </a:ext>
            </a:extLst>
          </p:cNvPr>
          <p:cNvSpPr>
            <a:spLocks xmlns:a="http://schemas.openxmlformats.org/drawingml/2006/main" noGrp="1"/>
          </p:cNvSpPr>
          <p:nvPr/>
        </p:nvSpPr>
        <p:spPr>
          <a:xfrm xmlns:a="http://schemas.openxmlformats.org/drawingml/2006/main">
            <a:off x="609600" y="6362700"/>
            <a:ext cx="10972800" cy="0"/>
          </a:xfrm>
          <a:prstGeom xmlns:a="http://schemas.openxmlformats.org/drawingml/2006/main" prst="line">
            <a:avLst/>
          </a:prstGeom>
          <a:noFill xmlns:a="http://schemas.openxmlformats.org/drawingml/2006/main"/>
          <a:ln xmlns:a="http://schemas.openxmlformats.org/drawingml/2006/main" w="9525">
            <a:solidFill>
              <a:srgbClr val="D8DDE3"/>
            </a:solidFill>
            <a:prstDash val="solid"/>
          </a:ln>
        </p:spPr>
      </p:sp>
      <p:sp>
        <p:nvSpPr>
          <p:cNvPr id="4" name="text-87">
            <a:extLst xmlns:a="http://schemas.openxmlformats.org/drawingml/2006/main">
              <a:ext uri="{FF2B5EF4-FFF2-40B4-BE49-F238E27FC236}">
                <a16:creationId xmlns:a16="http://schemas.microsoft.com/office/drawing/2014/main" id="{24876E0E-20CB-41CA-B5F3-F94CB9BAA2ED}"/>
              </a:ext>
            </a:extLst>
          </p:cNvPr>
          <p:cNvSpPr>
            <a:spLocks xmlns:a="http://schemas.openxmlformats.org/drawingml/2006/main" noGrp="1"/>
          </p:cNvSpPr>
          <p:nvPr/>
        </p:nvSpPr>
        <p:spPr>
          <a:xfrm xmlns:a="http://schemas.openxmlformats.org/drawingml/2006/main">
            <a:off x="609600" y="6534150"/>
            <a:ext cx="685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0">
                <a:solidFill>
                  <a:srgbClr val="565E68"/>
                </a:solidFill>
                <a:latin typeface="Arial"/>
                <a:ea typeface="Arial"/>
                <a:cs typeface="Arial"/>
              </a:defRPr>
            </a:pPr>
            <a:r>
              <a:rPr sz="975" b="0">
                <a:solidFill>
                  <a:srgbClr val="565E68"/>
                </a:solidFill>
                <a:latin typeface="Arial"/>
                <a:ea typeface="Arial"/>
                <a:cs typeface="Arial"/>
              </a:rPr>
              <a:t>ALI BAYOUMI  /  PRIMAVERA P6 CASE STUDY</a:t>
            </a:r>
          </a:p>
        </p:txBody>
      </p:sp>
      <p:sp>
        <p:nvSpPr>
          <p:cNvPr id="5" name="text-88">
            <a:extLst xmlns:a="http://schemas.openxmlformats.org/drawingml/2006/main">
              <a:ext uri="{FF2B5EF4-FFF2-40B4-BE49-F238E27FC236}">
                <a16:creationId xmlns:a16="http://schemas.microsoft.com/office/drawing/2014/main" id="{1F0DCA49-C683-4A1F-B81B-4943547F72C9}"/>
              </a:ext>
            </a:extLst>
          </p:cNvPr>
          <p:cNvSpPr>
            <a:spLocks xmlns:a="http://schemas.openxmlformats.org/drawingml/2006/main" noGrp="1"/>
          </p:cNvSpPr>
          <p:nvPr/>
        </p:nvSpPr>
        <p:spPr>
          <a:xfrm xmlns:a="http://schemas.openxmlformats.org/drawingml/2006/main">
            <a:off x="8229600" y="653415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a:solidFill>
                  <a:srgbClr val="565E68"/>
                </a:solidFill>
                <a:latin typeface="Arial"/>
                <a:ea typeface="Arial"/>
                <a:cs typeface="Arial"/>
              </a:defRPr>
            </a:pPr>
            <a:r>
              <a:rPr sz="975" b="0">
                <a:solidFill>
                  <a:srgbClr val="565E68"/>
                </a:solidFill>
                <a:latin typeface="Arial"/>
                <a:ea typeface="Arial"/>
                <a:cs typeface="Arial"/>
              </a:rPr>
              <a:t>SIMULATED PROJECT</a:t>
            </a:r>
          </a:p>
        </p:txBody>
      </p:sp>
      <p:sp>
        <p:nvSpPr>
          <p:cNvPr id="6" name="text-89">
            <a:extLst xmlns:a="http://schemas.openxmlformats.org/drawingml/2006/main">
              <a:ext uri="{FF2B5EF4-FFF2-40B4-BE49-F238E27FC236}">
                <a16:creationId xmlns:a16="http://schemas.microsoft.com/office/drawing/2014/main" id="{2DE92B31-D341-4952-AD6F-7F741A702DAB}"/>
              </a:ext>
            </a:extLst>
          </p:cNvPr>
          <p:cNvSpPr>
            <a:spLocks xmlns:a="http://schemas.openxmlformats.org/drawingml/2006/main" noGrp="1"/>
          </p:cNvSpPr>
          <p:nvPr/>
        </p:nvSpPr>
        <p:spPr>
          <a:xfrm xmlns:a="http://schemas.openxmlformats.org/drawingml/2006/main">
            <a:off x="11144250" y="64960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111111"/>
                </a:solidFill>
                <a:latin typeface="Arial"/>
                <a:ea typeface="Arial"/>
                <a:cs typeface="Arial"/>
              </a:defRPr>
            </a:pPr>
            <a:r>
              <a:rPr sz="1350" b="0">
                <a:solidFill>
                  <a:srgbClr val="111111"/>
                </a:solidFill>
                <a:latin typeface="Arial"/>
                <a:ea typeface="Arial"/>
                <a:cs typeface="Arial"/>
              </a:rPr>
              <a:t>07</a:t>
            </a:r>
          </a:p>
        </p:txBody>
      </p:sp>
      <p:sp>
        <p:nvSpPr>
          <p:cNvPr id="7" name="text-90">
            <a:extLst xmlns:a="http://schemas.openxmlformats.org/drawingml/2006/main">
              <a:ext uri="{FF2B5EF4-FFF2-40B4-BE49-F238E27FC236}">
                <a16:creationId xmlns:a16="http://schemas.microsoft.com/office/drawing/2014/main" id="{8F9146A6-EF57-401C-8347-23BA725ECA64}"/>
              </a:ext>
            </a:extLst>
          </p:cNvPr>
          <p:cNvSpPr>
            <a:spLocks xmlns:a="http://schemas.openxmlformats.org/drawingml/2006/main" noGrp="1"/>
          </p:cNvSpPr>
          <p:nvPr/>
        </p:nvSpPr>
        <p:spPr>
          <a:xfrm xmlns:a="http://schemas.openxmlformats.org/drawingml/2006/main">
            <a:off x="609600" y="2238375"/>
            <a:ext cx="628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6300" b="1">
                <a:solidFill>
                  <a:srgbClr val="2563EB"/>
                </a:solidFill>
                <a:latin typeface="Arial"/>
                <a:ea typeface="Arial"/>
                <a:cs typeface="Arial"/>
              </a:defRPr>
            </a:pPr>
            <a:r>
              <a:rPr sz="6300" b="1">
                <a:solidFill>
                  <a:srgbClr val="2563EB"/>
                </a:solidFill>
                <a:latin typeface="Arial"/>
                <a:ea typeface="Arial"/>
                <a:cs typeface="Arial"/>
              </a:rPr>
              <a:t>+$4,434.59</a:t>
            </a:r>
          </a:p>
        </p:txBody>
      </p:sp>
      <p:sp>
        <p:nvSpPr>
          <p:cNvPr id="8" name="text-91">
            <a:extLst xmlns:a="http://schemas.openxmlformats.org/drawingml/2006/main">
              <a:ext uri="{FF2B5EF4-FFF2-40B4-BE49-F238E27FC236}">
                <a16:creationId xmlns:a16="http://schemas.microsoft.com/office/drawing/2014/main" id="{969F2A69-1EEB-467D-9A8B-CE49635A1F40}"/>
              </a:ext>
            </a:extLst>
          </p:cNvPr>
          <p:cNvSpPr>
            <a:spLocks xmlns:a="http://schemas.openxmlformats.org/drawingml/2006/main" noGrp="1"/>
          </p:cNvSpPr>
          <p:nvPr/>
        </p:nvSpPr>
        <p:spPr>
          <a:xfrm xmlns:a="http://schemas.openxmlformats.org/drawingml/2006/main">
            <a:off x="647700" y="340995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rial"/>
                <a:ea typeface="Arial"/>
                <a:cs typeface="Arial"/>
              </a:defRPr>
            </a:pPr>
            <a:r>
              <a:rPr sz="2400" b="1">
                <a:solidFill>
                  <a:srgbClr val="111111"/>
                </a:solidFill>
                <a:latin typeface="Arial"/>
                <a:ea typeface="Arial"/>
                <a:cs typeface="Arial"/>
              </a:rPr>
              <a:t>Schedule variance</a:t>
            </a:r>
          </a:p>
        </p:txBody>
      </p:sp>
      <p:sp>
        <p:nvSpPr>
          <p:cNvPr id="9" name="text-92">
            <a:extLst xmlns:a="http://schemas.openxmlformats.org/drawingml/2006/main">
              <a:ext uri="{FF2B5EF4-FFF2-40B4-BE49-F238E27FC236}">
                <a16:creationId xmlns:a16="http://schemas.microsoft.com/office/drawing/2014/main" id="{187BE280-0C2D-4E0D-8202-D1417F08F186}"/>
              </a:ext>
            </a:extLst>
          </p:cNvPr>
          <p:cNvSpPr>
            <a:spLocks xmlns:a="http://schemas.openxmlformats.org/drawingml/2006/main" noGrp="1"/>
          </p:cNvSpPr>
          <p:nvPr/>
        </p:nvSpPr>
        <p:spPr>
          <a:xfrm xmlns:a="http://schemas.openxmlformats.org/drawingml/2006/main">
            <a:off x="647700" y="4010025"/>
            <a:ext cx="59531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0">
                <a:solidFill>
                  <a:srgbClr val="565E68"/>
                </a:solidFill>
                <a:latin typeface="Arial"/>
                <a:ea typeface="Arial"/>
                <a:cs typeface="Arial"/>
              </a:defRPr>
            </a:pPr>
            <a:r>
              <a:rPr sz="2250" b="0">
                <a:solidFill>
                  <a:srgbClr val="565E68"/>
                </a:solidFill>
                <a:latin typeface="Arial"/>
                <a:ea typeface="Arial"/>
                <a:cs typeface="Arial"/>
              </a:rPr>
              <a:t>Produced by PM-038</a:t>
            </a:r>
          </a:p>
          <a:p xmlns:a="http://schemas.openxmlformats.org/drawingml/2006/main">
            <a:pPr algn="l">
              <a:buNone/>
              <a:defRPr sz="2250" b="0">
                <a:solidFill>
                  <a:srgbClr val="565E68"/>
                </a:solidFill>
                <a:latin typeface="Arial"/>
                <a:ea typeface="Arial"/>
                <a:cs typeface="Arial"/>
              </a:defRPr>
            </a:pPr>
            <a:r>
              <a:rPr sz="2250" b="0">
                <a:solidFill>
                  <a:srgbClr val="565E68"/>
                </a:solidFill>
                <a:latin typeface="Arial"/>
                <a:ea typeface="Arial"/>
                <a:cs typeface="Arial"/>
              </a:rPr>
              <a:t>Monthly Progress Reporting</a:t>
            </a:r>
          </a:p>
        </p:txBody>
      </p:sp>
      <p:graphicFrame>
        <p:nvGraphicFramePr>
          <p:cNvPr id="25" name=""/>
          <p:cNvGraphicFramePr/>
          <p:nvPr/>
        </p:nvGraphicFramePr>
        <p:xfrm>
          <a:off xmlns:a="http://schemas.openxmlformats.org/drawingml/2006/main" x="7219950" y="2209800"/>
          <a:ext xmlns:a="http://schemas.openxmlformats.org/drawingml/2006/main" cx="4362450" cy="2057400"/>
        </p:xfrm>
        <a:graphic xmlns:a="http://schemas.openxmlformats.org/drawingml/2006/main">
          <a:graphicData uri="http://schemas.openxmlformats.org/drawingml/2006/table">
            <a:tbl>
              <a:tblPr/>
              <a:tblGrid>
                <a:gridCol w="2333625"/>
                <a:gridCol w="2028825"/>
              </a:tblGrid>
              <a:tr h="685800">
                <a:tc>
                  <a:txBody>
                    <a:bodyPr lIns="133350" tIns="76200" rIns="114300" bIns="76200"/>
                    <a:lstStyle/>
                    <a:p>
                      <a:r>
                        <a:rPr sz="1725" b="1">
                          <a:solidFill>
                            <a:srgbClr val="FFFFFF"/>
                          </a:solidFill>
                          <a:latin typeface="Arial"/>
                          <a:ea typeface="Arial"/>
                          <a:cs typeface="Arial"/>
                        </a:rPr>
                        <a:t>Value in PM-038</a:t>
                      </a:r>
                    </a:p>
                  </a:txBody>
                  <a:tcPr marL="91440" marR="91440" marT="45720" marB="45720" anchor="ctr">
                    <a:solidFill>
                      <a:srgbClr val="111111"/>
                    </a:solidFill>
                  </a:tcPr>
                </a:tc>
                <a:tc>
                  <a:txBody>
                    <a:bodyPr lIns="133350" tIns="76200" rIns="114300" bIns="76200"/>
                    <a:lstStyle/>
                    <a:p>
                      <a:r>
                        <a:rPr sz="1725" b="1">
                          <a:solidFill>
                            <a:srgbClr val="FFFFFF"/>
                          </a:solidFill>
                          <a:latin typeface="Arial"/>
                          <a:ea typeface="Arial"/>
                          <a:cs typeface="Arial"/>
                        </a:rPr>
                        <a:t>USD</a:t>
                      </a:r>
                    </a:p>
                  </a:txBody>
                  <a:tcPr marL="91440" marR="91440" marT="45720" marB="45720" anchor="ctr">
                    <a:solidFill>
                      <a:srgbClr val="111111"/>
                    </a:solidFill>
                  </a:tcPr>
                </a:tc>
              </a:tr>
              <a:tr h="685800">
                <a:tc>
                  <a:txBody>
                    <a:bodyPr lIns="133350" tIns="76200" rIns="114300" bIns="76200"/>
                    <a:lstStyle/>
                    <a:p>
                      <a:r>
                        <a:rPr sz="1725" b="0">
                          <a:solidFill>
                            <a:srgbClr val="111111"/>
                          </a:solidFill>
                          <a:latin typeface="Arial"/>
                          <a:ea typeface="Arial"/>
                          <a:cs typeface="Arial"/>
                        </a:rPr>
                        <a:t>Planned value</a:t>
                      </a:r>
                    </a:p>
                  </a:txBody>
                  <a:tcPr marL="91440" marR="91440" marT="45720" marB="45720" anchor="ctr">
                    <a:solidFill>
                      <a:srgbClr val="F2F3F5"/>
                    </a:solidFill>
                  </a:tcPr>
                </a:tc>
                <a:tc>
                  <a:txBody>
                    <a:bodyPr lIns="133350" tIns="76200" rIns="114300" bIns="76200"/>
                    <a:lstStyle/>
                    <a:p>
                      <a:r>
                        <a:rPr sz="1725" b="0">
                          <a:solidFill>
                            <a:srgbClr val="111111"/>
                          </a:solidFill>
                          <a:latin typeface="Arial"/>
                          <a:ea typeface="Arial"/>
                          <a:cs typeface="Arial"/>
                        </a:rPr>
                        <a:t>96,452.33</a:t>
                      </a:r>
                    </a:p>
                  </a:txBody>
                  <a:tcPr marL="91440" marR="91440" marT="45720" marB="45720" anchor="ctr">
                    <a:solidFill>
                      <a:srgbClr val="F2F3F5"/>
                    </a:solidFill>
                  </a:tcPr>
                </a:tc>
              </a:tr>
              <a:tr h="685800">
                <a:tc>
                  <a:txBody>
                    <a:bodyPr lIns="133350" tIns="76200" rIns="114300" bIns="76200"/>
                    <a:lstStyle/>
                    <a:p>
                      <a:r>
                        <a:rPr sz="1725" b="0">
                          <a:solidFill>
                            <a:srgbClr val="111111"/>
                          </a:solidFill>
                          <a:latin typeface="Arial"/>
                          <a:ea typeface="Arial"/>
                          <a:cs typeface="Arial"/>
                        </a:rPr>
                        <a:t>Earned value</a:t>
                      </a:r>
                    </a:p>
                  </a:txBody>
                  <a:tcPr marL="91440" marR="91440" marT="45720" marB="45720" anchor="ctr">
                    <a:solidFill>
                      <a:srgbClr val="FFFFFF"/>
                    </a:solidFill>
                  </a:tcPr>
                </a:tc>
                <a:tc>
                  <a:txBody>
                    <a:bodyPr lIns="133350" tIns="76200" rIns="114300" bIns="76200"/>
                    <a:lstStyle/>
                    <a:p>
                      <a:r>
                        <a:rPr sz="1725" b="0">
                          <a:solidFill>
                            <a:srgbClr val="111111"/>
                          </a:solidFill>
                          <a:latin typeface="Arial"/>
                          <a:ea typeface="Arial"/>
                          <a:cs typeface="Arial"/>
                        </a:rPr>
                        <a:t>100,886.92</a:t>
                      </a:r>
                    </a:p>
                  </a:txBody>
                  <a:tcPr marL="91440" marR="91440" marT="45720" marB="45720" anchor="ctr">
                    <a:solidFill>
                      <a:srgbClr val="FFFFFF"/>
                    </a:solidFill>
                  </a:tcPr>
                </a:tc>
              </a:tr>
            </a:tbl>
          </a:graphicData>
        </a:graphic>
      </p:graphicFrame>
      <p:sp>
        <p:nvSpPr>
          <p:cNvPr id="11" name="text-93">
            <a:extLst xmlns:a="http://schemas.openxmlformats.org/drawingml/2006/main">
              <a:ext uri="{FF2B5EF4-FFF2-40B4-BE49-F238E27FC236}">
                <a16:creationId xmlns:a16="http://schemas.microsoft.com/office/drawing/2014/main" id="{7673D41B-51C4-44DA-9B2F-244E58F610BF}"/>
              </a:ext>
            </a:extLst>
          </p:cNvPr>
          <p:cNvSpPr>
            <a:spLocks xmlns:a="http://schemas.openxmlformats.org/drawingml/2006/main" noGrp="1"/>
          </p:cNvSpPr>
          <p:nvPr/>
        </p:nvSpPr>
        <p:spPr>
          <a:xfrm xmlns:a="http://schemas.openxmlformats.org/drawingml/2006/main">
            <a:off x="7219950" y="4619625"/>
            <a:ext cx="4362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rial"/>
                <a:ea typeface="Arial"/>
                <a:cs typeface="Arial"/>
              </a:defRPr>
            </a:pPr>
            <a:r>
              <a:rPr sz="2400" b="1">
                <a:solidFill>
                  <a:srgbClr val="111111"/>
                </a:solidFill>
                <a:latin typeface="Arial"/>
                <a:ea typeface="Arial"/>
                <a:cs typeface="Arial"/>
              </a:rPr>
              <a:t>Outside this LOE</a:t>
            </a:r>
          </a:p>
        </p:txBody>
      </p:sp>
      <p:sp>
        <p:nvSpPr>
          <p:cNvPr id="12" name="text-94">
            <a:extLst xmlns:a="http://schemas.openxmlformats.org/drawingml/2006/main">
              <a:ext uri="{FF2B5EF4-FFF2-40B4-BE49-F238E27FC236}">
                <a16:creationId xmlns:a16="http://schemas.microsoft.com/office/drawing/2014/main" id="{CA43A820-FF80-4FE2-A6F0-7370BC88D42F}"/>
              </a:ext>
            </a:extLst>
          </p:cNvPr>
          <p:cNvSpPr>
            <a:spLocks xmlns:a="http://schemas.openxmlformats.org/drawingml/2006/main" noGrp="1"/>
          </p:cNvSpPr>
          <p:nvPr/>
        </p:nvSpPr>
        <p:spPr>
          <a:xfrm xmlns:a="http://schemas.openxmlformats.org/drawingml/2006/main">
            <a:off x="7219950" y="5181600"/>
            <a:ext cx="4362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565E68"/>
                </a:solidFill>
                <a:latin typeface="Arial"/>
                <a:ea typeface="Arial"/>
                <a:cs typeface="Arial"/>
              </a:defRPr>
            </a:pPr>
            <a:r>
              <a:rPr sz="1875" b="0">
                <a:solidFill>
                  <a:srgbClr val="565E68"/>
                </a:solidFill>
                <a:latin typeface="Arial"/>
                <a:ea typeface="Arial"/>
                <a:cs typeface="Arial"/>
              </a:rPr>
              <a:t>PV = EV = $826,590.00</a:t>
            </a:r>
          </a:p>
        </p:txBody>
      </p:sp>
      <p:sp>
        <p:nvSpPr>
          <p:cNvPr id="13" name="text-95">
            <a:extLst xmlns:a="http://schemas.openxmlformats.org/drawingml/2006/main">
              <a:ext uri="{FF2B5EF4-FFF2-40B4-BE49-F238E27FC236}">
                <a16:creationId xmlns:a16="http://schemas.microsoft.com/office/drawing/2014/main" id="{C168625B-81B0-461B-8314-7CC56C978A82}"/>
              </a:ext>
            </a:extLst>
          </p:cNvPr>
          <p:cNvSpPr>
            <a:spLocks xmlns:a="http://schemas.openxmlformats.org/drawingml/2006/main" noGrp="1"/>
          </p:cNvSpPr>
          <p:nvPr/>
        </p:nvSpPr>
        <p:spPr>
          <a:xfrm xmlns:a="http://schemas.openxmlformats.org/drawingml/2006/main">
            <a:off x="609600" y="59436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565E68"/>
                </a:solidFill>
                <a:latin typeface="Arial"/>
                <a:ea typeface="Arial"/>
                <a:cs typeface="Arial"/>
              </a:defRPr>
            </a:pPr>
            <a:r>
              <a:rPr sz="1650" b="0">
                <a:solidFill>
                  <a:srgbClr val="565E68"/>
                </a:solidFill>
                <a:latin typeface="Arial"/>
                <a:ea typeface="Arial"/>
                <a:cs typeface="Arial"/>
              </a:rPr>
              <a:t>Positive SPI alone does not establish construction progress ahead of plan.</a:t>
            </a:r>
          </a:p>
        </p:txBody>
      </p:sp>
    </p:spTree>
    <p:extLst>
      <p:ext uri="{BB962C8B-B14F-4D97-AF65-F5344CB8AC3E}">
        <p14:creationId xmlns:p14="http://schemas.microsoft.com/office/powerpoint/2010/main" val="18278007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96">
            <a:extLst xmlns:a="http://schemas.openxmlformats.org/drawingml/2006/main">
              <a:ext uri="{FF2B5EF4-FFF2-40B4-BE49-F238E27FC236}">
                <a16:creationId xmlns:a16="http://schemas.microsoft.com/office/drawing/2014/main" id="{0EF0A200-3481-458C-BB98-2917039CC11D}"/>
              </a:ext>
            </a:extLst>
          </p:cNvPr>
          <p:cNvSpPr>
            <a:spLocks xmlns:a="http://schemas.openxmlformats.org/drawingml/2006/main" noGrp="1"/>
          </p:cNvSpPr>
          <p:nvPr/>
        </p:nvSpPr>
        <p:spPr>
          <a:xfrm xmlns:a="http://schemas.openxmlformats.org/drawingml/2006/main">
            <a:off x="609600" y="3238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2563EB"/>
                </a:solidFill>
                <a:latin typeface="Arial"/>
                <a:ea typeface="Arial"/>
                <a:cs typeface="Arial"/>
              </a:defRPr>
            </a:pPr>
            <a:r>
              <a:rPr sz="1275" b="1">
                <a:solidFill>
                  <a:srgbClr val="2563EB"/>
                </a:solidFill>
                <a:latin typeface="Arial"/>
                <a:ea typeface="Arial"/>
                <a:cs typeface="Arial"/>
              </a:rPr>
              <a:t>COST CONTROL</a:t>
            </a:r>
          </a:p>
        </p:txBody>
      </p:sp>
      <p:sp>
        <p:nvSpPr>
          <p:cNvPr id="2" name="slide-8-title">
            <a:extLst xmlns:a="http://schemas.openxmlformats.org/drawingml/2006/main">
              <a:ext uri="{FF2B5EF4-FFF2-40B4-BE49-F238E27FC236}">
                <a16:creationId xmlns:a16="http://schemas.microsoft.com/office/drawing/2014/main" id="{F62DCA98-DBDA-4BF9-95D0-0FC6864B985C}"/>
              </a:ext>
            </a:extLst>
          </p:cNvPr>
          <p:cNvSpPr>
            <a:spLocks xmlns:a="http://schemas.openxmlformats.org/drawingml/2006/main" noGrp="1"/>
          </p:cNvSpPr>
          <p:nvPr/>
        </p:nvSpPr>
        <p:spPr>
          <a:xfrm xmlns:a="http://schemas.openxmlformats.org/drawingml/2006/main">
            <a:off x="609600" y="7905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111111"/>
                </a:solidFill>
                <a:latin typeface="Arial"/>
                <a:ea typeface="Arial"/>
                <a:cs typeface="Arial"/>
              </a:defRPr>
            </a:pPr>
            <a:r>
              <a:rPr sz="3600" b="1">
                <a:solidFill>
                  <a:srgbClr val="111111"/>
                </a:solidFill>
                <a:latin typeface="Arial"/>
                <a:ea typeface="Arial"/>
                <a:cs typeface="Arial"/>
              </a:rPr>
              <a:t>Two completed activities explain the overrun</a:t>
            </a:r>
          </a:p>
        </p:txBody>
      </p:sp>
      <p:sp>
        <p:nvSpPr>
          <p:cNvPr id="3" name="rule-97">
            <a:extLst xmlns:a="http://schemas.openxmlformats.org/drawingml/2006/main">
              <a:ext uri="{FF2B5EF4-FFF2-40B4-BE49-F238E27FC236}">
                <a16:creationId xmlns:a16="http://schemas.microsoft.com/office/drawing/2014/main" id="{EA493CC6-4954-4F27-80ED-0BC9C2AA775A}"/>
              </a:ext>
            </a:extLst>
          </p:cNvPr>
          <p:cNvSpPr>
            <a:spLocks xmlns:a="http://schemas.openxmlformats.org/drawingml/2006/main" noGrp="1"/>
          </p:cNvSpPr>
          <p:nvPr/>
        </p:nvSpPr>
        <p:spPr>
          <a:xfrm xmlns:a="http://schemas.openxmlformats.org/drawingml/2006/main">
            <a:off x="609600" y="6362700"/>
            <a:ext cx="10972800" cy="0"/>
          </a:xfrm>
          <a:prstGeom xmlns:a="http://schemas.openxmlformats.org/drawingml/2006/main" prst="line">
            <a:avLst/>
          </a:prstGeom>
          <a:noFill xmlns:a="http://schemas.openxmlformats.org/drawingml/2006/main"/>
          <a:ln xmlns:a="http://schemas.openxmlformats.org/drawingml/2006/main" w="9525">
            <a:solidFill>
              <a:srgbClr val="D8DDE3"/>
            </a:solidFill>
            <a:prstDash val="solid"/>
          </a:ln>
        </p:spPr>
      </p:sp>
      <p:sp>
        <p:nvSpPr>
          <p:cNvPr id="4" name="text-98">
            <a:extLst xmlns:a="http://schemas.openxmlformats.org/drawingml/2006/main">
              <a:ext uri="{FF2B5EF4-FFF2-40B4-BE49-F238E27FC236}">
                <a16:creationId xmlns:a16="http://schemas.microsoft.com/office/drawing/2014/main" id="{3A10F859-8AAD-4769-8B02-99675DC7540D}"/>
              </a:ext>
            </a:extLst>
          </p:cNvPr>
          <p:cNvSpPr>
            <a:spLocks xmlns:a="http://schemas.openxmlformats.org/drawingml/2006/main" noGrp="1"/>
          </p:cNvSpPr>
          <p:nvPr/>
        </p:nvSpPr>
        <p:spPr>
          <a:xfrm xmlns:a="http://schemas.openxmlformats.org/drawingml/2006/main">
            <a:off x="609600" y="6534150"/>
            <a:ext cx="685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0">
                <a:solidFill>
                  <a:srgbClr val="565E68"/>
                </a:solidFill>
                <a:latin typeface="Arial"/>
                <a:ea typeface="Arial"/>
                <a:cs typeface="Arial"/>
              </a:defRPr>
            </a:pPr>
            <a:r>
              <a:rPr sz="975" b="0">
                <a:solidFill>
                  <a:srgbClr val="565E68"/>
                </a:solidFill>
                <a:latin typeface="Arial"/>
                <a:ea typeface="Arial"/>
                <a:cs typeface="Arial"/>
              </a:rPr>
              <a:t>ALI BAYOUMI  /  PRIMAVERA P6 CASE STUDY</a:t>
            </a:r>
          </a:p>
        </p:txBody>
      </p:sp>
      <p:sp>
        <p:nvSpPr>
          <p:cNvPr id="5" name="text-99">
            <a:extLst xmlns:a="http://schemas.openxmlformats.org/drawingml/2006/main">
              <a:ext uri="{FF2B5EF4-FFF2-40B4-BE49-F238E27FC236}">
                <a16:creationId xmlns:a16="http://schemas.microsoft.com/office/drawing/2014/main" id="{690CAD89-7B1B-4AAD-AE10-FFA8D434AB95}"/>
              </a:ext>
            </a:extLst>
          </p:cNvPr>
          <p:cNvSpPr>
            <a:spLocks xmlns:a="http://schemas.openxmlformats.org/drawingml/2006/main" noGrp="1"/>
          </p:cNvSpPr>
          <p:nvPr/>
        </p:nvSpPr>
        <p:spPr>
          <a:xfrm xmlns:a="http://schemas.openxmlformats.org/drawingml/2006/main">
            <a:off x="8229600" y="653415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a:solidFill>
                  <a:srgbClr val="565E68"/>
                </a:solidFill>
                <a:latin typeface="Arial"/>
                <a:ea typeface="Arial"/>
                <a:cs typeface="Arial"/>
              </a:defRPr>
            </a:pPr>
            <a:r>
              <a:rPr sz="975" b="0">
                <a:solidFill>
                  <a:srgbClr val="565E68"/>
                </a:solidFill>
                <a:latin typeface="Arial"/>
                <a:ea typeface="Arial"/>
                <a:cs typeface="Arial"/>
              </a:rPr>
              <a:t>SIMULATED PROJECT</a:t>
            </a:r>
          </a:p>
        </p:txBody>
      </p:sp>
      <p:sp>
        <p:nvSpPr>
          <p:cNvPr id="6" name="text-100">
            <a:extLst xmlns:a="http://schemas.openxmlformats.org/drawingml/2006/main">
              <a:ext uri="{FF2B5EF4-FFF2-40B4-BE49-F238E27FC236}">
                <a16:creationId xmlns:a16="http://schemas.microsoft.com/office/drawing/2014/main" id="{A87EABE7-8063-472C-A998-8A859795CA32}"/>
              </a:ext>
            </a:extLst>
          </p:cNvPr>
          <p:cNvSpPr>
            <a:spLocks xmlns:a="http://schemas.openxmlformats.org/drawingml/2006/main" noGrp="1"/>
          </p:cNvSpPr>
          <p:nvPr/>
        </p:nvSpPr>
        <p:spPr>
          <a:xfrm xmlns:a="http://schemas.openxmlformats.org/drawingml/2006/main">
            <a:off x="11144250" y="64960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111111"/>
                </a:solidFill>
                <a:latin typeface="Arial"/>
                <a:ea typeface="Arial"/>
                <a:cs typeface="Arial"/>
              </a:defRPr>
            </a:pPr>
            <a:r>
              <a:rPr sz="1350" b="0">
                <a:solidFill>
                  <a:srgbClr val="111111"/>
                </a:solidFill>
                <a:latin typeface="Arial"/>
                <a:ea typeface="Arial"/>
                <a:cs typeface="Arial"/>
              </a:rPr>
              <a:t>08</a:t>
            </a:r>
          </a:p>
        </p:txBody>
      </p:sp>
      <p:sp>
        <p:nvSpPr>
          <p:cNvPr id="7" name="text-101">
            <a:extLst xmlns:a="http://schemas.openxmlformats.org/drawingml/2006/main">
              <a:ext uri="{FF2B5EF4-FFF2-40B4-BE49-F238E27FC236}">
                <a16:creationId xmlns:a16="http://schemas.microsoft.com/office/drawing/2014/main" id="{93064209-D76C-4D20-8EE6-BB2CEF3CD66C}"/>
              </a:ext>
            </a:extLst>
          </p:cNvPr>
          <p:cNvSpPr>
            <a:spLocks xmlns:a="http://schemas.openxmlformats.org/drawingml/2006/main" noGrp="1"/>
          </p:cNvSpPr>
          <p:nvPr/>
        </p:nvSpPr>
        <p:spPr>
          <a:xfrm xmlns:a="http://schemas.openxmlformats.org/drawingml/2006/main">
            <a:off x="609600" y="1781175"/>
            <a:ext cx="657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565E68"/>
                </a:solidFill>
                <a:latin typeface="Arial"/>
                <a:ea typeface="Arial"/>
                <a:cs typeface="Arial"/>
              </a:defRPr>
            </a:pPr>
            <a:r>
              <a:rPr sz="1650" b="0">
                <a:solidFill>
                  <a:srgbClr val="565E68"/>
                </a:solidFill>
                <a:latin typeface="Arial"/>
                <a:ea typeface="Arial"/>
                <a:cs typeface="Arial"/>
              </a:rPr>
              <a:t>Completed foundation work · USD</a:t>
            </a:r>
          </a:p>
        </p:txBody>
      </p:sp>
      <p:graphicFrame>
        <p:nvGraphicFramePr>
          <p:cNvPr id="24" name="Chart"/>
          <p:cNvGraphicFramePr/>
          <p:nvPr/>
        </p:nvGraphicFramePr>
        <p:xfrm>
          <a:off xmlns:a="http://schemas.openxmlformats.org/drawingml/2006/main" x="609600" y="2209800"/>
          <a:ext xmlns:a="http://schemas.openxmlformats.org/drawingml/2006/main" cx="6343650" cy="3476625"/>
        </p:xfrm>
        <a:graphic xmlns:a="http://schemas.openxmlformats.org/drawingml/2006/main">
          <a:graphicData uri="http://schemas.openxmlformats.org/drawingml/2006/chart">
            <c:chart xmlns:r="http://schemas.openxmlformats.org/officeDocument/2006/relationships" xmlns:c="http://schemas.openxmlformats.org/drawingml/2006/chart" r:id="Re54d8823efc242cb"/>
          </a:graphicData>
        </a:graphic>
      </p:graphicFrame>
      <p:sp>
        <p:nvSpPr>
          <p:cNvPr id="9" name="text-102">
            <a:extLst xmlns:a="http://schemas.openxmlformats.org/drawingml/2006/main">
              <a:ext uri="{FF2B5EF4-FFF2-40B4-BE49-F238E27FC236}">
                <a16:creationId xmlns:a16="http://schemas.microsoft.com/office/drawing/2014/main" id="{5D5964DB-B0DC-4E81-8475-92F7776052DA}"/>
              </a:ext>
            </a:extLst>
          </p:cNvPr>
          <p:cNvSpPr>
            <a:spLocks xmlns:a="http://schemas.openxmlformats.org/drawingml/2006/main" noGrp="1"/>
          </p:cNvSpPr>
          <p:nvPr/>
        </p:nvSpPr>
        <p:spPr>
          <a:xfrm xmlns:a="http://schemas.openxmlformats.org/drawingml/2006/main">
            <a:off x="7543800" y="2143125"/>
            <a:ext cx="4038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625" b="1">
                <a:solidFill>
                  <a:srgbClr val="111111"/>
                </a:solidFill>
                <a:latin typeface="Arial"/>
                <a:ea typeface="Arial"/>
                <a:cs typeface="Arial"/>
              </a:defRPr>
            </a:pPr>
            <a:r>
              <a:rPr sz="5625" b="1">
                <a:solidFill>
                  <a:srgbClr val="111111"/>
                </a:solidFill>
                <a:latin typeface="Arial"/>
                <a:ea typeface="Arial"/>
                <a:cs typeface="Arial"/>
              </a:rPr>
              <a:t>$17,000</a:t>
            </a:r>
          </a:p>
        </p:txBody>
      </p:sp>
      <p:sp>
        <p:nvSpPr>
          <p:cNvPr id="10" name="text-103">
            <a:extLst xmlns:a="http://schemas.openxmlformats.org/drawingml/2006/main">
              <a:ext uri="{FF2B5EF4-FFF2-40B4-BE49-F238E27FC236}">
                <a16:creationId xmlns:a16="http://schemas.microsoft.com/office/drawing/2014/main" id="{2B83CDBE-E6F2-4D57-B72B-F307C13E86E8}"/>
              </a:ext>
            </a:extLst>
          </p:cNvPr>
          <p:cNvSpPr>
            <a:spLocks xmlns:a="http://schemas.openxmlformats.org/drawingml/2006/main" noGrp="1"/>
          </p:cNvSpPr>
          <p:nvPr/>
        </p:nvSpPr>
        <p:spPr>
          <a:xfrm xmlns:a="http://schemas.openxmlformats.org/drawingml/2006/main">
            <a:off x="7543800" y="3019425"/>
            <a:ext cx="403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565E68"/>
                </a:solidFill>
                <a:latin typeface="Arial"/>
                <a:ea typeface="Arial"/>
                <a:cs typeface="Arial"/>
              </a:defRPr>
            </a:pPr>
            <a:r>
              <a:rPr sz="1650" b="0">
                <a:solidFill>
                  <a:srgbClr val="565E68"/>
                </a:solidFill>
                <a:latin typeface="Arial"/>
                <a:ea typeface="Arial"/>
                <a:cs typeface="Arial"/>
              </a:rPr>
              <a:t>overrun retained in EAC</a:t>
            </a:r>
          </a:p>
        </p:txBody>
      </p:sp>
      <p:sp>
        <p:nvSpPr>
          <p:cNvPr id="11" name="text-104">
            <a:extLst xmlns:a="http://schemas.openxmlformats.org/drawingml/2006/main">
              <a:ext uri="{FF2B5EF4-FFF2-40B4-BE49-F238E27FC236}">
                <a16:creationId xmlns:a16="http://schemas.microsoft.com/office/drawing/2014/main" id="{521BAA34-2F0A-4E1D-A6BD-5489F7D43B8B}"/>
              </a:ext>
            </a:extLst>
          </p:cNvPr>
          <p:cNvSpPr>
            <a:spLocks xmlns:a="http://schemas.openxmlformats.org/drawingml/2006/main" noGrp="1"/>
          </p:cNvSpPr>
          <p:nvPr/>
        </p:nvSpPr>
        <p:spPr>
          <a:xfrm xmlns:a="http://schemas.openxmlformats.org/drawingml/2006/main">
            <a:off x="7543800" y="3552825"/>
            <a:ext cx="4038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a:solidFill>
                  <a:srgbClr val="565E68"/>
                </a:solidFill>
                <a:latin typeface="Arial"/>
                <a:ea typeface="Arial"/>
                <a:cs typeface="Arial"/>
              </a:defRPr>
            </a:pPr>
            <a:r>
              <a:rPr sz="2100" b="0">
                <a:solidFill>
                  <a:srgbClr val="565E68"/>
                </a:solidFill>
                <a:latin typeface="Arial"/>
                <a:ea typeface="Arial"/>
                <a:cs typeface="Arial"/>
              </a:rPr>
              <a:t>CIV-013  +$7,500</a:t>
            </a:r>
          </a:p>
          <a:p xmlns:a="http://schemas.openxmlformats.org/drawingml/2006/main">
            <a:pPr algn="l">
              <a:buNone/>
              <a:defRPr sz="2100" b="0">
                <a:solidFill>
                  <a:srgbClr val="565E68"/>
                </a:solidFill>
                <a:latin typeface="Arial"/>
                <a:ea typeface="Arial"/>
                <a:cs typeface="Arial"/>
              </a:defRPr>
            </a:pPr>
            <a:r>
              <a:rPr sz="2100" b="0">
                <a:solidFill>
                  <a:srgbClr val="565E68"/>
                </a:solidFill>
                <a:latin typeface="Arial"/>
                <a:ea typeface="Arial"/>
                <a:cs typeface="Arial"/>
              </a:rPr>
              <a:t>CIV-017  +$9,500</a:t>
            </a:r>
          </a:p>
        </p:txBody>
      </p:sp>
      <p:sp>
        <p:nvSpPr>
          <p:cNvPr id="12" name="text-105">
            <a:extLst xmlns:a="http://schemas.openxmlformats.org/drawingml/2006/main">
              <a:ext uri="{FF2B5EF4-FFF2-40B4-BE49-F238E27FC236}">
                <a16:creationId xmlns:a16="http://schemas.microsoft.com/office/drawing/2014/main" id="{3C59AA7B-65B6-4EC3-9CCE-1DFC496FE678}"/>
              </a:ext>
            </a:extLst>
          </p:cNvPr>
          <p:cNvSpPr>
            <a:spLocks xmlns:a="http://schemas.openxmlformats.org/drawingml/2006/main" noGrp="1"/>
          </p:cNvSpPr>
          <p:nvPr/>
        </p:nvSpPr>
        <p:spPr>
          <a:xfrm xmlns:a="http://schemas.openxmlformats.org/drawingml/2006/main">
            <a:off x="7543800" y="4933950"/>
            <a:ext cx="4038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rial"/>
                <a:ea typeface="Arial"/>
                <a:cs typeface="Arial"/>
              </a:defRPr>
            </a:pPr>
            <a:r>
              <a:rPr sz="2400" b="1">
                <a:solidFill>
                  <a:srgbClr val="111111"/>
                </a:solidFill>
                <a:latin typeface="Arial"/>
                <a:ea typeface="Arial"/>
                <a:cs typeface="Arial"/>
              </a:rPr>
              <a:t>EAC  $5,268,281</a:t>
            </a:r>
          </a:p>
        </p:txBody>
      </p:sp>
      <p:sp>
        <p:nvSpPr>
          <p:cNvPr id="13" name="text-106">
            <a:extLst xmlns:a="http://schemas.openxmlformats.org/drawingml/2006/main">
              <a:ext uri="{FF2B5EF4-FFF2-40B4-BE49-F238E27FC236}">
                <a16:creationId xmlns:a16="http://schemas.microsoft.com/office/drawing/2014/main" id="{39160D62-E04B-48B7-B46F-D153C68F6A82}"/>
              </a:ext>
            </a:extLst>
          </p:cNvPr>
          <p:cNvSpPr>
            <a:spLocks xmlns:a="http://schemas.openxmlformats.org/drawingml/2006/main" noGrp="1"/>
          </p:cNvSpPr>
          <p:nvPr/>
        </p:nvSpPr>
        <p:spPr>
          <a:xfrm xmlns:a="http://schemas.openxmlformats.org/drawingml/2006/main">
            <a:off x="7543800" y="5448300"/>
            <a:ext cx="403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565E68"/>
                </a:solidFill>
                <a:latin typeface="Arial"/>
                <a:ea typeface="Arial"/>
                <a:cs typeface="Arial"/>
              </a:defRPr>
            </a:pPr>
            <a:r>
              <a:rPr sz="1650" b="0">
                <a:solidFill>
                  <a:srgbClr val="565E68"/>
                </a:solidFill>
                <a:latin typeface="Arial"/>
                <a:ea typeface="Arial"/>
                <a:cs typeface="Arial"/>
              </a:rPr>
              <a:t>BAC  $5,251,281</a:t>
            </a:r>
          </a:p>
        </p:txBody>
      </p:sp>
      <p:sp>
        <p:nvSpPr>
          <p:cNvPr id="14" name="text-107">
            <a:extLst xmlns:a="http://schemas.openxmlformats.org/drawingml/2006/main">
              <a:ext uri="{FF2B5EF4-FFF2-40B4-BE49-F238E27FC236}">
                <a16:creationId xmlns:a16="http://schemas.microsoft.com/office/drawing/2014/main" id="{46669E88-D48B-488E-97BA-0B0D3DF12AE9}"/>
              </a:ext>
            </a:extLst>
          </p:cNvPr>
          <p:cNvSpPr>
            <a:spLocks xmlns:a="http://schemas.openxmlformats.org/drawingml/2006/main" noGrp="1"/>
          </p:cNvSpPr>
          <p:nvPr/>
        </p:nvSpPr>
        <p:spPr>
          <a:xfrm xmlns:a="http://schemas.openxmlformats.org/drawingml/2006/main">
            <a:off x="609600" y="58102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565E68"/>
                </a:solidFill>
                <a:latin typeface="Arial"/>
                <a:ea typeface="Arial"/>
                <a:cs typeface="Arial"/>
              </a:defRPr>
            </a:pPr>
            <a:r>
              <a:rPr sz="1650" b="0">
                <a:solidFill>
                  <a:srgbClr val="565E68"/>
                </a:solidFill>
                <a:latin typeface="Arial"/>
                <a:ea typeface="Arial"/>
                <a:cs typeface="Arial"/>
              </a:rPr>
              <a:t>Configured forecast: EAC = actual cost + remaining cost. Both completed activities have zero ETC.</a:t>
            </a:r>
          </a:p>
        </p:txBody>
      </p:sp>
    </p:spTree>
    <p:extLst>
      <p:ext uri="{BB962C8B-B14F-4D97-AF65-F5344CB8AC3E}">
        <p14:creationId xmlns:p14="http://schemas.microsoft.com/office/powerpoint/2010/main" val="59481787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ext-108">
            <a:extLst xmlns:a="http://schemas.openxmlformats.org/drawingml/2006/main">
              <a:ext uri="{FF2B5EF4-FFF2-40B4-BE49-F238E27FC236}">
                <a16:creationId xmlns:a16="http://schemas.microsoft.com/office/drawing/2014/main" id="{4DB71BCE-E575-4788-807B-BFEF28674418}"/>
              </a:ext>
            </a:extLst>
          </p:cNvPr>
          <p:cNvSpPr>
            <a:spLocks xmlns:a="http://schemas.openxmlformats.org/drawingml/2006/main" noGrp="1"/>
          </p:cNvSpPr>
          <p:nvPr/>
        </p:nvSpPr>
        <p:spPr>
          <a:xfrm xmlns:a="http://schemas.openxmlformats.org/drawingml/2006/main">
            <a:off x="609600" y="3238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2563EB"/>
                </a:solidFill>
                <a:latin typeface="Arial"/>
                <a:ea typeface="Arial"/>
                <a:cs typeface="Arial"/>
              </a:defRPr>
            </a:pPr>
            <a:r>
              <a:rPr sz="1275" b="1">
                <a:solidFill>
                  <a:srgbClr val="2563EB"/>
                </a:solidFill>
                <a:latin typeface="Arial"/>
                <a:ea typeface="Arial"/>
                <a:cs typeface="Arial"/>
              </a:rPr>
              <a:t>STRUCTURAL SEQUENCE</a:t>
            </a:r>
          </a:p>
        </p:txBody>
      </p:sp>
      <p:sp>
        <p:nvSpPr>
          <p:cNvPr id="2" name="slide-9-title">
            <a:extLst xmlns:a="http://schemas.openxmlformats.org/drawingml/2006/main">
              <a:ext uri="{FF2B5EF4-FFF2-40B4-BE49-F238E27FC236}">
                <a16:creationId xmlns:a16="http://schemas.microsoft.com/office/drawing/2014/main" id="{0A1B87BF-F7CD-4086-A61B-917CC81C2595}"/>
              </a:ext>
            </a:extLst>
          </p:cNvPr>
          <p:cNvSpPr>
            <a:spLocks xmlns:a="http://schemas.openxmlformats.org/drawingml/2006/main" noGrp="1"/>
          </p:cNvSpPr>
          <p:nvPr/>
        </p:nvSpPr>
        <p:spPr>
          <a:xfrm xmlns:a="http://schemas.openxmlformats.org/drawingml/2006/main">
            <a:off x="609600" y="7905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111111"/>
                </a:solidFill>
                <a:latin typeface="Arial"/>
                <a:ea typeface="Arial"/>
                <a:cs typeface="Arial"/>
              </a:defRPr>
            </a:pPr>
            <a:r>
              <a:rPr sz="3600" b="1">
                <a:solidFill>
                  <a:srgbClr val="111111"/>
                </a:solidFill>
                <a:latin typeface="Arial"/>
                <a:ea typeface="Arial"/>
                <a:cs typeface="Arial"/>
              </a:rPr>
              <a:t>Protect the pour, then the full handover</a:t>
            </a:r>
          </a:p>
        </p:txBody>
      </p:sp>
      <p:sp>
        <p:nvSpPr>
          <p:cNvPr id="3" name="rule-109">
            <a:extLst xmlns:a="http://schemas.openxmlformats.org/drawingml/2006/main">
              <a:ext uri="{FF2B5EF4-FFF2-40B4-BE49-F238E27FC236}">
                <a16:creationId xmlns:a16="http://schemas.microsoft.com/office/drawing/2014/main" id="{B39E7144-7BF1-4152-BBDB-EA377FA90513}"/>
              </a:ext>
            </a:extLst>
          </p:cNvPr>
          <p:cNvSpPr>
            <a:spLocks xmlns:a="http://schemas.openxmlformats.org/drawingml/2006/main" noGrp="1"/>
          </p:cNvSpPr>
          <p:nvPr/>
        </p:nvSpPr>
        <p:spPr>
          <a:xfrm xmlns:a="http://schemas.openxmlformats.org/drawingml/2006/main">
            <a:off x="609600" y="6362700"/>
            <a:ext cx="10972800" cy="0"/>
          </a:xfrm>
          <a:prstGeom xmlns:a="http://schemas.openxmlformats.org/drawingml/2006/main" prst="line">
            <a:avLst/>
          </a:prstGeom>
          <a:noFill xmlns:a="http://schemas.openxmlformats.org/drawingml/2006/main"/>
          <a:ln xmlns:a="http://schemas.openxmlformats.org/drawingml/2006/main" w="9525">
            <a:solidFill>
              <a:srgbClr val="D8DDE3"/>
            </a:solidFill>
            <a:prstDash val="solid"/>
          </a:ln>
        </p:spPr>
      </p:sp>
      <p:sp>
        <p:nvSpPr>
          <p:cNvPr id="4" name="text-110">
            <a:extLst xmlns:a="http://schemas.openxmlformats.org/drawingml/2006/main">
              <a:ext uri="{FF2B5EF4-FFF2-40B4-BE49-F238E27FC236}">
                <a16:creationId xmlns:a16="http://schemas.microsoft.com/office/drawing/2014/main" id="{2C214BA5-A918-4580-8B54-639C1846E7D4}"/>
              </a:ext>
            </a:extLst>
          </p:cNvPr>
          <p:cNvSpPr>
            <a:spLocks xmlns:a="http://schemas.openxmlformats.org/drawingml/2006/main" noGrp="1"/>
          </p:cNvSpPr>
          <p:nvPr/>
        </p:nvSpPr>
        <p:spPr>
          <a:xfrm xmlns:a="http://schemas.openxmlformats.org/drawingml/2006/main">
            <a:off x="609600" y="6534150"/>
            <a:ext cx="685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0">
                <a:solidFill>
                  <a:srgbClr val="565E68"/>
                </a:solidFill>
                <a:latin typeface="Arial"/>
                <a:ea typeface="Arial"/>
                <a:cs typeface="Arial"/>
              </a:defRPr>
            </a:pPr>
            <a:r>
              <a:rPr sz="975" b="0">
                <a:solidFill>
                  <a:srgbClr val="565E68"/>
                </a:solidFill>
                <a:latin typeface="Arial"/>
                <a:ea typeface="Arial"/>
                <a:cs typeface="Arial"/>
              </a:rPr>
              <a:t>ALI BAYOUMI  /  PRIMAVERA P6 CASE STUDY</a:t>
            </a:r>
          </a:p>
        </p:txBody>
      </p:sp>
      <p:sp>
        <p:nvSpPr>
          <p:cNvPr id="5" name="text-111">
            <a:extLst xmlns:a="http://schemas.openxmlformats.org/drawingml/2006/main">
              <a:ext uri="{FF2B5EF4-FFF2-40B4-BE49-F238E27FC236}">
                <a16:creationId xmlns:a16="http://schemas.microsoft.com/office/drawing/2014/main" id="{91D4549A-D99C-41C6-876D-E2CA1A9CDD92}"/>
              </a:ext>
            </a:extLst>
          </p:cNvPr>
          <p:cNvSpPr>
            <a:spLocks xmlns:a="http://schemas.openxmlformats.org/drawingml/2006/main" noGrp="1"/>
          </p:cNvSpPr>
          <p:nvPr/>
        </p:nvSpPr>
        <p:spPr>
          <a:xfrm xmlns:a="http://schemas.openxmlformats.org/drawingml/2006/main">
            <a:off x="8229600" y="653415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a:solidFill>
                  <a:srgbClr val="565E68"/>
                </a:solidFill>
                <a:latin typeface="Arial"/>
                <a:ea typeface="Arial"/>
                <a:cs typeface="Arial"/>
              </a:defRPr>
            </a:pPr>
            <a:r>
              <a:rPr sz="975" b="0">
                <a:solidFill>
                  <a:srgbClr val="565E68"/>
                </a:solidFill>
                <a:latin typeface="Arial"/>
                <a:ea typeface="Arial"/>
                <a:cs typeface="Arial"/>
              </a:rPr>
              <a:t>SIMULATED PROJECT</a:t>
            </a:r>
          </a:p>
        </p:txBody>
      </p:sp>
      <p:sp>
        <p:nvSpPr>
          <p:cNvPr id="6" name="text-112">
            <a:extLst xmlns:a="http://schemas.openxmlformats.org/drawingml/2006/main">
              <a:ext uri="{FF2B5EF4-FFF2-40B4-BE49-F238E27FC236}">
                <a16:creationId xmlns:a16="http://schemas.microsoft.com/office/drawing/2014/main" id="{94276E43-123A-411E-B5ED-FCE3C612A324}"/>
              </a:ext>
            </a:extLst>
          </p:cNvPr>
          <p:cNvSpPr>
            <a:spLocks xmlns:a="http://schemas.openxmlformats.org/drawingml/2006/main" noGrp="1"/>
          </p:cNvSpPr>
          <p:nvPr/>
        </p:nvSpPr>
        <p:spPr>
          <a:xfrm xmlns:a="http://schemas.openxmlformats.org/drawingml/2006/main">
            <a:off x="11144250" y="64960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111111"/>
                </a:solidFill>
                <a:latin typeface="Arial"/>
                <a:ea typeface="Arial"/>
                <a:cs typeface="Arial"/>
              </a:defRPr>
            </a:pPr>
            <a:r>
              <a:rPr sz="1350" b="0">
                <a:solidFill>
                  <a:srgbClr val="111111"/>
                </a:solidFill>
                <a:latin typeface="Arial"/>
                <a:ea typeface="Arial"/>
                <a:cs typeface="Arial"/>
              </a:rPr>
              <a:t>09</a:t>
            </a:r>
          </a:p>
        </p:txBody>
      </p:sp>
      <p:sp>
        <p:nvSpPr>
          <p:cNvPr id="7" name="text-113">
            <a:extLst xmlns:a="http://schemas.openxmlformats.org/drawingml/2006/main">
              <a:ext uri="{FF2B5EF4-FFF2-40B4-BE49-F238E27FC236}">
                <a16:creationId xmlns:a16="http://schemas.microsoft.com/office/drawing/2014/main" id="{D473EA1A-05FD-4BE5-8EB9-455332FAEBFB}"/>
              </a:ext>
            </a:extLst>
          </p:cNvPr>
          <p:cNvSpPr>
            <a:spLocks xmlns:a="http://schemas.openxmlformats.org/drawingml/2006/main" noGrp="1"/>
          </p:cNvSpPr>
          <p:nvPr/>
        </p:nvSpPr>
        <p:spPr>
          <a:xfrm xmlns:a="http://schemas.openxmlformats.org/drawingml/2006/main">
            <a:off x="609600" y="17811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565E68"/>
                </a:solidFill>
                <a:latin typeface="Arial"/>
                <a:ea typeface="Arial"/>
                <a:cs typeface="Arial"/>
              </a:defRPr>
            </a:pPr>
            <a:r>
              <a:rPr sz="1950" b="0">
                <a:solidFill>
                  <a:srgbClr val="565E68"/>
                </a:solidFill>
                <a:latin typeface="Arial"/>
                <a:ea typeface="Arial"/>
                <a:cs typeface="Arial"/>
              </a:rPr>
              <a:t>Ground-floor milestones need both the current finish and the correct baseline reference.</a:t>
            </a:r>
          </a:p>
        </p:txBody>
      </p:sp>
      <p:sp>
        <p:nvSpPr>
          <p:cNvPr id="8" name="rule-114">
            <a:extLst xmlns:a="http://schemas.openxmlformats.org/drawingml/2006/main">
              <a:ext uri="{FF2B5EF4-FFF2-40B4-BE49-F238E27FC236}">
                <a16:creationId xmlns:a16="http://schemas.microsoft.com/office/drawing/2014/main" id="{C9DCC59D-B81C-4E08-A9A3-41FFD98F34F5}"/>
              </a:ext>
            </a:extLst>
          </p:cNvPr>
          <p:cNvSpPr>
            <a:spLocks xmlns:a="http://schemas.openxmlformats.org/drawingml/2006/main" noGrp="1"/>
          </p:cNvSpPr>
          <p:nvPr/>
        </p:nvSpPr>
        <p:spPr>
          <a:xfrm xmlns:a="http://schemas.openxmlformats.org/drawingml/2006/main">
            <a:off x="609600" y="3457575"/>
            <a:ext cx="10972800" cy="0"/>
          </a:xfrm>
          <a:prstGeom xmlns:a="http://schemas.openxmlformats.org/drawingml/2006/main" prst="line">
            <a:avLst/>
          </a:prstGeom>
          <a:noFill xmlns:a="http://schemas.openxmlformats.org/drawingml/2006/main"/>
          <a:ln xmlns:a="http://schemas.openxmlformats.org/drawingml/2006/main" w="11430">
            <a:solidFill>
              <a:srgbClr val="111111"/>
            </a:solidFill>
            <a:prstDash val="solid"/>
          </a:ln>
        </p:spPr>
      </p:sp>
      <p:sp>
        <p:nvSpPr>
          <p:cNvPr id="9" name="milestone-115">
            <a:extLst xmlns:a="http://schemas.openxmlformats.org/drawingml/2006/main">
              <a:ext uri="{FF2B5EF4-FFF2-40B4-BE49-F238E27FC236}">
                <a16:creationId xmlns:a16="http://schemas.microsoft.com/office/drawing/2014/main" id="{FAEB9737-39C7-493E-96AE-7204328EA1FB}"/>
              </a:ext>
            </a:extLst>
          </p:cNvPr>
          <p:cNvSpPr>
            <a:spLocks xmlns:a="http://schemas.openxmlformats.org/drawingml/2006/main" noGrp="1"/>
          </p:cNvSpPr>
          <p:nvPr/>
        </p:nvSpPr>
        <p:spPr>
          <a:xfrm xmlns:a="http://schemas.openxmlformats.org/drawingml/2006/main">
            <a:off x="561975" y="3409950"/>
            <a:ext cx="95250" cy="95250"/>
          </a:xfrm>
          <a:prstGeom xmlns:a="http://schemas.openxmlformats.org/drawingml/2006/main" prst="ellipse">
            <a:avLst/>
          </a:prstGeom>
          <a:solidFill xmlns:a="http://schemas.openxmlformats.org/drawingml/2006/main">
            <a:srgbClr val="111111"/>
          </a:solidFill>
          <a:ln xmlns:a="http://schemas.openxmlformats.org/drawingml/2006/main" w="0">
            <a:noFill/>
          </a:ln>
        </p:spPr>
      </p:sp>
      <p:sp>
        <p:nvSpPr>
          <p:cNvPr id="10" name="text-116">
            <a:extLst xmlns:a="http://schemas.openxmlformats.org/drawingml/2006/main">
              <a:ext uri="{FF2B5EF4-FFF2-40B4-BE49-F238E27FC236}">
                <a16:creationId xmlns:a16="http://schemas.microsoft.com/office/drawing/2014/main" id="{760A832F-6236-4616-BDEF-99EB7A9E9D94}"/>
              </a:ext>
            </a:extLst>
          </p:cNvPr>
          <p:cNvSpPr>
            <a:spLocks xmlns:a="http://schemas.openxmlformats.org/drawingml/2006/main" noGrp="1"/>
          </p:cNvSpPr>
          <p:nvPr/>
        </p:nvSpPr>
        <p:spPr>
          <a:xfrm xmlns:a="http://schemas.openxmlformats.org/drawingml/2006/main">
            <a:off x="609600" y="256222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111111"/>
                </a:solidFill>
                <a:latin typeface="Arial"/>
                <a:ea typeface="Arial"/>
                <a:cs typeface="Arial"/>
              </a:defRPr>
            </a:pPr>
            <a:r>
              <a:rPr sz="3000" b="1">
                <a:solidFill>
                  <a:srgbClr val="111111"/>
                </a:solidFill>
                <a:latin typeface="Arial"/>
                <a:ea typeface="Arial"/>
                <a:cs typeface="Arial"/>
              </a:rPr>
              <a:t>09 APR 2027</a:t>
            </a:r>
          </a:p>
        </p:txBody>
      </p:sp>
      <p:sp>
        <p:nvSpPr>
          <p:cNvPr id="11" name="text-117">
            <a:extLst xmlns:a="http://schemas.openxmlformats.org/drawingml/2006/main">
              <a:ext uri="{FF2B5EF4-FFF2-40B4-BE49-F238E27FC236}">
                <a16:creationId xmlns:a16="http://schemas.microsoft.com/office/drawing/2014/main" id="{2200E72A-E73A-40B9-9B1E-7ACF7FEBCDA0}"/>
              </a:ext>
            </a:extLst>
          </p:cNvPr>
          <p:cNvSpPr>
            <a:spLocks xmlns:a="http://schemas.openxmlformats.org/drawingml/2006/main" noGrp="1"/>
          </p:cNvSpPr>
          <p:nvPr/>
        </p:nvSpPr>
        <p:spPr>
          <a:xfrm xmlns:a="http://schemas.openxmlformats.org/drawingml/2006/main">
            <a:off x="609600" y="389572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rial"/>
                <a:ea typeface="Arial"/>
                <a:cs typeface="Arial"/>
              </a:defRPr>
            </a:pPr>
            <a:r>
              <a:rPr sz="2400" b="1">
                <a:solidFill>
                  <a:srgbClr val="111111"/>
                </a:solidFill>
                <a:latin typeface="Arial"/>
                <a:ea typeface="Arial"/>
                <a:cs typeface="Arial"/>
              </a:rPr>
              <a:t>Column curing</a:t>
            </a:r>
          </a:p>
        </p:txBody>
      </p:sp>
      <p:sp>
        <p:nvSpPr>
          <p:cNvPr id="12" name="text-118">
            <a:extLst xmlns:a="http://schemas.openxmlformats.org/drawingml/2006/main">
              <a:ext uri="{FF2B5EF4-FFF2-40B4-BE49-F238E27FC236}">
                <a16:creationId xmlns:a16="http://schemas.microsoft.com/office/drawing/2014/main" id="{88523804-0592-4A78-AA17-50869A64F0CE}"/>
              </a:ext>
            </a:extLst>
          </p:cNvPr>
          <p:cNvSpPr>
            <a:spLocks xmlns:a="http://schemas.openxmlformats.org/drawingml/2006/main" noGrp="1"/>
          </p:cNvSpPr>
          <p:nvPr/>
        </p:nvSpPr>
        <p:spPr>
          <a:xfrm xmlns:a="http://schemas.openxmlformats.org/drawingml/2006/main">
            <a:off x="609600" y="4562475"/>
            <a:ext cx="33147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65E68"/>
                </a:solidFill>
                <a:latin typeface="Arial"/>
                <a:ea typeface="Arial"/>
                <a:cs typeface="Arial"/>
              </a:defRPr>
            </a:pPr>
            <a:r>
              <a:rPr sz="1800" b="0">
                <a:solidFill>
                  <a:srgbClr val="565E68"/>
                </a:solidFill>
                <a:latin typeface="Arial"/>
                <a:ea typeface="Arial"/>
                <a:cs typeface="Arial"/>
              </a:rPr>
              <a:t>GF-ST-007</a:t>
            </a:r>
          </a:p>
          <a:p xmlns:a="http://schemas.openxmlformats.org/drawingml/2006/main">
            <a:pPr algn="l">
              <a:buNone/>
              <a:defRPr sz="1800" b="0">
                <a:solidFill>
                  <a:srgbClr val="565E68"/>
                </a:solidFill>
                <a:latin typeface="Arial"/>
                <a:ea typeface="Arial"/>
                <a:cs typeface="Arial"/>
              </a:defRPr>
            </a:pPr>
            <a:r>
              <a:rPr sz="1800" b="0">
                <a:solidFill>
                  <a:srgbClr val="565E68"/>
                </a:solidFill>
                <a:latin typeface="Arial"/>
                <a:ea typeface="Arial"/>
                <a:cs typeface="Arial"/>
              </a:rPr>
              <a:t>192 hours remaining</a:t>
            </a:r>
          </a:p>
          <a:p xmlns:a="http://schemas.openxmlformats.org/drawingml/2006/main">
            <a:pPr algn="l">
              <a:buNone/>
              <a:defRPr sz="1800" b="0">
                <a:solidFill>
                  <a:srgbClr val="565E68"/>
                </a:solidFill>
                <a:latin typeface="Arial"/>
                <a:ea typeface="Arial"/>
                <a:cs typeface="Arial"/>
              </a:defRPr>
            </a:pPr>
            <a:r>
              <a:rPr sz="1800" b="0">
                <a:solidFill>
                  <a:srgbClr val="565E68"/>
                </a:solidFill>
                <a:latin typeface="Arial"/>
                <a:ea typeface="Arial"/>
                <a:cs typeface="Arial"/>
              </a:rPr>
              <a:t>Total float: 9 hours</a:t>
            </a:r>
          </a:p>
        </p:txBody>
      </p:sp>
      <p:sp>
        <p:nvSpPr>
          <p:cNvPr id="13" name="milestone-119">
            <a:extLst xmlns:a="http://schemas.openxmlformats.org/drawingml/2006/main">
              <a:ext uri="{FF2B5EF4-FFF2-40B4-BE49-F238E27FC236}">
                <a16:creationId xmlns:a16="http://schemas.microsoft.com/office/drawing/2014/main" id="{668D6F11-2A14-4C43-BFFF-8D283AD57A84}"/>
              </a:ext>
            </a:extLst>
          </p:cNvPr>
          <p:cNvSpPr>
            <a:spLocks xmlns:a="http://schemas.openxmlformats.org/drawingml/2006/main" noGrp="1"/>
          </p:cNvSpPr>
          <p:nvPr/>
        </p:nvSpPr>
        <p:spPr>
          <a:xfrm xmlns:a="http://schemas.openxmlformats.org/drawingml/2006/main">
            <a:off x="4314825" y="3409950"/>
            <a:ext cx="95250" cy="95250"/>
          </a:xfrm>
          <a:prstGeom xmlns:a="http://schemas.openxmlformats.org/drawingml/2006/main" prst="ellipse">
            <a:avLst/>
          </a:prstGeom>
          <a:solidFill xmlns:a="http://schemas.openxmlformats.org/drawingml/2006/main">
            <a:srgbClr val="111111"/>
          </a:solidFill>
          <a:ln xmlns:a="http://schemas.openxmlformats.org/drawingml/2006/main" w="0">
            <a:noFill/>
          </a:ln>
        </p:spPr>
      </p:sp>
      <p:sp>
        <p:nvSpPr>
          <p:cNvPr id="14" name="text-120">
            <a:extLst xmlns:a="http://schemas.openxmlformats.org/drawingml/2006/main">
              <a:ext uri="{FF2B5EF4-FFF2-40B4-BE49-F238E27FC236}">
                <a16:creationId xmlns:a16="http://schemas.microsoft.com/office/drawing/2014/main" id="{86190B49-FA4C-494F-A8A8-026176806D24}"/>
              </a:ext>
            </a:extLst>
          </p:cNvPr>
          <p:cNvSpPr>
            <a:spLocks xmlns:a="http://schemas.openxmlformats.org/drawingml/2006/main" noGrp="1"/>
          </p:cNvSpPr>
          <p:nvPr/>
        </p:nvSpPr>
        <p:spPr>
          <a:xfrm xmlns:a="http://schemas.openxmlformats.org/drawingml/2006/main">
            <a:off x="4362450" y="256222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111111"/>
                </a:solidFill>
                <a:latin typeface="Arial"/>
                <a:ea typeface="Arial"/>
                <a:cs typeface="Arial"/>
              </a:defRPr>
            </a:pPr>
            <a:r>
              <a:rPr sz="3000" b="1">
                <a:solidFill>
                  <a:srgbClr val="111111"/>
                </a:solidFill>
                <a:latin typeface="Arial"/>
                <a:ea typeface="Arial"/>
                <a:cs typeface="Arial"/>
              </a:rPr>
              <a:t>25 APR 2027</a:t>
            </a:r>
          </a:p>
        </p:txBody>
      </p:sp>
      <p:sp>
        <p:nvSpPr>
          <p:cNvPr id="15" name="text-121">
            <a:extLst xmlns:a="http://schemas.openxmlformats.org/drawingml/2006/main">
              <a:ext uri="{FF2B5EF4-FFF2-40B4-BE49-F238E27FC236}">
                <a16:creationId xmlns:a16="http://schemas.microsoft.com/office/drawing/2014/main" id="{04086FAB-7468-4943-9763-D5671B792BAA}"/>
              </a:ext>
            </a:extLst>
          </p:cNvPr>
          <p:cNvSpPr>
            <a:spLocks xmlns:a="http://schemas.openxmlformats.org/drawingml/2006/main" noGrp="1"/>
          </p:cNvSpPr>
          <p:nvPr/>
        </p:nvSpPr>
        <p:spPr>
          <a:xfrm xmlns:a="http://schemas.openxmlformats.org/drawingml/2006/main">
            <a:off x="4362450" y="389572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rial"/>
                <a:ea typeface="Arial"/>
                <a:cs typeface="Arial"/>
              </a:defRPr>
            </a:pPr>
            <a:r>
              <a:rPr sz="2400" b="1">
                <a:solidFill>
                  <a:srgbClr val="111111"/>
                </a:solidFill>
                <a:latin typeface="Arial"/>
                <a:ea typeface="Arial"/>
                <a:cs typeface="Arial"/>
              </a:rPr>
              <a:t>Beam / slab pour</a:t>
            </a:r>
          </a:p>
        </p:txBody>
      </p:sp>
      <p:sp>
        <p:nvSpPr>
          <p:cNvPr id="16" name="text-122">
            <a:extLst xmlns:a="http://schemas.openxmlformats.org/drawingml/2006/main">
              <a:ext uri="{FF2B5EF4-FFF2-40B4-BE49-F238E27FC236}">
                <a16:creationId xmlns:a16="http://schemas.microsoft.com/office/drawing/2014/main" id="{404541DC-FBD7-45D9-B473-45A4722BA33C}"/>
              </a:ext>
            </a:extLst>
          </p:cNvPr>
          <p:cNvSpPr>
            <a:spLocks xmlns:a="http://schemas.openxmlformats.org/drawingml/2006/main" noGrp="1"/>
          </p:cNvSpPr>
          <p:nvPr/>
        </p:nvSpPr>
        <p:spPr>
          <a:xfrm xmlns:a="http://schemas.openxmlformats.org/drawingml/2006/main">
            <a:off x="4362450" y="4562475"/>
            <a:ext cx="33147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65E68"/>
                </a:solidFill>
                <a:latin typeface="Arial"/>
                <a:ea typeface="Arial"/>
                <a:cs typeface="Arial"/>
              </a:defRPr>
            </a:pPr>
            <a:r>
              <a:rPr sz="1800" b="0">
                <a:solidFill>
                  <a:srgbClr val="565E68"/>
                </a:solidFill>
                <a:latin typeface="Arial"/>
                <a:ea typeface="Arial"/>
                <a:cs typeface="Arial"/>
              </a:rPr>
              <a:t>GF-ST-015</a:t>
            </a:r>
          </a:p>
          <a:p xmlns:a="http://schemas.openxmlformats.org/drawingml/2006/main">
            <a:pPr algn="l">
              <a:buNone/>
              <a:defRPr sz="1800" b="0">
                <a:solidFill>
                  <a:srgbClr val="565E68"/>
                </a:solidFill>
                <a:latin typeface="Arial"/>
                <a:ea typeface="Arial"/>
                <a:cs typeface="Arial"/>
              </a:defRPr>
            </a:pPr>
            <a:r>
              <a:rPr sz="1800" b="0">
                <a:solidFill>
                  <a:srgbClr val="565E68"/>
                </a:solidFill>
                <a:latin typeface="Arial"/>
                <a:ea typeface="Arial"/>
                <a:cs typeface="Arial"/>
              </a:rPr>
              <a:t>Baseline: 19 Apr 2027</a:t>
            </a:r>
          </a:p>
          <a:p xmlns:a="http://schemas.openxmlformats.org/drawingml/2006/main">
            <a:pPr algn="l">
              <a:buNone/>
              <a:defRPr sz="1800" b="0">
                <a:solidFill>
                  <a:srgbClr val="565E68"/>
                </a:solidFill>
                <a:latin typeface="Arial"/>
                <a:ea typeface="Arial"/>
                <a:cs typeface="Arial"/>
              </a:defRPr>
            </a:pPr>
            <a:r>
              <a:rPr sz="1800" b="0">
                <a:solidFill>
                  <a:srgbClr val="565E68"/>
                </a:solidFill>
                <a:latin typeface="Arial"/>
                <a:ea typeface="Arial"/>
                <a:cs typeface="Arial"/>
              </a:rPr>
              <a:t>6 calendar days later</a:t>
            </a:r>
          </a:p>
        </p:txBody>
      </p:sp>
      <p:sp>
        <p:nvSpPr>
          <p:cNvPr id="17" name="milestone-123">
            <a:extLst xmlns:a="http://schemas.openxmlformats.org/drawingml/2006/main">
              <a:ext uri="{FF2B5EF4-FFF2-40B4-BE49-F238E27FC236}">
                <a16:creationId xmlns:a16="http://schemas.microsoft.com/office/drawing/2014/main" id="{86809D35-B1B8-4349-A860-418534537D5E}"/>
              </a:ext>
            </a:extLst>
          </p:cNvPr>
          <p:cNvSpPr>
            <a:spLocks xmlns:a="http://schemas.openxmlformats.org/drawingml/2006/main" noGrp="1"/>
          </p:cNvSpPr>
          <p:nvPr/>
        </p:nvSpPr>
        <p:spPr>
          <a:xfrm xmlns:a="http://schemas.openxmlformats.org/drawingml/2006/main">
            <a:off x="8067675" y="3409950"/>
            <a:ext cx="95250" cy="95250"/>
          </a:xfrm>
          <a:prstGeom xmlns:a="http://schemas.openxmlformats.org/drawingml/2006/main" prst="ellipse">
            <a:avLst/>
          </a:prstGeom>
          <a:solidFill xmlns:a="http://schemas.openxmlformats.org/drawingml/2006/main">
            <a:srgbClr val="111111"/>
          </a:solidFill>
          <a:ln xmlns:a="http://schemas.openxmlformats.org/drawingml/2006/main" w="0">
            <a:noFill/>
          </a:ln>
        </p:spPr>
      </p:sp>
      <p:sp>
        <p:nvSpPr>
          <p:cNvPr id="18" name="text-124">
            <a:extLst xmlns:a="http://schemas.openxmlformats.org/drawingml/2006/main">
              <a:ext uri="{FF2B5EF4-FFF2-40B4-BE49-F238E27FC236}">
                <a16:creationId xmlns:a16="http://schemas.microsoft.com/office/drawing/2014/main" id="{B42ED925-3E11-4E9E-BB11-B2A23A1A91BC}"/>
              </a:ext>
            </a:extLst>
          </p:cNvPr>
          <p:cNvSpPr>
            <a:spLocks xmlns:a="http://schemas.openxmlformats.org/drawingml/2006/main" noGrp="1"/>
          </p:cNvSpPr>
          <p:nvPr/>
        </p:nvSpPr>
        <p:spPr>
          <a:xfrm xmlns:a="http://schemas.openxmlformats.org/drawingml/2006/main">
            <a:off x="8115300" y="256222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111111"/>
                </a:solidFill>
                <a:latin typeface="Arial"/>
                <a:ea typeface="Arial"/>
                <a:cs typeface="Arial"/>
              </a:defRPr>
            </a:pPr>
            <a:r>
              <a:rPr sz="3000" b="1">
                <a:solidFill>
                  <a:srgbClr val="111111"/>
                </a:solidFill>
                <a:latin typeface="Arial"/>
                <a:ea typeface="Arial"/>
                <a:cs typeface="Arial"/>
              </a:rPr>
              <a:t>05 MAY 2027</a:t>
            </a:r>
          </a:p>
        </p:txBody>
      </p:sp>
      <p:sp>
        <p:nvSpPr>
          <p:cNvPr id="19" name="text-125">
            <a:extLst xmlns:a="http://schemas.openxmlformats.org/drawingml/2006/main">
              <a:ext uri="{FF2B5EF4-FFF2-40B4-BE49-F238E27FC236}">
                <a16:creationId xmlns:a16="http://schemas.microsoft.com/office/drawing/2014/main" id="{FB1A1CE2-C07D-4F36-9A1A-A69577297F23}"/>
              </a:ext>
            </a:extLst>
          </p:cNvPr>
          <p:cNvSpPr>
            <a:spLocks xmlns:a="http://schemas.openxmlformats.org/drawingml/2006/main" noGrp="1"/>
          </p:cNvSpPr>
          <p:nvPr/>
        </p:nvSpPr>
        <p:spPr>
          <a:xfrm xmlns:a="http://schemas.openxmlformats.org/drawingml/2006/main">
            <a:off x="8115300" y="389572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rial"/>
                <a:ea typeface="Arial"/>
                <a:cs typeface="Arial"/>
              </a:defRPr>
            </a:pPr>
            <a:r>
              <a:rPr sz="2400" b="1">
                <a:solidFill>
                  <a:srgbClr val="111111"/>
                </a:solidFill>
                <a:latin typeface="Arial"/>
                <a:ea typeface="Arial"/>
                <a:cs typeface="Arial"/>
              </a:rPr>
              <a:t>Structural handover</a:t>
            </a:r>
          </a:p>
        </p:txBody>
      </p:sp>
      <p:sp>
        <p:nvSpPr>
          <p:cNvPr id="20" name="text-126">
            <a:extLst xmlns:a="http://schemas.openxmlformats.org/drawingml/2006/main">
              <a:ext uri="{FF2B5EF4-FFF2-40B4-BE49-F238E27FC236}">
                <a16:creationId xmlns:a16="http://schemas.microsoft.com/office/drawing/2014/main" id="{EFF35CFB-7AD6-4DB9-8725-56B2C016E9E3}"/>
              </a:ext>
            </a:extLst>
          </p:cNvPr>
          <p:cNvSpPr>
            <a:spLocks xmlns:a="http://schemas.openxmlformats.org/drawingml/2006/main" noGrp="1"/>
          </p:cNvSpPr>
          <p:nvPr/>
        </p:nvSpPr>
        <p:spPr>
          <a:xfrm xmlns:a="http://schemas.openxmlformats.org/drawingml/2006/main">
            <a:off x="8115300" y="4562475"/>
            <a:ext cx="33147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65E68"/>
                </a:solidFill>
                <a:latin typeface="Arial"/>
                <a:ea typeface="Arial"/>
                <a:cs typeface="Arial"/>
              </a:defRPr>
            </a:pPr>
            <a:r>
              <a:rPr sz="1800" b="0">
                <a:solidFill>
                  <a:srgbClr val="565E68"/>
                </a:solidFill>
                <a:latin typeface="Arial"/>
                <a:ea typeface="Arial"/>
                <a:cs typeface="Arial"/>
              </a:rPr>
              <a:t>GF-ST-019</a:t>
            </a:r>
          </a:p>
          <a:p xmlns:a="http://schemas.openxmlformats.org/drawingml/2006/main">
            <a:pPr algn="l">
              <a:buNone/>
              <a:defRPr sz="1800" b="0">
                <a:solidFill>
                  <a:srgbClr val="565E68"/>
                </a:solidFill>
                <a:latin typeface="Arial"/>
                <a:ea typeface="Arial"/>
                <a:cs typeface="Arial"/>
              </a:defRPr>
            </a:pPr>
            <a:r>
              <a:rPr sz="1800" b="0">
                <a:solidFill>
                  <a:srgbClr val="565E68"/>
                </a:solidFill>
                <a:latin typeface="Arial"/>
                <a:ea typeface="Arial"/>
                <a:cs typeface="Arial"/>
              </a:rPr>
              <a:t>Baseline: 01 May 2027</a:t>
            </a:r>
          </a:p>
          <a:p xmlns:a="http://schemas.openxmlformats.org/drawingml/2006/main">
            <a:pPr algn="l">
              <a:buNone/>
              <a:defRPr sz="1800" b="0">
                <a:solidFill>
                  <a:srgbClr val="565E68"/>
                </a:solidFill>
                <a:latin typeface="Arial"/>
                <a:ea typeface="Arial"/>
                <a:cs typeface="Arial"/>
              </a:defRPr>
            </a:pPr>
            <a:r>
              <a:rPr sz="1800" b="0">
                <a:solidFill>
                  <a:srgbClr val="565E68"/>
                </a:solidFill>
                <a:latin typeface="Arial"/>
                <a:ea typeface="Arial"/>
                <a:cs typeface="Arial"/>
              </a:rPr>
              <a:t>4 calendar days later</a:t>
            </a:r>
          </a:p>
        </p:txBody>
      </p:sp>
      <p:sp>
        <p:nvSpPr>
          <p:cNvPr id="21" name="text-127">
            <a:extLst xmlns:a="http://schemas.openxmlformats.org/drawingml/2006/main">
              <a:ext uri="{FF2B5EF4-FFF2-40B4-BE49-F238E27FC236}">
                <a16:creationId xmlns:a16="http://schemas.microsoft.com/office/drawing/2014/main" id="{2F3E4ADD-2172-4B32-875D-C50A90C5361A}"/>
              </a:ext>
            </a:extLst>
          </p:cNvPr>
          <p:cNvSpPr>
            <a:spLocks xmlns:a="http://schemas.openxmlformats.org/drawingml/2006/main" noGrp="1"/>
          </p:cNvSpPr>
          <p:nvPr/>
        </p:nvSpPr>
        <p:spPr>
          <a:xfrm xmlns:a="http://schemas.openxmlformats.org/drawingml/2006/main">
            <a:off x="609600" y="58102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565E68"/>
                </a:solidFill>
                <a:latin typeface="Arial"/>
                <a:ea typeface="Arial"/>
                <a:cs typeface="Arial"/>
              </a:defRPr>
            </a:pPr>
            <a:r>
              <a:rPr sz="1650" b="0">
                <a:solidFill>
                  <a:srgbClr val="565E68"/>
                </a:solidFill>
                <a:latin typeface="Arial"/>
                <a:ea typeface="Arial"/>
                <a:cs typeface="Arial"/>
              </a:rPr>
              <a:t>Formwork → reinforcement → sleeves → inspection → pour. Validate curing and floor-release assumptions.</a:t>
            </a:r>
          </a:p>
        </p:txBody>
      </p:sp>
    </p:spTree>
    <p:extLst>
      <p:ext uri="{BB962C8B-B14F-4D97-AF65-F5344CB8AC3E}">
        <p14:creationId xmlns:p14="http://schemas.microsoft.com/office/powerpoint/2010/main" val="35864050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128">
            <a:extLst xmlns:a="http://schemas.openxmlformats.org/drawingml/2006/main">
              <a:ext uri="{FF2B5EF4-FFF2-40B4-BE49-F238E27FC236}">
                <a16:creationId xmlns:a16="http://schemas.microsoft.com/office/drawing/2014/main" id="{FA6F5B87-10D0-4C47-8496-46D734AA07F3}"/>
              </a:ext>
            </a:extLst>
          </p:cNvPr>
          <p:cNvSpPr>
            <a:spLocks xmlns:a="http://schemas.openxmlformats.org/drawingml/2006/main" noGrp="1"/>
          </p:cNvSpPr>
          <p:nvPr/>
        </p:nvSpPr>
        <p:spPr>
          <a:xfrm xmlns:a="http://schemas.openxmlformats.org/drawingml/2006/main">
            <a:off x="609600" y="3238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2563EB"/>
                </a:solidFill>
                <a:latin typeface="Arial"/>
                <a:ea typeface="Arial"/>
                <a:cs typeface="Arial"/>
              </a:defRPr>
            </a:pPr>
            <a:r>
              <a:rPr sz="1275" b="1">
                <a:solidFill>
                  <a:srgbClr val="2563EB"/>
                </a:solidFill>
                <a:latin typeface="Arial"/>
                <a:ea typeface="Arial"/>
                <a:cs typeface="Arial"/>
              </a:rPr>
              <a:t>RESOURCE CONTROL</a:t>
            </a:r>
          </a:p>
        </p:txBody>
      </p:sp>
      <p:sp>
        <p:nvSpPr>
          <p:cNvPr id="2" name="slide-10-title">
            <a:extLst xmlns:a="http://schemas.openxmlformats.org/drawingml/2006/main">
              <a:ext uri="{FF2B5EF4-FFF2-40B4-BE49-F238E27FC236}">
                <a16:creationId xmlns:a16="http://schemas.microsoft.com/office/drawing/2014/main" id="{93136E48-EDCE-452F-8FC2-4A520452458A}"/>
              </a:ext>
            </a:extLst>
          </p:cNvPr>
          <p:cNvSpPr>
            <a:spLocks xmlns:a="http://schemas.openxmlformats.org/drawingml/2006/main" noGrp="1"/>
          </p:cNvSpPr>
          <p:nvPr/>
        </p:nvSpPr>
        <p:spPr>
          <a:xfrm xmlns:a="http://schemas.openxmlformats.org/drawingml/2006/main">
            <a:off x="609600" y="7905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111111"/>
                </a:solidFill>
                <a:latin typeface="Arial"/>
                <a:ea typeface="Arial"/>
                <a:cs typeface="Arial"/>
              </a:defRPr>
            </a:pPr>
            <a:r>
              <a:rPr sz="3600" b="1">
                <a:solidFill>
                  <a:srgbClr val="111111"/>
                </a:solidFill>
                <a:latin typeface="Arial"/>
                <a:ea typeface="Arial"/>
                <a:cs typeface="Arial"/>
              </a:rPr>
              <a:t>Leveling needs more than a finish date</a:t>
            </a:r>
          </a:p>
        </p:txBody>
      </p:sp>
      <p:sp>
        <p:nvSpPr>
          <p:cNvPr id="3" name="rule-129">
            <a:extLst xmlns:a="http://schemas.openxmlformats.org/drawingml/2006/main">
              <a:ext uri="{FF2B5EF4-FFF2-40B4-BE49-F238E27FC236}">
                <a16:creationId xmlns:a16="http://schemas.microsoft.com/office/drawing/2014/main" id="{EB878E51-4CD7-4326-B64F-1203DD7FD0DC}"/>
              </a:ext>
            </a:extLst>
          </p:cNvPr>
          <p:cNvSpPr>
            <a:spLocks xmlns:a="http://schemas.openxmlformats.org/drawingml/2006/main" noGrp="1"/>
          </p:cNvSpPr>
          <p:nvPr/>
        </p:nvSpPr>
        <p:spPr>
          <a:xfrm xmlns:a="http://schemas.openxmlformats.org/drawingml/2006/main">
            <a:off x="609600" y="6362700"/>
            <a:ext cx="10972800" cy="0"/>
          </a:xfrm>
          <a:prstGeom xmlns:a="http://schemas.openxmlformats.org/drawingml/2006/main" prst="line">
            <a:avLst/>
          </a:prstGeom>
          <a:noFill xmlns:a="http://schemas.openxmlformats.org/drawingml/2006/main"/>
          <a:ln xmlns:a="http://schemas.openxmlformats.org/drawingml/2006/main" w="9525">
            <a:solidFill>
              <a:srgbClr val="D8DDE3"/>
            </a:solidFill>
            <a:prstDash val="solid"/>
          </a:ln>
        </p:spPr>
      </p:sp>
      <p:sp>
        <p:nvSpPr>
          <p:cNvPr id="4" name="text-130">
            <a:extLst xmlns:a="http://schemas.openxmlformats.org/drawingml/2006/main">
              <a:ext uri="{FF2B5EF4-FFF2-40B4-BE49-F238E27FC236}">
                <a16:creationId xmlns:a16="http://schemas.microsoft.com/office/drawing/2014/main" id="{DD009F12-5BFA-429E-A5E1-15DF653C2242}"/>
              </a:ext>
            </a:extLst>
          </p:cNvPr>
          <p:cNvSpPr>
            <a:spLocks xmlns:a="http://schemas.openxmlformats.org/drawingml/2006/main" noGrp="1"/>
          </p:cNvSpPr>
          <p:nvPr/>
        </p:nvSpPr>
        <p:spPr>
          <a:xfrm xmlns:a="http://schemas.openxmlformats.org/drawingml/2006/main">
            <a:off x="609600" y="6534150"/>
            <a:ext cx="685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0">
                <a:solidFill>
                  <a:srgbClr val="565E68"/>
                </a:solidFill>
                <a:latin typeface="Arial"/>
                <a:ea typeface="Arial"/>
                <a:cs typeface="Arial"/>
              </a:defRPr>
            </a:pPr>
            <a:r>
              <a:rPr sz="975" b="0">
                <a:solidFill>
                  <a:srgbClr val="565E68"/>
                </a:solidFill>
                <a:latin typeface="Arial"/>
                <a:ea typeface="Arial"/>
                <a:cs typeface="Arial"/>
              </a:rPr>
              <a:t>ALI BAYOUMI  /  PRIMAVERA P6 CASE STUDY</a:t>
            </a:r>
          </a:p>
        </p:txBody>
      </p:sp>
      <p:sp>
        <p:nvSpPr>
          <p:cNvPr id="5" name="text-131">
            <a:extLst xmlns:a="http://schemas.openxmlformats.org/drawingml/2006/main">
              <a:ext uri="{FF2B5EF4-FFF2-40B4-BE49-F238E27FC236}">
                <a16:creationId xmlns:a16="http://schemas.microsoft.com/office/drawing/2014/main" id="{A50A9A36-BCAF-472C-A5B4-37A8BCBD9986}"/>
              </a:ext>
            </a:extLst>
          </p:cNvPr>
          <p:cNvSpPr>
            <a:spLocks xmlns:a="http://schemas.openxmlformats.org/drawingml/2006/main" noGrp="1"/>
          </p:cNvSpPr>
          <p:nvPr/>
        </p:nvSpPr>
        <p:spPr>
          <a:xfrm xmlns:a="http://schemas.openxmlformats.org/drawingml/2006/main">
            <a:off x="8229600" y="653415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a:solidFill>
                  <a:srgbClr val="565E68"/>
                </a:solidFill>
                <a:latin typeface="Arial"/>
                <a:ea typeface="Arial"/>
                <a:cs typeface="Arial"/>
              </a:defRPr>
            </a:pPr>
            <a:r>
              <a:rPr sz="975" b="0">
                <a:solidFill>
                  <a:srgbClr val="565E68"/>
                </a:solidFill>
                <a:latin typeface="Arial"/>
                <a:ea typeface="Arial"/>
                <a:cs typeface="Arial"/>
              </a:rPr>
              <a:t>SIMULATED PROJECT</a:t>
            </a:r>
          </a:p>
        </p:txBody>
      </p:sp>
      <p:sp>
        <p:nvSpPr>
          <p:cNvPr id="6" name="text-132">
            <a:extLst xmlns:a="http://schemas.openxmlformats.org/drawingml/2006/main">
              <a:ext uri="{FF2B5EF4-FFF2-40B4-BE49-F238E27FC236}">
                <a16:creationId xmlns:a16="http://schemas.microsoft.com/office/drawing/2014/main" id="{6C4E849F-7300-423A-96F3-6482B276819E}"/>
              </a:ext>
            </a:extLst>
          </p:cNvPr>
          <p:cNvSpPr>
            <a:spLocks xmlns:a="http://schemas.openxmlformats.org/drawingml/2006/main" noGrp="1"/>
          </p:cNvSpPr>
          <p:nvPr/>
        </p:nvSpPr>
        <p:spPr>
          <a:xfrm xmlns:a="http://schemas.openxmlformats.org/drawingml/2006/main">
            <a:off x="11144250" y="64960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111111"/>
                </a:solidFill>
                <a:latin typeface="Arial"/>
                <a:ea typeface="Arial"/>
                <a:cs typeface="Arial"/>
              </a:defRPr>
            </a:pPr>
            <a:r>
              <a:rPr sz="1350" b="0">
                <a:solidFill>
                  <a:srgbClr val="111111"/>
                </a:solidFill>
                <a:latin typeface="Arial"/>
                <a:ea typeface="Arial"/>
                <a:cs typeface="Arial"/>
              </a:rPr>
              <a:t>10</a:t>
            </a:r>
          </a:p>
        </p:txBody>
      </p:sp>
      <p:sp>
        <p:nvSpPr>
          <p:cNvPr id="7" name="text-133">
            <a:extLst xmlns:a="http://schemas.openxmlformats.org/drawingml/2006/main">
              <a:ext uri="{FF2B5EF4-FFF2-40B4-BE49-F238E27FC236}">
                <a16:creationId xmlns:a16="http://schemas.microsoft.com/office/drawing/2014/main" id="{006A0378-52F8-4C64-970A-95D236116407}"/>
              </a:ext>
            </a:extLst>
          </p:cNvPr>
          <p:cNvSpPr>
            <a:spLocks xmlns:a="http://schemas.openxmlformats.org/drawingml/2006/main" noGrp="1"/>
          </p:cNvSpPr>
          <p:nvPr/>
        </p:nvSpPr>
        <p:spPr>
          <a:xfrm xmlns:a="http://schemas.openxmlformats.org/drawingml/2006/main">
            <a:off x="609600" y="1771650"/>
            <a:ext cx="632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565E68"/>
                </a:solidFill>
                <a:latin typeface="Arial"/>
                <a:ea typeface="Arial"/>
                <a:cs typeface="Arial"/>
              </a:defRPr>
            </a:pPr>
            <a:r>
              <a:rPr sz="1650" b="0">
                <a:solidFill>
                  <a:srgbClr val="565E68"/>
                </a:solidFill>
                <a:latin typeface="Arial"/>
                <a:ea typeface="Arial"/>
                <a:cs typeface="Arial"/>
              </a:rPr>
              <a:t>33 resources · 572 assignments</a:t>
            </a:r>
          </a:p>
        </p:txBody>
      </p:sp>
      <p:graphicFrame>
        <p:nvGraphicFramePr>
          <p:cNvPr id="23" name="Chart"/>
          <p:cNvGraphicFramePr/>
          <p:nvPr/>
        </p:nvGraphicFramePr>
        <p:xfrm>
          <a:off xmlns:a="http://schemas.openxmlformats.org/drawingml/2006/main" x="609600" y="2324100"/>
          <a:ext xmlns:a="http://schemas.openxmlformats.org/drawingml/2006/main" cx="6286500" cy="3248025"/>
        </p:xfrm>
        <a:graphic xmlns:a="http://schemas.openxmlformats.org/drawingml/2006/main">
          <a:graphicData uri="http://schemas.openxmlformats.org/drawingml/2006/chart">
            <c:chart xmlns:r="http://schemas.openxmlformats.org/officeDocument/2006/relationships" xmlns:c="http://schemas.openxmlformats.org/drawingml/2006/chart" r:id="R65ee3b142f1449a9"/>
          </a:graphicData>
        </a:graphic>
      </p:graphicFrame>
      <p:sp>
        <p:nvSpPr>
          <p:cNvPr id="9" name="text-134">
            <a:extLst xmlns:a="http://schemas.openxmlformats.org/drawingml/2006/main">
              <a:ext uri="{FF2B5EF4-FFF2-40B4-BE49-F238E27FC236}">
                <a16:creationId xmlns:a16="http://schemas.microsoft.com/office/drawing/2014/main" id="{6DB592F6-584E-40B8-AFCC-6309837B2FD1}"/>
              </a:ext>
            </a:extLst>
          </p:cNvPr>
          <p:cNvSpPr>
            <a:spLocks xmlns:a="http://schemas.openxmlformats.org/drawingml/2006/main" noGrp="1"/>
          </p:cNvSpPr>
          <p:nvPr/>
        </p:nvSpPr>
        <p:spPr>
          <a:xfrm xmlns:a="http://schemas.openxmlformats.org/drawingml/2006/main">
            <a:off x="7543800" y="2076450"/>
            <a:ext cx="4038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6150" b="1">
                <a:solidFill>
                  <a:srgbClr val="111111"/>
                </a:solidFill>
                <a:latin typeface="Arial"/>
                <a:ea typeface="Arial"/>
                <a:cs typeface="Arial"/>
              </a:defRPr>
            </a:pPr>
            <a:r>
              <a:rPr sz="6150" b="1">
                <a:solidFill>
                  <a:srgbClr val="111111"/>
                </a:solidFill>
                <a:latin typeface="Arial"/>
                <a:ea typeface="Arial"/>
                <a:cs typeface="Arial"/>
              </a:rPr>
              <a:t>31</a:t>
            </a:r>
          </a:p>
        </p:txBody>
      </p:sp>
      <p:sp>
        <p:nvSpPr>
          <p:cNvPr id="10" name="text-135">
            <a:extLst xmlns:a="http://schemas.openxmlformats.org/drawingml/2006/main">
              <a:ext uri="{FF2B5EF4-FFF2-40B4-BE49-F238E27FC236}">
                <a16:creationId xmlns:a16="http://schemas.microsoft.com/office/drawing/2014/main" id="{869A963D-D249-4326-84C6-27A742001A3D}"/>
              </a:ext>
            </a:extLst>
          </p:cNvPr>
          <p:cNvSpPr>
            <a:spLocks xmlns:a="http://schemas.openxmlformats.org/drawingml/2006/main" noGrp="1"/>
          </p:cNvSpPr>
          <p:nvPr/>
        </p:nvSpPr>
        <p:spPr>
          <a:xfrm xmlns:a="http://schemas.openxmlformats.org/drawingml/2006/main">
            <a:off x="7543800" y="3105150"/>
            <a:ext cx="403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565E68"/>
                </a:solidFill>
                <a:latin typeface="Arial"/>
                <a:ea typeface="Arial"/>
                <a:cs typeface="Arial"/>
              </a:defRPr>
            </a:pPr>
            <a:r>
              <a:rPr sz="1650" b="0">
                <a:solidFill>
                  <a:srgbClr val="565E68"/>
                </a:solidFill>
                <a:latin typeface="Arial"/>
                <a:ea typeface="Arial"/>
                <a:cs typeface="Arial"/>
              </a:rPr>
              <a:t>direct resource delays in the log</a:t>
            </a:r>
          </a:p>
        </p:txBody>
      </p:sp>
      <p:sp>
        <p:nvSpPr>
          <p:cNvPr id="11" name="text-136">
            <a:extLst xmlns:a="http://schemas.openxmlformats.org/drawingml/2006/main">
              <a:ext uri="{FF2B5EF4-FFF2-40B4-BE49-F238E27FC236}">
                <a16:creationId xmlns:a16="http://schemas.microsoft.com/office/drawing/2014/main" id="{3FC794A3-09F1-4766-97CA-BBAEB30A939A}"/>
              </a:ext>
            </a:extLst>
          </p:cNvPr>
          <p:cNvSpPr>
            <a:spLocks xmlns:a="http://schemas.openxmlformats.org/drawingml/2006/main" noGrp="1"/>
          </p:cNvSpPr>
          <p:nvPr/>
        </p:nvSpPr>
        <p:spPr>
          <a:xfrm xmlns:a="http://schemas.openxmlformats.org/drawingml/2006/main">
            <a:off x="7543800" y="3638550"/>
            <a:ext cx="4038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6150" b="1">
                <a:solidFill>
                  <a:srgbClr val="111111"/>
                </a:solidFill>
                <a:latin typeface="Arial"/>
                <a:ea typeface="Arial"/>
                <a:cs typeface="Arial"/>
              </a:defRPr>
            </a:pPr>
            <a:r>
              <a:rPr sz="6150" b="1">
                <a:solidFill>
                  <a:srgbClr val="111111"/>
                </a:solidFill>
                <a:latin typeface="Arial"/>
                <a:ea typeface="Arial"/>
                <a:cs typeface="Arial"/>
              </a:rPr>
              <a:t>222</a:t>
            </a:r>
          </a:p>
        </p:txBody>
      </p:sp>
      <p:sp>
        <p:nvSpPr>
          <p:cNvPr id="12" name="text-137">
            <a:extLst xmlns:a="http://schemas.openxmlformats.org/drawingml/2006/main">
              <a:ext uri="{FF2B5EF4-FFF2-40B4-BE49-F238E27FC236}">
                <a16:creationId xmlns:a16="http://schemas.microsoft.com/office/drawing/2014/main" id="{593A3B6B-CD61-476C-A844-3F38D9FD5D99}"/>
              </a:ext>
            </a:extLst>
          </p:cNvPr>
          <p:cNvSpPr>
            <a:spLocks xmlns:a="http://schemas.openxmlformats.org/drawingml/2006/main" noGrp="1"/>
          </p:cNvSpPr>
          <p:nvPr/>
        </p:nvSpPr>
        <p:spPr>
          <a:xfrm xmlns:a="http://schemas.openxmlformats.org/drawingml/2006/main">
            <a:off x="7543800" y="4581525"/>
            <a:ext cx="40386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65E68"/>
                </a:solidFill>
                <a:latin typeface="Arial"/>
                <a:ea typeface="Arial"/>
                <a:cs typeface="Arial"/>
              </a:defRPr>
            </a:pPr>
            <a:r>
              <a:rPr sz="1725" b="0">
                <a:solidFill>
                  <a:srgbClr val="565E68"/>
                </a:solidFill>
                <a:latin typeface="Arial"/>
                <a:ea typeface="Arial"/>
                <a:cs typeface="Arial"/>
              </a:rPr>
              <a:t>incomplete activities with different</a:t>
            </a:r>
          </a:p>
          <a:p xmlns:a="http://schemas.openxmlformats.org/drawingml/2006/main">
            <a:pPr algn="l">
              <a:buNone/>
              <a:defRPr sz="1725" b="0">
                <a:solidFill>
                  <a:srgbClr val="565E68"/>
                </a:solidFill>
                <a:latin typeface="Arial"/>
                <a:ea typeface="Arial"/>
                <a:cs typeface="Arial"/>
              </a:defRPr>
            </a:pPr>
            <a:r>
              <a:rPr sz="1725" b="0">
                <a:solidFill>
                  <a:srgbClr val="565E68"/>
                </a:solidFill>
                <a:latin typeface="Arial"/>
                <a:ea typeface="Arial"/>
                <a:cs typeface="Arial"/>
              </a:rPr>
              <a:t>saved early and remaining dates</a:t>
            </a:r>
          </a:p>
        </p:txBody>
      </p:sp>
      <p:sp>
        <p:nvSpPr>
          <p:cNvPr id="13" name="text-138">
            <a:extLst xmlns:a="http://schemas.openxmlformats.org/drawingml/2006/main">
              <a:ext uri="{FF2B5EF4-FFF2-40B4-BE49-F238E27FC236}">
                <a16:creationId xmlns:a16="http://schemas.microsoft.com/office/drawing/2014/main" id="{44F4338F-7D03-4EDF-A0EB-C6839A1B36CC}"/>
              </a:ext>
            </a:extLst>
          </p:cNvPr>
          <p:cNvSpPr>
            <a:spLocks xmlns:a="http://schemas.openxmlformats.org/drawingml/2006/main" noGrp="1"/>
          </p:cNvSpPr>
          <p:nvPr/>
        </p:nvSpPr>
        <p:spPr>
          <a:xfrm xmlns:a="http://schemas.openxmlformats.org/drawingml/2006/main">
            <a:off x="609600" y="58102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565E68"/>
                </a:solidFill>
                <a:latin typeface="Arial"/>
                <a:ea typeface="Arial"/>
                <a:cs typeface="Arial"/>
              </a:defRPr>
            </a:pPr>
            <a:r>
              <a:rPr sz="1650" b="0">
                <a:solidFill>
                  <a:srgbClr val="565E68"/>
                </a:solidFill>
                <a:latin typeface="Arial"/>
                <a:ea typeface="Arial"/>
                <a:cs typeface="Arial"/>
              </a:rPr>
              <a:t>These are different measures. The log also records 469 predecessor delays and zero unable to level.</a:t>
            </a:r>
          </a:p>
        </p:txBody>
      </p:sp>
    </p:spTree>
    <p:extLst>
      <p:ext uri="{BB962C8B-B14F-4D97-AF65-F5344CB8AC3E}">
        <p14:creationId xmlns:p14="http://schemas.microsoft.com/office/powerpoint/2010/main" val="157962209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139">
            <a:extLst xmlns:a="http://schemas.openxmlformats.org/drawingml/2006/main">
              <a:ext uri="{FF2B5EF4-FFF2-40B4-BE49-F238E27FC236}">
                <a16:creationId xmlns:a16="http://schemas.microsoft.com/office/drawing/2014/main" id="{97618676-BC7F-48DA-B48B-312A4539E7A5}"/>
              </a:ext>
            </a:extLst>
          </p:cNvPr>
          <p:cNvSpPr>
            <a:spLocks xmlns:a="http://schemas.openxmlformats.org/drawingml/2006/main" noGrp="1"/>
          </p:cNvSpPr>
          <p:nvPr/>
        </p:nvSpPr>
        <p:spPr>
          <a:xfrm xmlns:a="http://schemas.openxmlformats.org/drawingml/2006/main">
            <a:off x="609600" y="3238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2563EB"/>
                </a:solidFill>
                <a:latin typeface="Arial"/>
                <a:ea typeface="Arial"/>
                <a:cs typeface="Arial"/>
              </a:defRPr>
            </a:pPr>
            <a:r>
              <a:rPr sz="1275" b="1">
                <a:solidFill>
                  <a:srgbClr val="2563EB"/>
                </a:solidFill>
                <a:latin typeface="Arial"/>
                <a:ea typeface="Arial"/>
                <a:cs typeface="Arial"/>
              </a:rPr>
              <a:t>EXECUTION LOOKAHEAD</a:t>
            </a:r>
          </a:p>
        </p:txBody>
      </p:sp>
      <p:sp>
        <p:nvSpPr>
          <p:cNvPr id="2" name="slide-11-title">
            <a:extLst xmlns:a="http://schemas.openxmlformats.org/drawingml/2006/main">
              <a:ext uri="{FF2B5EF4-FFF2-40B4-BE49-F238E27FC236}">
                <a16:creationId xmlns:a16="http://schemas.microsoft.com/office/drawing/2014/main" id="{8B744715-9A74-46CB-A490-01E21A787DCA}"/>
              </a:ext>
            </a:extLst>
          </p:cNvPr>
          <p:cNvSpPr>
            <a:spLocks xmlns:a="http://schemas.openxmlformats.org/drawingml/2006/main" noGrp="1"/>
          </p:cNvSpPr>
          <p:nvPr/>
        </p:nvSpPr>
        <p:spPr>
          <a:xfrm xmlns:a="http://schemas.openxmlformats.org/drawingml/2006/main">
            <a:off x="609600" y="7905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111111"/>
                </a:solidFill>
                <a:latin typeface="Arial"/>
                <a:ea typeface="Arial"/>
                <a:cs typeface="Arial"/>
              </a:defRPr>
            </a:pPr>
            <a:r>
              <a:rPr sz="3600" b="1">
                <a:solidFill>
                  <a:srgbClr val="111111"/>
                </a:solidFill>
                <a:latin typeface="Arial"/>
                <a:ea typeface="Arial"/>
                <a:cs typeface="Arial"/>
              </a:rPr>
              <a:t>The next 90 days define the workfronts</a:t>
            </a:r>
          </a:p>
        </p:txBody>
      </p:sp>
      <p:sp>
        <p:nvSpPr>
          <p:cNvPr id="3" name="rule-140">
            <a:extLst xmlns:a="http://schemas.openxmlformats.org/drawingml/2006/main">
              <a:ext uri="{FF2B5EF4-FFF2-40B4-BE49-F238E27FC236}">
                <a16:creationId xmlns:a16="http://schemas.microsoft.com/office/drawing/2014/main" id="{426EF31E-80F2-49BC-8DE9-8621175179FA}"/>
              </a:ext>
            </a:extLst>
          </p:cNvPr>
          <p:cNvSpPr>
            <a:spLocks xmlns:a="http://schemas.openxmlformats.org/drawingml/2006/main" noGrp="1"/>
          </p:cNvSpPr>
          <p:nvPr/>
        </p:nvSpPr>
        <p:spPr>
          <a:xfrm xmlns:a="http://schemas.openxmlformats.org/drawingml/2006/main">
            <a:off x="609600" y="6362700"/>
            <a:ext cx="10972800" cy="0"/>
          </a:xfrm>
          <a:prstGeom xmlns:a="http://schemas.openxmlformats.org/drawingml/2006/main" prst="line">
            <a:avLst/>
          </a:prstGeom>
          <a:noFill xmlns:a="http://schemas.openxmlformats.org/drawingml/2006/main"/>
          <a:ln xmlns:a="http://schemas.openxmlformats.org/drawingml/2006/main" w="9525">
            <a:solidFill>
              <a:srgbClr val="D8DDE3"/>
            </a:solidFill>
            <a:prstDash val="solid"/>
          </a:ln>
        </p:spPr>
      </p:sp>
      <p:sp>
        <p:nvSpPr>
          <p:cNvPr id="4" name="text-141">
            <a:extLst xmlns:a="http://schemas.openxmlformats.org/drawingml/2006/main">
              <a:ext uri="{FF2B5EF4-FFF2-40B4-BE49-F238E27FC236}">
                <a16:creationId xmlns:a16="http://schemas.microsoft.com/office/drawing/2014/main" id="{068BECA1-53CA-4E08-A8D7-316651592902}"/>
              </a:ext>
            </a:extLst>
          </p:cNvPr>
          <p:cNvSpPr>
            <a:spLocks xmlns:a="http://schemas.openxmlformats.org/drawingml/2006/main" noGrp="1"/>
          </p:cNvSpPr>
          <p:nvPr/>
        </p:nvSpPr>
        <p:spPr>
          <a:xfrm xmlns:a="http://schemas.openxmlformats.org/drawingml/2006/main">
            <a:off x="609600" y="6534150"/>
            <a:ext cx="685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0">
                <a:solidFill>
                  <a:srgbClr val="565E68"/>
                </a:solidFill>
                <a:latin typeface="Arial"/>
                <a:ea typeface="Arial"/>
                <a:cs typeface="Arial"/>
              </a:defRPr>
            </a:pPr>
            <a:r>
              <a:rPr sz="975" b="0">
                <a:solidFill>
                  <a:srgbClr val="565E68"/>
                </a:solidFill>
                <a:latin typeface="Arial"/>
                <a:ea typeface="Arial"/>
                <a:cs typeface="Arial"/>
              </a:rPr>
              <a:t>ALI BAYOUMI  /  PRIMAVERA P6 CASE STUDY</a:t>
            </a:r>
          </a:p>
        </p:txBody>
      </p:sp>
      <p:sp>
        <p:nvSpPr>
          <p:cNvPr id="5" name="text-142">
            <a:extLst xmlns:a="http://schemas.openxmlformats.org/drawingml/2006/main">
              <a:ext uri="{FF2B5EF4-FFF2-40B4-BE49-F238E27FC236}">
                <a16:creationId xmlns:a16="http://schemas.microsoft.com/office/drawing/2014/main" id="{6F74D39A-E680-4698-8B2B-CA927F428998}"/>
              </a:ext>
            </a:extLst>
          </p:cNvPr>
          <p:cNvSpPr>
            <a:spLocks xmlns:a="http://schemas.openxmlformats.org/drawingml/2006/main" noGrp="1"/>
          </p:cNvSpPr>
          <p:nvPr/>
        </p:nvSpPr>
        <p:spPr>
          <a:xfrm xmlns:a="http://schemas.openxmlformats.org/drawingml/2006/main">
            <a:off x="8229600" y="653415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a:solidFill>
                  <a:srgbClr val="565E68"/>
                </a:solidFill>
                <a:latin typeface="Arial"/>
                <a:ea typeface="Arial"/>
                <a:cs typeface="Arial"/>
              </a:defRPr>
            </a:pPr>
            <a:r>
              <a:rPr sz="975" b="0">
                <a:solidFill>
                  <a:srgbClr val="565E68"/>
                </a:solidFill>
                <a:latin typeface="Arial"/>
                <a:ea typeface="Arial"/>
                <a:cs typeface="Arial"/>
              </a:rPr>
              <a:t>SIMULATED PROJECT</a:t>
            </a:r>
          </a:p>
        </p:txBody>
      </p:sp>
      <p:sp>
        <p:nvSpPr>
          <p:cNvPr id="6" name="text-143">
            <a:extLst xmlns:a="http://schemas.openxmlformats.org/drawingml/2006/main">
              <a:ext uri="{FF2B5EF4-FFF2-40B4-BE49-F238E27FC236}">
                <a16:creationId xmlns:a16="http://schemas.microsoft.com/office/drawing/2014/main" id="{9FBB010E-F259-4C8A-8FA4-86F0A4D53E50}"/>
              </a:ext>
            </a:extLst>
          </p:cNvPr>
          <p:cNvSpPr>
            <a:spLocks xmlns:a="http://schemas.openxmlformats.org/drawingml/2006/main" noGrp="1"/>
          </p:cNvSpPr>
          <p:nvPr/>
        </p:nvSpPr>
        <p:spPr>
          <a:xfrm xmlns:a="http://schemas.openxmlformats.org/drawingml/2006/main">
            <a:off x="11144250" y="64960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111111"/>
                </a:solidFill>
                <a:latin typeface="Arial"/>
                <a:ea typeface="Arial"/>
                <a:cs typeface="Arial"/>
              </a:defRPr>
            </a:pPr>
            <a:r>
              <a:rPr sz="1350" b="0">
                <a:solidFill>
                  <a:srgbClr val="111111"/>
                </a:solidFill>
                <a:latin typeface="Arial"/>
                <a:ea typeface="Arial"/>
                <a:cs typeface="Arial"/>
              </a:rPr>
              <a:t>11</a:t>
            </a:r>
          </a:p>
        </p:txBody>
      </p:sp>
      <p:sp>
        <p:nvSpPr>
          <p:cNvPr id="7" name="text-144">
            <a:extLst xmlns:a="http://schemas.openxmlformats.org/drawingml/2006/main">
              <a:ext uri="{FF2B5EF4-FFF2-40B4-BE49-F238E27FC236}">
                <a16:creationId xmlns:a16="http://schemas.microsoft.com/office/drawing/2014/main" id="{4571AD89-FA72-4E5D-85FA-AAE74D404BA7}"/>
              </a:ext>
            </a:extLst>
          </p:cNvPr>
          <p:cNvSpPr>
            <a:spLocks xmlns:a="http://schemas.openxmlformats.org/drawingml/2006/main" noGrp="1"/>
          </p:cNvSpPr>
          <p:nvPr/>
        </p:nvSpPr>
        <p:spPr>
          <a:xfrm xmlns:a="http://schemas.openxmlformats.org/drawingml/2006/main">
            <a:off x="609600" y="1809750"/>
            <a:ext cx="781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rial"/>
                <a:ea typeface="Arial"/>
                <a:cs typeface="Arial"/>
              </a:defRPr>
            </a:pPr>
            <a:r>
              <a:rPr sz="2400" b="1">
                <a:solidFill>
                  <a:srgbClr val="111111"/>
                </a:solidFill>
                <a:latin typeface="Arial"/>
                <a:ea typeface="Arial"/>
                <a:cs typeface="Arial"/>
              </a:rPr>
              <a:t>01 APR → 30 JUN 2027</a:t>
            </a:r>
          </a:p>
        </p:txBody>
      </p:sp>
      <p:sp>
        <p:nvSpPr>
          <p:cNvPr id="8" name="text-145">
            <a:extLst xmlns:a="http://schemas.openxmlformats.org/drawingml/2006/main">
              <a:ext uri="{FF2B5EF4-FFF2-40B4-BE49-F238E27FC236}">
                <a16:creationId xmlns:a16="http://schemas.microsoft.com/office/drawing/2014/main" id="{40278DA9-E246-4065-BA29-F1D922066BE1}"/>
              </a:ext>
            </a:extLst>
          </p:cNvPr>
          <p:cNvSpPr>
            <a:spLocks xmlns:a="http://schemas.openxmlformats.org/drawingml/2006/main" noGrp="1"/>
          </p:cNvSpPr>
          <p:nvPr/>
        </p:nvSpPr>
        <p:spPr>
          <a:xfrm xmlns:a="http://schemas.openxmlformats.org/drawingml/2006/main">
            <a:off x="8972550" y="1809750"/>
            <a:ext cx="2609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2400" b="1">
                <a:solidFill>
                  <a:srgbClr val="2563EB"/>
                </a:solidFill>
                <a:latin typeface="Arial"/>
                <a:ea typeface="Arial"/>
                <a:cs typeface="Arial"/>
              </a:defRPr>
            </a:pPr>
            <a:r>
              <a:rPr sz="2400" b="1">
                <a:solidFill>
                  <a:srgbClr val="2563EB"/>
                </a:solidFill>
                <a:latin typeface="Arial"/>
                <a:ea typeface="Arial"/>
                <a:cs typeface="Arial"/>
              </a:rPr>
              <a:t>189 rows</a:t>
            </a:r>
          </a:p>
        </p:txBody>
      </p:sp>
      <p:sp>
        <p:nvSpPr>
          <p:cNvPr id="9" name="text-146">
            <a:extLst xmlns:a="http://schemas.openxmlformats.org/drawingml/2006/main">
              <a:ext uri="{FF2B5EF4-FFF2-40B4-BE49-F238E27FC236}">
                <a16:creationId xmlns:a16="http://schemas.microsoft.com/office/drawing/2014/main" id="{DC2F3224-FBE5-4BAF-BC24-ECFAF960C8B3}"/>
              </a:ext>
            </a:extLst>
          </p:cNvPr>
          <p:cNvSpPr>
            <a:spLocks xmlns:a="http://schemas.openxmlformats.org/drawingml/2006/main" noGrp="1"/>
          </p:cNvSpPr>
          <p:nvPr/>
        </p:nvSpPr>
        <p:spPr>
          <a:xfrm xmlns:a="http://schemas.openxmlformats.org/drawingml/2006/main">
            <a:off x="609600" y="2438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565E68"/>
                </a:solidFill>
                <a:latin typeface="Arial"/>
                <a:ea typeface="Arial"/>
                <a:cs typeface="Arial"/>
              </a:defRPr>
            </a:pPr>
            <a:r>
              <a:rPr sz="1875" b="0">
                <a:solidFill>
                  <a:srgbClr val="565E68"/>
                </a:solidFill>
                <a:latin typeface="Arial"/>
                <a:ea typeface="Arial"/>
                <a:cs typeface="Arial"/>
              </a:rPr>
              <a:t>Procurement finish gates in the saved lookahead</a:t>
            </a:r>
          </a:p>
        </p:txBody>
      </p:sp>
      <p:graphicFrame>
        <p:nvGraphicFramePr>
          <p:cNvPr id="23" name=""/>
          <p:cNvGraphicFramePr/>
          <p:nvPr/>
        </p:nvGraphicFramePr>
        <p:xfrm>
          <a:off xmlns:a="http://schemas.openxmlformats.org/drawingml/2006/main" x="609600" y="3048000"/>
          <a:ext xmlns:a="http://schemas.openxmlformats.org/drawingml/2006/main" cx="10972800" cy="2066925"/>
        </p:xfrm>
        <a:graphic xmlns:a="http://schemas.openxmlformats.org/drawingml/2006/main">
          <a:graphicData uri="http://schemas.openxmlformats.org/drawingml/2006/table">
            <a:tbl>
              <a:tblPr/>
              <a:tblGrid>
                <a:gridCol w="3505200"/>
                <a:gridCol w="1866900"/>
                <a:gridCol w="1866900"/>
                <a:gridCol w="1866900"/>
                <a:gridCol w="1866900"/>
              </a:tblGrid>
              <a:tr h="688975">
                <a:tc>
                  <a:txBody>
                    <a:bodyPr lIns="133350" tIns="76200" rIns="114300" bIns="76200"/>
                    <a:lstStyle/>
                    <a:p>
                      <a:r>
                        <a:rPr sz="1725" b="1">
                          <a:solidFill>
                            <a:srgbClr val="FFFFFF"/>
                          </a:solidFill>
                          <a:latin typeface="Arial"/>
                          <a:ea typeface="Arial"/>
                          <a:cs typeface="Arial"/>
                        </a:rPr>
                        <a:t>Package</a:t>
                      </a:r>
                    </a:p>
                  </a:txBody>
                  <a:tcPr marL="91440" marR="91440" marT="45720" marB="45720" anchor="ctr">
                    <a:solidFill>
                      <a:srgbClr val="111111"/>
                    </a:solidFill>
                  </a:tcPr>
                </a:tc>
                <a:tc>
                  <a:txBody>
                    <a:bodyPr lIns="133350" tIns="76200" rIns="114300" bIns="76200"/>
                    <a:lstStyle/>
                    <a:p>
                      <a:r>
                        <a:rPr sz="1725" b="1">
                          <a:solidFill>
                            <a:srgbClr val="FFFFFF"/>
                          </a:solidFill>
                          <a:latin typeface="Arial"/>
                          <a:ea typeface="Arial"/>
                          <a:cs typeface="Arial"/>
                        </a:rPr>
                        <a:t>Manufacture</a:t>
                      </a:r>
                    </a:p>
                  </a:txBody>
                  <a:tcPr marL="91440" marR="91440" marT="45720" marB="45720" anchor="ctr">
                    <a:solidFill>
                      <a:srgbClr val="111111"/>
                    </a:solidFill>
                  </a:tcPr>
                </a:tc>
                <a:tc>
                  <a:txBody>
                    <a:bodyPr lIns="133350" tIns="76200" rIns="114300" bIns="76200"/>
                    <a:lstStyle/>
                    <a:p>
                      <a:r>
                        <a:rPr sz="1725" b="1">
                          <a:solidFill>
                            <a:srgbClr val="FFFFFF"/>
                          </a:solidFill>
                          <a:latin typeface="Arial"/>
                          <a:ea typeface="Arial"/>
                          <a:cs typeface="Arial"/>
                        </a:rPr>
                        <a:t>FAT</a:t>
                      </a:r>
                    </a:p>
                  </a:txBody>
                  <a:tcPr marL="91440" marR="91440" marT="45720" marB="45720" anchor="ctr">
                    <a:solidFill>
                      <a:srgbClr val="111111"/>
                    </a:solidFill>
                  </a:tcPr>
                </a:tc>
                <a:tc>
                  <a:txBody>
                    <a:bodyPr lIns="133350" tIns="76200" rIns="114300" bIns="76200"/>
                    <a:lstStyle/>
                    <a:p>
                      <a:r>
                        <a:rPr sz="1725" b="1">
                          <a:solidFill>
                            <a:srgbClr val="FFFFFF"/>
                          </a:solidFill>
                          <a:latin typeface="Arial"/>
                          <a:ea typeface="Arial"/>
                          <a:cs typeface="Arial"/>
                        </a:rPr>
                        <a:t>Delivery</a:t>
                      </a:r>
                    </a:p>
                  </a:txBody>
                  <a:tcPr marL="91440" marR="91440" marT="45720" marB="45720" anchor="ctr">
                    <a:solidFill>
                      <a:srgbClr val="111111"/>
                    </a:solidFill>
                  </a:tcPr>
                </a:tc>
                <a:tc>
                  <a:txBody>
                    <a:bodyPr lIns="133350" tIns="76200" rIns="114300" bIns="76200"/>
                    <a:lstStyle/>
                    <a:p>
                      <a:r>
                        <a:rPr sz="1725" b="1">
                          <a:solidFill>
                            <a:srgbClr val="FFFFFF"/>
                          </a:solidFill>
                          <a:latin typeface="Arial"/>
                          <a:ea typeface="Arial"/>
                          <a:cs typeface="Arial"/>
                        </a:rPr>
                        <a:t>Approval</a:t>
                      </a:r>
                    </a:p>
                  </a:txBody>
                  <a:tcPr marL="91440" marR="91440" marT="45720" marB="45720" anchor="ctr">
                    <a:solidFill>
                      <a:srgbClr val="111111"/>
                    </a:solidFill>
                  </a:tcPr>
                </a:tc>
              </a:tr>
              <a:tr h="688975">
                <a:tc>
                  <a:txBody>
                    <a:bodyPr lIns="133350" tIns="76200" rIns="114300" bIns="76200"/>
                    <a:lstStyle/>
                    <a:p>
                      <a:r>
                        <a:rPr sz="1725" b="0">
                          <a:solidFill>
                            <a:srgbClr val="111111"/>
                          </a:solidFill>
                          <a:latin typeface="Arial"/>
                          <a:ea typeface="Arial"/>
                          <a:cs typeface="Arial"/>
                        </a:rPr>
                        <a:t>HVAC / Electrical /</a:t>
                      </a:r>
                    </a:p>
                    <a:p>
                      <a:r>
                        <a:rPr sz="1725" b="0">
                          <a:solidFill>
                            <a:srgbClr val="111111"/>
                          </a:solidFill>
                          <a:latin typeface="Arial"/>
                          <a:ea typeface="Arial"/>
                          <a:cs typeface="Arial"/>
                        </a:rPr>
                        <a:t>Plumbing / Low current</a:t>
                      </a:r>
                    </a:p>
                  </a:txBody>
                  <a:tcPr marL="91440" marR="91440" marT="45720" marB="45720" anchor="ctr">
                    <a:solidFill>
                      <a:srgbClr val="F2F3F5"/>
                    </a:solidFill>
                  </a:tcPr>
                </a:tc>
                <a:tc>
                  <a:txBody>
                    <a:bodyPr lIns="133350" tIns="76200" rIns="114300" bIns="76200"/>
                    <a:lstStyle/>
                    <a:p>
                      <a:r>
                        <a:rPr sz="1725" b="0">
                          <a:solidFill>
                            <a:srgbClr val="111111"/>
                          </a:solidFill>
                          <a:latin typeface="Arial"/>
                          <a:ea typeface="Arial"/>
                          <a:cs typeface="Arial"/>
                        </a:rPr>
                        <a:t>14 Apr</a:t>
                      </a:r>
                    </a:p>
                  </a:txBody>
                  <a:tcPr marL="91440" marR="91440" marT="45720" marB="45720" anchor="ctr">
                    <a:solidFill>
                      <a:srgbClr val="F2F3F5"/>
                    </a:solidFill>
                  </a:tcPr>
                </a:tc>
                <a:tc>
                  <a:txBody>
                    <a:bodyPr lIns="133350" tIns="76200" rIns="114300" bIns="76200"/>
                    <a:lstStyle/>
                    <a:p>
                      <a:r>
                        <a:rPr sz="1725" b="0">
                          <a:solidFill>
                            <a:srgbClr val="111111"/>
                          </a:solidFill>
                          <a:latin typeface="Arial"/>
                          <a:ea typeface="Arial"/>
                          <a:cs typeface="Arial"/>
                        </a:rPr>
                        <a:t>19 Apr</a:t>
                      </a:r>
                    </a:p>
                  </a:txBody>
                  <a:tcPr marL="91440" marR="91440" marT="45720" marB="45720" anchor="ctr">
                    <a:solidFill>
                      <a:srgbClr val="F2F3F5"/>
                    </a:solidFill>
                  </a:tcPr>
                </a:tc>
                <a:tc>
                  <a:txBody>
                    <a:bodyPr lIns="133350" tIns="76200" rIns="114300" bIns="76200"/>
                    <a:lstStyle/>
                    <a:p>
                      <a:r>
                        <a:rPr sz="1725" b="0">
                          <a:solidFill>
                            <a:srgbClr val="111111"/>
                          </a:solidFill>
                          <a:latin typeface="Arial"/>
                          <a:ea typeface="Arial"/>
                          <a:cs typeface="Arial"/>
                        </a:rPr>
                        <a:t>03 May</a:t>
                      </a:r>
                    </a:p>
                  </a:txBody>
                  <a:tcPr marL="91440" marR="91440" marT="45720" marB="45720" anchor="ctr">
                    <a:solidFill>
                      <a:srgbClr val="F2F3F5"/>
                    </a:solidFill>
                  </a:tcPr>
                </a:tc>
                <a:tc>
                  <a:txBody>
                    <a:bodyPr lIns="133350" tIns="76200" rIns="114300" bIns="76200"/>
                    <a:lstStyle/>
                    <a:p>
                      <a:r>
                        <a:rPr sz="1725" b="0">
                          <a:solidFill>
                            <a:srgbClr val="111111"/>
                          </a:solidFill>
                          <a:latin typeface="Arial"/>
                          <a:ea typeface="Arial"/>
                          <a:cs typeface="Arial"/>
                        </a:rPr>
                        <a:t>09 May</a:t>
                      </a:r>
                    </a:p>
                  </a:txBody>
                  <a:tcPr marL="91440" marR="91440" marT="45720" marB="45720" anchor="ctr">
                    <a:solidFill>
                      <a:srgbClr val="F2F3F5"/>
                    </a:solidFill>
                  </a:tcPr>
                </a:tc>
              </a:tr>
              <a:tr h="688975">
                <a:tc>
                  <a:txBody>
                    <a:bodyPr lIns="133350" tIns="76200" rIns="114300" bIns="76200"/>
                    <a:lstStyle/>
                    <a:p>
                      <a:r>
                        <a:rPr sz="1725" b="0">
                          <a:solidFill>
                            <a:srgbClr val="111111"/>
                          </a:solidFill>
                          <a:latin typeface="Arial"/>
                          <a:ea typeface="Arial"/>
                          <a:cs typeface="Arial"/>
                        </a:rPr>
                        <a:t>Fire fighting</a:t>
                      </a:r>
                    </a:p>
                  </a:txBody>
                  <a:tcPr marL="91440" marR="91440" marT="45720" marB="45720" anchor="ctr">
                    <a:solidFill>
                      <a:srgbClr val="FFFFFF"/>
                    </a:solidFill>
                  </a:tcPr>
                </a:tc>
                <a:tc>
                  <a:txBody>
                    <a:bodyPr lIns="133350" tIns="76200" rIns="114300" bIns="76200"/>
                    <a:lstStyle/>
                    <a:p>
                      <a:r>
                        <a:rPr sz="1725" b="0">
                          <a:solidFill>
                            <a:srgbClr val="111111"/>
                          </a:solidFill>
                          <a:latin typeface="Arial"/>
                          <a:ea typeface="Arial"/>
                          <a:cs typeface="Arial"/>
                        </a:rPr>
                        <a:t>21 Apr</a:t>
                      </a:r>
                    </a:p>
                  </a:txBody>
                  <a:tcPr marL="91440" marR="91440" marT="45720" marB="45720" anchor="ctr">
                    <a:solidFill>
                      <a:srgbClr val="FFFFFF"/>
                    </a:solidFill>
                  </a:tcPr>
                </a:tc>
                <a:tc>
                  <a:txBody>
                    <a:bodyPr lIns="133350" tIns="76200" rIns="114300" bIns="76200"/>
                    <a:lstStyle/>
                    <a:p>
                      <a:r>
                        <a:rPr sz="1725" b="0">
                          <a:solidFill>
                            <a:srgbClr val="111111"/>
                          </a:solidFill>
                          <a:latin typeface="Arial"/>
                          <a:ea typeface="Arial"/>
                          <a:cs typeface="Arial"/>
                        </a:rPr>
                        <a:t>26 Apr</a:t>
                      </a:r>
                    </a:p>
                  </a:txBody>
                  <a:tcPr marL="91440" marR="91440" marT="45720" marB="45720" anchor="ctr">
                    <a:solidFill>
                      <a:srgbClr val="FFFFFF"/>
                    </a:solidFill>
                  </a:tcPr>
                </a:tc>
                <a:tc>
                  <a:txBody>
                    <a:bodyPr lIns="133350" tIns="76200" rIns="114300" bIns="76200"/>
                    <a:lstStyle/>
                    <a:p>
                      <a:r>
                        <a:rPr sz="1725" b="0">
                          <a:solidFill>
                            <a:srgbClr val="111111"/>
                          </a:solidFill>
                          <a:latin typeface="Arial"/>
                          <a:ea typeface="Arial"/>
                          <a:cs typeface="Arial"/>
                        </a:rPr>
                        <a:t>10 May</a:t>
                      </a:r>
                    </a:p>
                  </a:txBody>
                  <a:tcPr marL="91440" marR="91440" marT="45720" marB="45720" anchor="ctr">
                    <a:solidFill>
                      <a:srgbClr val="FFFFFF"/>
                    </a:solidFill>
                  </a:tcPr>
                </a:tc>
                <a:tc>
                  <a:txBody>
                    <a:bodyPr lIns="133350" tIns="76200" rIns="114300" bIns="76200"/>
                    <a:lstStyle/>
                    <a:p>
                      <a:r>
                        <a:rPr sz="1725" b="0">
                          <a:solidFill>
                            <a:srgbClr val="111111"/>
                          </a:solidFill>
                          <a:latin typeface="Arial"/>
                          <a:ea typeface="Arial"/>
                          <a:cs typeface="Arial"/>
                        </a:rPr>
                        <a:t>16 May</a:t>
                      </a:r>
                    </a:p>
                  </a:txBody>
                  <a:tcPr marL="91440" marR="91440" marT="45720" marB="45720" anchor="ctr">
                    <a:solidFill>
                      <a:srgbClr val="FFFFFF"/>
                    </a:solidFill>
                  </a:tcPr>
                </a:tc>
              </a:tr>
            </a:tbl>
          </a:graphicData>
        </a:graphic>
      </p:graphicFrame>
      <p:sp>
        <p:nvSpPr>
          <p:cNvPr id="11" name="text-147">
            <a:extLst xmlns:a="http://schemas.openxmlformats.org/drawingml/2006/main">
              <a:ext uri="{FF2B5EF4-FFF2-40B4-BE49-F238E27FC236}">
                <a16:creationId xmlns:a16="http://schemas.microsoft.com/office/drawing/2014/main" id="{1C140FE1-21A8-410D-8253-50F9932AFB3C}"/>
              </a:ext>
            </a:extLst>
          </p:cNvPr>
          <p:cNvSpPr>
            <a:spLocks xmlns:a="http://schemas.openxmlformats.org/drawingml/2006/main" noGrp="1"/>
          </p:cNvSpPr>
          <p:nvPr/>
        </p:nvSpPr>
        <p:spPr>
          <a:xfrm xmlns:a="http://schemas.openxmlformats.org/drawingml/2006/main">
            <a:off x="609600" y="5353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565E68"/>
                </a:solidFill>
                <a:latin typeface="Arial"/>
                <a:ea typeface="Arial"/>
                <a:cs typeface="Arial"/>
              </a:defRPr>
            </a:pPr>
            <a:r>
              <a:rPr sz="1950" b="0">
                <a:solidFill>
                  <a:srgbClr val="565E68"/>
                </a:solidFill>
                <a:latin typeface="Arial"/>
                <a:ea typeface="Arial"/>
                <a:cs typeface="Arial"/>
              </a:rPr>
              <a:t>Coordinate GF structure, masonry, MEP first-fix readiness and repetitive floor production.</a:t>
            </a:r>
          </a:p>
        </p:txBody>
      </p:sp>
    </p:spTree>
    <p:extLst>
      <p:ext uri="{BB962C8B-B14F-4D97-AF65-F5344CB8AC3E}">
        <p14:creationId xmlns:p14="http://schemas.microsoft.com/office/powerpoint/2010/main" val="108857064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48">
            <a:extLst xmlns:a="http://schemas.openxmlformats.org/drawingml/2006/main">
              <a:ext uri="{FF2B5EF4-FFF2-40B4-BE49-F238E27FC236}">
                <a16:creationId xmlns:a16="http://schemas.microsoft.com/office/drawing/2014/main" id="{3E33D9BA-DCD9-4545-AD13-7EFF9673241B}"/>
              </a:ext>
            </a:extLst>
          </p:cNvPr>
          <p:cNvSpPr>
            <a:spLocks xmlns:a="http://schemas.openxmlformats.org/drawingml/2006/main" noGrp="1"/>
          </p:cNvSpPr>
          <p:nvPr/>
        </p:nvSpPr>
        <p:spPr>
          <a:xfrm xmlns:a="http://schemas.openxmlformats.org/drawingml/2006/main">
            <a:off x="609600" y="3238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2563EB"/>
                </a:solidFill>
                <a:latin typeface="Arial"/>
                <a:ea typeface="Arial"/>
                <a:cs typeface="Arial"/>
              </a:defRPr>
            </a:pPr>
            <a:r>
              <a:rPr sz="1275" b="1">
                <a:solidFill>
                  <a:srgbClr val="2563EB"/>
                </a:solidFill>
                <a:latin typeface="Arial"/>
                <a:ea typeface="Arial"/>
                <a:cs typeface="Arial"/>
              </a:rPr>
              <a:t>SCHEDULE QUALITY</a:t>
            </a:r>
          </a:p>
        </p:txBody>
      </p:sp>
      <p:sp>
        <p:nvSpPr>
          <p:cNvPr id="2" name="slide-12-title">
            <a:extLst xmlns:a="http://schemas.openxmlformats.org/drawingml/2006/main">
              <a:ext uri="{FF2B5EF4-FFF2-40B4-BE49-F238E27FC236}">
                <a16:creationId xmlns:a16="http://schemas.microsoft.com/office/drawing/2014/main" id="{E96308A8-2FDD-4D4B-B9ED-1E2152D5BFD9}"/>
              </a:ext>
            </a:extLst>
          </p:cNvPr>
          <p:cNvSpPr>
            <a:spLocks xmlns:a="http://schemas.openxmlformats.org/drawingml/2006/main" noGrp="1"/>
          </p:cNvSpPr>
          <p:nvPr/>
        </p:nvSpPr>
        <p:spPr>
          <a:xfrm xmlns:a="http://schemas.openxmlformats.org/drawingml/2006/main">
            <a:off x="609600" y="7905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111111"/>
                </a:solidFill>
                <a:latin typeface="Arial"/>
                <a:ea typeface="Arial"/>
                <a:cs typeface="Arial"/>
              </a:defRPr>
            </a:pPr>
            <a:r>
              <a:rPr sz="3600" b="1">
                <a:solidFill>
                  <a:srgbClr val="111111"/>
                </a:solidFill>
                <a:latin typeface="Arial"/>
                <a:ea typeface="Arial"/>
                <a:cs typeface="Arial"/>
              </a:rPr>
              <a:t>The audit makes model limitations visible</a:t>
            </a:r>
          </a:p>
        </p:txBody>
      </p:sp>
      <p:sp>
        <p:nvSpPr>
          <p:cNvPr id="3" name="rule-149">
            <a:extLst xmlns:a="http://schemas.openxmlformats.org/drawingml/2006/main">
              <a:ext uri="{FF2B5EF4-FFF2-40B4-BE49-F238E27FC236}">
                <a16:creationId xmlns:a16="http://schemas.microsoft.com/office/drawing/2014/main" id="{3525CBD7-520E-4495-841B-A7BEDD5C51E2}"/>
              </a:ext>
            </a:extLst>
          </p:cNvPr>
          <p:cNvSpPr>
            <a:spLocks xmlns:a="http://schemas.openxmlformats.org/drawingml/2006/main" noGrp="1"/>
          </p:cNvSpPr>
          <p:nvPr/>
        </p:nvSpPr>
        <p:spPr>
          <a:xfrm xmlns:a="http://schemas.openxmlformats.org/drawingml/2006/main">
            <a:off x="609600" y="6362700"/>
            <a:ext cx="10972800" cy="0"/>
          </a:xfrm>
          <a:prstGeom xmlns:a="http://schemas.openxmlformats.org/drawingml/2006/main" prst="line">
            <a:avLst/>
          </a:prstGeom>
          <a:noFill xmlns:a="http://schemas.openxmlformats.org/drawingml/2006/main"/>
          <a:ln xmlns:a="http://schemas.openxmlformats.org/drawingml/2006/main" w="9525">
            <a:solidFill>
              <a:srgbClr val="D8DDE3"/>
            </a:solidFill>
            <a:prstDash val="solid"/>
          </a:ln>
        </p:spPr>
      </p:sp>
      <p:sp>
        <p:nvSpPr>
          <p:cNvPr id="4" name="text-150">
            <a:extLst xmlns:a="http://schemas.openxmlformats.org/drawingml/2006/main">
              <a:ext uri="{FF2B5EF4-FFF2-40B4-BE49-F238E27FC236}">
                <a16:creationId xmlns:a16="http://schemas.microsoft.com/office/drawing/2014/main" id="{1C4AA751-E5BF-4A50-BF2C-78ACAF1887B6}"/>
              </a:ext>
            </a:extLst>
          </p:cNvPr>
          <p:cNvSpPr>
            <a:spLocks xmlns:a="http://schemas.openxmlformats.org/drawingml/2006/main" noGrp="1"/>
          </p:cNvSpPr>
          <p:nvPr/>
        </p:nvSpPr>
        <p:spPr>
          <a:xfrm xmlns:a="http://schemas.openxmlformats.org/drawingml/2006/main">
            <a:off x="609600" y="6534150"/>
            <a:ext cx="685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0">
                <a:solidFill>
                  <a:srgbClr val="565E68"/>
                </a:solidFill>
                <a:latin typeface="Arial"/>
                <a:ea typeface="Arial"/>
                <a:cs typeface="Arial"/>
              </a:defRPr>
            </a:pPr>
            <a:r>
              <a:rPr sz="975" b="0">
                <a:solidFill>
                  <a:srgbClr val="565E68"/>
                </a:solidFill>
                <a:latin typeface="Arial"/>
                <a:ea typeface="Arial"/>
                <a:cs typeface="Arial"/>
              </a:rPr>
              <a:t>ALI BAYOUMI  /  PRIMAVERA P6 CASE STUDY</a:t>
            </a:r>
          </a:p>
        </p:txBody>
      </p:sp>
      <p:sp>
        <p:nvSpPr>
          <p:cNvPr id="5" name="text-151">
            <a:extLst xmlns:a="http://schemas.openxmlformats.org/drawingml/2006/main">
              <a:ext uri="{FF2B5EF4-FFF2-40B4-BE49-F238E27FC236}">
                <a16:creationId xmlns:a16="http://schemas.microsoft.com/office/drawing/2014/main" id="{45CC9052-169F-49EE-AAC6-71852EB89AC0}"/>
              </a:ext>
            </a:extLst>
          </p:cNvPr>
          <p:cNvSpPr>
            <a:spLocks xmlns:a="http://schemas.openxmlformats.org/drawingml/2006/main" noGrp="1"/>
          </p:cNvSpPr>
          <p:nvPr/>
        </p:nvSpPr>
        <p:spPr>
          <a:xfrm xmlns:a="http://schemas.openxmlformats.org/drawingml/2006/main">
            <a:off x="8229600" y="653415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a:solidFill>
                  <a:srgbClr val="565E68"/>
                </a:solidFill>
                <a:latin typeface="Arial"/>
                <a:ea typeface="Arial"/>
                <a:cs typeface="Arial"/>
              </a:defRPr>
            </a:pPr>
            <a:r>
              <a:rPr sz="975" b="0">
                <a:solidFill>
                  <a:srgbClr val="565E68"/>
                </a:solidFill>
                <a:latin typeface="Arial"/>
                <a:ea typeface="Arial"/>
                <a:cs typeface="Arial"/>
              </a:rPr>
              <a:t>SIMULATED PROJECT</a:t>
            </a:r>
          </a:p>
        </p:txBody>
      </p:sp>
      <p:sp>
        <p:nvSpPr>
          <p:cNvPr id="6" name="text-152">
            <a:extLst xmlns:a="http://schemas.openxmlformats.org/drawingml/2006/main">
              <a:ext uri="{FF2B5EF4-FFF2-40B4-BE49-F238E27FC236}">
                <a16:creationId xmlns:a16="http://schemas.microsoft.com/office/drawing/2014/main" id="{F5BB36C6-6C20-48E9-9D0E-AF66CE4B34B9}"/>
              </a:ext>
            </a:extLst>
          </p:cNvPr>
          <p:cNvSpPr>
            <a:spLocks xmlns:a="http://schemas.openxmlformats.org/drawingml/2006/main" noGrp="1"/>
          </p:cNvSpPr>
          <p:nvPr/>
        </p:nvSpPr>
        <p:spPr>
          <a:xfrm xmlns:a="http://schemas.openxmlformats.org/drawingml/2006/main">
            <a:off x="11144250" y="64960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111111"/>
                </a:solidFill>
                <a:latin typeface="Arial"/>
                <a:ea typeface="Arial"/>
                <a:cs typeface="Arial"/>
              </a:defRPr>
            </a:pPr>
            <a:r>
              <a:rPr sz="1350" b="0">
                <a:solidFill>
                  <a:srgbClr val="111111"/>
                </a:solidFill>
                <a:latin typeface="Arial"/>
                <a:ea typeface="Arial"/>
                <a:cs typeface="Arial"/>
              </a:rPr>
              <a:t>12</a:t>
            </a:r>
          </a:p>
        </p:txBody>
      </p:sp>
      <p:graphicFrame>
        <p:nvGraphicFramePr>
          <p:cNvPr id="17" name=""/>
          <p:cNvGraphicFramePr/>
          <p:nvPr/>
        </p:nvGraphicFramePr>
        <p:xfrm>
          <a:off xmlns:a="http://schemas.openxmlformats.org/drawingml/2006/main" x="609600" y="2000250"/>
          <a:ext xmlns:a="http://schemas.openxmlformats.org/drawingml/2006/main" cx="10972800" cy="3390900"/>
        </p:xfrm>
        <a:graphic xmlns:a="http://schemas.openxmlformats.org/drawingml/2006/main">
          <a:graphicData uri="http://schemas.openxmlformats.org/drawingml/2006/table">
            <a:tbl>
              <a:tblPr/>
              <a:tblGrid>
                <a:gridCol w="2952750"/>
                <a:gridCol w="3048000"/>
                <a:gridCol w="4972050"/>
              </a:tblGrid>
              <a:tr h="565150">
                <a:tc>
                  <a:txBody>
                    <a:bodyPr lIns="133350" tIns="76200" rIns="114300" bIns="76200"/>
                    <a:lstStyle/>
                    <a:p>
                      <a:r>
                        <a:rPr sz="1725" b="1">
                          <a:solidFill>
                            <a:srgbClr val="FFFFFF"/>
                          </a:solidFill>
                          <a:latin typeface="Arial"/>
                          <a:ea typeface="Arial"/>
                          <a:cs typeface="Arial"/>
                        </a:rPr>
                        <a:t>Diagnostic</a:t>
                      </a:r>
                    </a:p>
                  </a:txBody>
                  <a:tcPr marL="91440" marR="91440" marT="45720" marB="45720" anchor="ctr">
                    <a:solidFill>
                      <a:srgbClr val="111111"/>
                    </a:solidFill>
                  </a:tcPr>
                </a:tc>
                <a:tc>
                  <a:txBody>
                    <a:bodyPr lIns="133350" tIns="76200" rIns="114300" bIns="76200"/>
                    <a:lstStyle/>
                    <a:p>
                      <a:r>
                        <a:rPr sz="1725" b="1">
                          <a:solidFill>
                            <a:srgbClr val="FFFFFF"/>
                          </a:solidFill>
                          <a:latin typeface="Arial"/>
                          <a:ea typeface="Arial"/>
                          <a:cs typeface="Arial"/>
                        </a:rPr>
                        <a:t>Source result</a:t>
                      </a:r>
                    </a:p>
                  </a:txBody>
                  <a:tcPr marL="91440" marR="91440" marT="45720" marB="45720" anchor="ctr">
                    <a:solidFill>
                      <a:srgbClr val="111111"/>
                    </a:solidFill>
                  </a:tcPr>
                </a:tc>
                <a:tc>
                  <a:txBody>
                    <a:bodyPr lIns="133350" tIns="76200" rIns="114300" bIns="76200"/>
                    <a:lstStyle/>
                    <a:p>
                      <a:r>
                        <a:rPr sz="1725" b="1">
                          <a:solidFill>
                            <a:srgbClr val="FFFFFF"/>
                          </a:solidFill>
                          <a:latin typeface="Arial"/>
                          <a:ea typeface="Arial"/>
                          <a:cs typeface="Arial"/>
                        </a:rPr>
                        <a:t>What it means</a:t>
                      </a:r>
                    </a:p>
                  </a:txBody>
                  <a:tcPr marL="91440" marR="91440" marT="45720" marB="45720" anchor="ctr">
                    <a:solidFill>
                      <a:srgbClr val="111111"/>
                    </a:solidFill>
                  </a:tcPr>
                </a:tc>
              </a:tr>
              <a:tr h="565150">
                <a:tc>
                  <a:txBody>
                    <a:bodyPr lIns="133350" tIns="76200" rIns="114300" bIns="76200"/>
                    <a:lstStyle/>
                    <a:p>
                      <a:r>
                        <a:rPr sz="1725" b="0">
                          <a:solidFill>
                            <a:srgbClr val="111111"/>
                          </a:solidFill>
                          <a:latin typeface="Arial"/>
                          <a:ea typeface="Arial"/>
                          <a:cs typeface="Arial"/>
                        </a:rPr>
                        <a:t>Network integrity</a:t>
                      </a:r>
                    </a:p>
                  </a:txBody>
                  <a:tcPr marL="91440" marR="91440" marT="45720" marB="45720" anchor="ctr">
                    <a:solidFill>
                      <a:srgbClr val="F2F3F5"/>
                    </a:solidFill>
                  </a:tcPr>
                </a:tc>
                <a:tc>
                  <a:txBody>
                    <a:bodyPr lIns="133350" tIns="76200" rIns="114300" bIns="76200"/>
                    <a:lstStyle/>
                    <a:p>
                      <a:r>
                        <a:rPr sz="1725" b="0">
                          <a:solidFill>
                            <a:srgbClr val="111111"/>
                          </a:solidFill>
                          <a:latin typeface="Arial"/>
                          <a:ea typeface="Arial"/>
                          <a:cs typeface="Arial"/>
                        </a:rPr>
                        <a:t>0 cycles / broken references</a:t>
                      </a:r>
                    </a:p>
                  </a:txBody>
                  <a:tcPr marL="91440" marR="91440" marT="45720" marB="45720" anchor="ctr">
                    <a:solidFill>
                      <a:srgbClr val="F2F3F5"/>
                    </a:solidFill>
                  </a:tcPr>
                </a:tc>
                <a:tc>
                  <a:txBody>
                    <a:bodyPr lIns="133350" tIns="76200" rIns="114300" bIns="76200"/>
                    <a:lstStyle/>
                    <a:p>
                      <a:r>
                        <a:rPr sz="1725" b="0">
                          <a:solidFill>
                            <a:srgbClr val="111111"/>
                          </a:solidFill>
                          <a:latin typeface="Arial"/>
                          <a:ea typeface="Arial"/>
                          <a:cs typeface="Arial"/>
                        </a:rPr>
                        <a:t>A connected graph still needs sound handoffs.</a:t>
                      </a:r>
                    </a:p>
                  </a:txBody>
                  <a:tcPr marL="91440" marR="91440" marT="45720" marB="45720" anchor="ctr">
                    <a:solidFill>
                      <a:srgbClr val="F2F3F5"/>
                    </a:solidFill>
                  </a:tcPr>
                </a:tc>
              </a:tr>
              <a:tr h="565150">
                <a:tc>
                  <a:txBody>
                    <a:bodyPr lIns="133350" tIns="76200" rIns="114300" bIns="76200"/>
                    <a:lstStyle/>
                    <a:p>
                      <a:r>
                        <a:rPr sz="1725" b="0">
                          <a:solidFill>
                            <a:srgbClr val="111111"/>
                          </a:solidFill>
                          <a:latin typeface="Arial"/>
                          <a:ea typeface="Arial"/>
                          <a:cs typeface="Arial"/>
                        </a:rPr>
                        <a:t>Incomplete activity float</a:t>
                      </a:r>
                    </a:p>
                  </a:txBody>
                  <a:tcPr marL="91440" marR="91440" marT="45720" marB="45720" anchor="ctr">
                    <a:solidFill>
                      <a:srgbClr val="FFFFFF"/>
                    </a:solidFill>
                  </a:tcPr>
                </a:tc>
                <a:tc>
                  <a:txBody>
                    <a:bodyPr lIns="133350" tIns="76200" rIns="114300" bIns="76200"/>
                    <a:lstStyle/>
                    <a:p>
                      <a:r>
                        <a:rPr sz="1725" b="0">
                          <a:solidFill>
                            <a:srgbClr val="111111"/>
                          </a:solidFill>
                          <a:latin typeface="Arial"/>
                          <a:ea typeface="Arial"/>
                          <a:cs typeface="Arial"/>
                        </a:rPr>
                        <a:t>184 zero; 496 high float</a:t>
                      </a:r>
                    </a:p>
                  </a:txBody>
                  <a:tcPr marL="91440" marR="91440" marT="45720" marB="45720" anchor="ctr">
                    <a:solidFill>
                      <a:srgbClr val="FFFFFF"/>
                    </a:solidFill>
                  </a:tcPr>
                </a:tc>
                <a:tc>
                  <a:txBody>
                    <a:bodyPr lIns="133350" tIns="76200" rIns="114300" bIns="76200"/>
                    <a:lstStyle/>
                    <a:p>
                      <a:r>
                        <a:rPr sz="1725" b="0">
                          <a:solidFill>
                            <a:srgbClr val="111111"/>
                          </a:solidFill>
                          <a:latin typeface="Arial"/>
                          <a:ea typeface="Arial"/>
                          <a:cs typeface="Arial"/>
                        </a:rPr>
                        <a:t>Review finish control and interfaces.</a:t>
                      </a:r>
                    </a:p>
                  </a:txBody>
                  <a:tcPr marL="91440" marR="91440" marT="45720" marB="45720" anchor="ctr">
                    <a:solidFill>
                      <a:srgbClr val="FFFFFF"/>
                    </a:solidFill>
                  </a:tcPr>
                </a:tc>
              </a:tr>
              <a:tr h="565150">
                <a:tc>
                  <a:txBody>
                    <a:bodyPr lIns="133350" tIns="76200" rIns="114300" bIns="76200"/>
                    <a:lstStyle/>
                    <a:p>
                      <a:r>
                        <a:rPr sz="1725" b="0">
                          <a:solidFill>
                            <a:srgbClr val="111111"/>
                          </a:solidFill>
                          <a:latin typeface="Arial"/>
                          <a:ea typeface="Arial"/>
                          <a:cs typeface="Arial"/>
                        </a:rPr>
                        <a:t>Relationship logic</a:t>
                      </a:r>
                    </a:p>
                  </a:txBody>
                  <a:tcPr marL="91440" marR="91440" marT="45720" marB="45720" anchor="ctr">
                    <a:solidFill>
                      <a:srgbClr val="F2F3F5"/>
                    </a:solidFill>
                  </a:tcPr>
                </a:tc>
                <a:tc>
                  <a:txBody>
                    <a:bodyPr lIns="133350" tIns="76200" rIns="114300" bIns="76200"/>
                    <a:lstStyle/>
                    <a:p>
                      <a:r>
                        <a:rPr sz="1725" b="0">
                          <a:solidFill>
                            <a:srgbClr val="111111"/>
                          </a:solidFill>
                          <a:latin typeface="Arial"/>
                          <a:ea typeface="Arial"/>
                          <a:cs typeface="Arial"/>
                        </a:rPr>
                        <a:t>112 positive lags; 12 SS-only exits</a:t>
                      </a:r>
                    </a:p>
                  </a:txBody>
                  <a:tcPr marL="91440" marR="91440" marT="45720" marB="45720" anchor="ctr">
                    <a:solidFill>
                      <a:srgbClr val="F2F3F5"/>
                    </a:solidFill>
                  </a:tcPr>
                </a:tc>
                <a:tc>
                  <a:txBody>
                    <a:bodyPr lIns="133350" tIns="76200" rIns="114300" bIns="76200"/>
                    <a:lstStyle/>
                    <a:p>
                      <a:r>
                        <a:rPr sz="1725" b="0">
                          <a:solidFill>
                            <a:srgbClr val="111111"/>
                          </a:solidFill>
                          <a:latin typeface="Arial"/>
                          <a:ea typeface="Arial"/>
                          <a:cs typeface="Arial"/>
                        </a:rPr>
                        <a:t>Confirm lag purpose and finish handoffs.</a:t>
                      </a:r>
                    </a:p>
                  </a:txBody>
                  <a:tcPr marL="91440" marR="91440" marT="45720" marB="45720" anchor="ctr">
                    <a:solidFill>
                      <a:srgbClr val="F2F3F5"/>
                    </a:solidFill>
                  </a:tcPr>
                </a:tc>
              </a:tr>
              <a:tr h="565150">
                <a:tc>
                  <a:txBody>
                    <a:bodyPr lIns="133350" tIns="76200" rIns="114300" bIns="76200"/>
                    <a:lstStyle/>
                    <a:p>
                      <a:r>
                        <a:rPr sz="1725" b="0">
                          <a:solidFill>
                            <a:srgbClr val="111111"/>
                          </a:solidFill>
                          <a:latin typeface="Arial"/>
                          <a:ea typeface="Arial"/>
                          <a:cs typeface="Arial"/>
                        </a:rPr>
                        <a:t>GF report baseline</a:t>
                      </a:r>
                    </a:p>
                  </a:txBody>
                  <a:tcPr marL="91440" marR="91440" marT="45720" marB="45720" anchor="ctr">
                    <a:solidFill>
                      <a:srgbClr val="FFFFFF"/>
                    </a:solidFill>
                  </a:tcPr>
                </a:tc>
                <a:tc>
                  <a:txBody>
                    <a:bodyPr lIns="133350" tIns="76200" rIns="114300" bIns="76200"/>
                    <a:lstStyle/>
                    <a:p>
                      <a:r>
                        <a:rPr sz="1725" b="0">
                          <a:solidFill>
                            <a:srgbClr val="111111"/>
                          </a:solidFill>
                          <a:latin typeface="Arial"/>
                          <a:ea typeface="Arial"/>
                          <a:cs typeface="Arial"/>
                        </a:rPr>
                        <a:t>7 of 8 BL1 rows differ</a:t>
                      </a:r>
                    </a:p>
                  </a:txBody>
                  <a:tcPr marL="91440" marR="91440" marT="45720" marB="45720" anchor="ctr">
                    <a:solidFill>
                      <a:srgbClr val="FFFFFF"/>
                    </a:solidFill>
                  </a:tcPr>
                </a:tc>
                <a:tc>
                  <a:txBody>
                    <a:bodyPr lIns="133350" tIns="76200" rIns="114300" bIns="76200"/>
                    <a:lstStyle/>
                    <a:p>
                      <a:r>
                        <a:rPr sz="1725" b="0">
                          <a:solidFill>
                            <a:srgbClr val="111111"/>
                          </a:solidFill>
                          <a:latin typeface="Arial"/>
                          <a:ea typeface="Arial"/>
                          <a:cs typeface="Arial"/>
                        </a:rPr>
                        <a:t>Use XML baseline 4516 for comparison.</a:t>
                      </a:r>
                    </a:p>
                  </a:txBody>
                  <a:tcPr marL="91440" marR="91440" marT="45720" marB="45720" anchor="ctr">
                    <a:solidFill>
                      <a:srgbClr val="FFFFFF"/>
                    </a:solidFill>
                  </a:tcPr>
                </a:tc>
              </a:tr>
              <a:tr h="565150">
                <a:tc>
                  <a:txBody>
                    <a:bodyPr lIns="133350" tIns="76200" rIns="114300" bIns="76200"/>
                    <a:lstStyle/>
                    <a:p>
                      <a:r>
                        <a:rPr sz="1725" b="0">
                          <a:solidFill>
                            <a:srgbClr val="111111"/>
                          </a:solidFill>
                          <a:latin typeface="Arial"/>
                          <a:ea typeface="Arial"/>
                          <a:cs typeface="Arial"/>
                        </a:rPr>
                        <a:t>Calendars / cost coverage</a:t>
                      </a:r>
                    </a:p>
                  </a:txBody>
                  <a:tcPr marL="91440" marR="91440" marT="45720" marB="45720" anchor="ctr">
                    <a:solidFill>
                      <a:srgbClr val="F2F3F5"/>
                    </a:solidFill>
                  </a:tcPr>
                </a:tc>
                <a:tc>
                  <a:txBody>
                    <a:bodyPr lIns="133350" tIns="76200" rIns="114300" bIns="76200"/>
                    <a:lstStyle/>
                    <a:p>
                      <a:r>
                        <a:rPr sz="1725" b="0">
                          <a:solidFill>
                            <a:srgbClr val="111111"/>
                          </a:solidFill>
                          <a:latin typeface="Arial"/>
                          <a:ea typeface="Arial"/>
                          <a:cs typeface="Arial"/>
                        </a:rPr>
                        <a:t>Open assumptions</a:t>
                      </a:r>
                    </a:p>
                  </a:txBody>
                  <a:tcPr marL="91440" marR="91440" marT="45720" marB="45720" anchor="ctr">
                    <a:solidFill>
                      <a:srgbClr val="F2F3F5"/>
                    </a:solidFill>
                  </a:tcPr>
                </a:tc>
                <a:tc>
                  <a:txBody>
                    <a:bodyPr lIns="133350" tIns="76200" rIns="114300" bIns="76200"/>
                    <a:lstStyle/>
                    <a:p>
                      <a:r>
                        <a:rPr sz="1725" b="0">
                          <a:solidFill>
                            <a:srgbClr val="111111"/>
                          </a:solidFill>
                          <a:latin typeface="Arial"/>
                          <a:ea typeface="Arial"/>
                          <a:cs typeface="Arial"/>
                        </a:rPr>
                        <a:t>Validate exceptions and package mapping.</a:t>
                      </a:r>
                    </a:p>
                  </a:txBody>
                  <a:tcPr marL="91440" marR="91440" marT="45720" marB="45720" anchor="ctr">
                    <a:solidFill>
                      <a:srgbClr val="F2F3F5"/>
                    </a:solidFill>
                  </a:tcPr>
                </a:tc>
              </a:tr>
            </a:tbl>
          </a:graphicData>
        </a:graphic>
      </p:graphicFrame>
      <p:sp>
        <p:nvSpPr>
          <p:cNvPr id="8" name="text-153">
            <a:extLst xmlns:a="http://schemas.openxmlformats.org/drawingml/2006/main">
              <a:ext uri="{FF2B5EF4-FFF2-40B4-BE49-F238E27FC236}">
                <a16:creationId xmlns:a16="http://schemas.microsoft.com/office/drawing/2014/main" id="{3B0360E1-C89E-4CE3-BBD4-D2A744883B1B}"/>
              </a:ext>
            </a:extLst>
          </p:cNvPr>
          <p:cNvSpPr>
            <a:spLocks xmlns:a="http://schemas.openxmlformats.org/drawingml/2006/main" noGrp="1"/>
          </p:cNvSpPr>
          <p:nvPr/>
        </p:nvSpPr>
        <p:spPr>
          <a:xfrm xmlns:a="http://schemas.openxmlformats.org/drawingml/2006/main">
            <a:off x="609600" y="57435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565E68"/>
                </a:solidFill>
                <a:latin typeface="Arial"/>
                <a:ea typeface="Arial"/>
                <a:cs typeface="Arial"/>
              </a:defRPr>
            </a:pPr>
            <a:r>
              <a:rPr sz="1650" b="0">
                <a:solidFill>
                  <a:srgbClr val="565E68"/>
                </a:solidFill>
                <a:latin typeface="Arial"/>
                <a:ea typeface="Arial"/>
                <a:cs typeface="Arial"/>
              </a:rPr>
              <a:t>High float is screened above 44 own-calendar working days. These are diagnostics, not a DCMA compliance score.</a:t>
            </a:r>
          </a:p>
        </p:txBody>
      </p:sp>
    </p:spTree>
    <p:extLst>
      <p:ext uri="{BB962C8B-B14F-4D97-AF65-F5344CB8AC3E}">
        <p14:creationId xmlns:p14="http://schemas.microsoft.com/office/powerpoint/2010/main" val="157735155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154">
            <a:extLst xmlns:a="http://schemas.openxmlformats.org/drawingml/2006/main">
              <a:ext uri="{FF2B5EF4-FFF2-40B4-BE49-F238E27FC236}">
                <a16:creationId xmlns:a16="http://schemas.microsoft.com/office/drawing/2014/main" id="{C896AEE9-586F-4E0F-A7D0-C561194543D3}"/>
              </a:ext>
            </a:extLst>
          </p:cNvPr>
          <p:cNvSpPr>
            <a:spLocks xmlns:a="http://schemas.openxmlformats.org/drawingml/2006/main" noGrp="1"/>
          </p:cNvSpPr>
          <p:nvPr/>
        </p:nvSpPr>
        <p:spPr>
          <a:xfrm xmlns:a="http://schemas.openxmlformats.org/drawingml/2006/main">
            <a:off x="609600" y="3238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2563EB"/>
                </a:solidFill>
                <a:latin typeface="Arial"/>
                <a:ea typeface="Arial"/>
                <a:cs typeface="Arial"/>
              </a:defRPr>
            </a:pPr>
            <a:r>
              <a:rPr sz="1275" b="1">
                <a:solidFill>
                  <a:srgbClr val="2563EB"/>
                </a:solidFill>
                <a:latin typeface="Arial"/>
                <a:ea typeface="Arial"/>
                <a:cs typeface="Arial"/>
              </a:rPr>
              <a:t>MANAGEMENT RESPONSE</a:t>
            </a:r>
          </a:p>
        </p:txBody>
      </p:sp>
      <p:sp>
        <p:nvSpPr>
          <p:cNvPr id="2" name="slide-13-title">
            <a:extLst xmlns:a="http://schemas.openxmlformats.org/drawingml/2006/main">
              <a:ext uri="{FF2B5EF4-FFF2-40B4-BE49-F238E27FC236}">
                <a16:creationId xmlns:a16="http://schemas.microsoft.com/office/drawing/2014/main" id="{8A9C9A21-7622-4406-A402-03BC4DC7CF69}"/>
              </a:ext>
            </a:extLst>
          </p:cNvPr>
          <p:cNvSpPr>
            <a:spLocks xmlns:a="http://schemas.openxmlformats.org/drawingml/2006/main" noGrp="1"/>
          </p:cNvSpPr>
          <p:nvPr/>
        </p:nvSpPr>
        <p:spPr>
          <a:xfrm xmlns:a="http://schemas.openxmlformats.org/drawingml/2006/main">
            <a:off x="609600" y="7905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111111"/>
                </a:solidFill>
                <a:latin typeface="Arial"/>
                <a:ea typeface="Arial"/>
                <a:cs typeface="Arial"/>
              </a:defRPr>
            </a:pPr>
            <a:r>
              <a:rPr sz="3600" b="1">
                <a:solidFill>
                  <a:srgbClr val="111111"/>
                </a:solidFill>
                <a:latin typeface="Arial"/>
                <a:ea typeface="Arial"/>
                <a:cs typeface="Arial"/>
              </a:rPr>
              <a:t>Three actions drive the next update</a:t>
            </a:r>
          </a:p>
        </p:txBody>
      </p:sp>
      <p:sp>
        <p:nvSpPr>
          <p:cNvPr id="3" name="rule-155">
            <a:extLst xmlns:a="http://schemas.openxmlformats.org/drawingml/2006/main">
              <a:ext uri="{FF2B5EF4-FFF2-40B4-BE49-F238E27FC236}">
                <a16:creationId xmlns:a16="http://schemas.microsoft.com/office/drawing/2014/main" id="{ADCE1CB9-6037-406B-AC38-97C3ABA4EBBA}"/>
              </a:ext>
            </a:extLst>
          </p:cNvPr>
          <p:cNvSpPr>
            <a:spLocks xmlns:a="http://schemas.openxmlformats.org/drawingml/2006/main" noGrp="1"/>
          </p:cNvSpPr>
          <p:nvPr/>
        </p:nvSpPr>
        <p:spPr>
          <a:xfrm xmlns:a="http://schemas.openxmlformats.org/drawingml/2006/main">
            <a:off x="609600" y="6362700"/>
            <a:ext cx="10972800" cy="0"/>
          </a:xfrm>
          <a:prstGeom xmlns:a="http://schemas.openxmlformats.org/drawingml/2006/main" prst="line">
            <a:avLst/>
          </a:prstGeom>
          <a:noFill xmlns:a="http://schemas.openxmlformats.org/drawingml/2006/main"/>
          <a:ln xmlns:a="http://schemas.openxmlformats.org/drawingml/2006/main" w="9525">
            <a:solidFill>
              <a:srgbClr val="D8DDE3"/>
            </a:solidFill>
            <a:prstDash val="solid"/>
          </a:ln>
        </p:spPr>
      </p:sp>
      <p:sp>
        <p:nvSpPr>
          <p:cNvPr id="4" name="text-156">
            <a:extLst xmlns:a="http://schemas.openxmlformats.org/drawingml/2006/main">
              <a:ext uri="{FF2B5EF4-FFF2-40B4-BE49-F238E27FC236}">
                <a16:creationId xmlns:a16="http://schemas.microsoft.com/office/drawing/2014/main" id="{4F3D51B8-63C4-4443-8935-08B12BEAF8AC}"/>
              </a:ext>
            </a:extLst>
          </p:cNvPr>
          <p:cNvSpPr>
            <a:spLocks xmlns:a="http://schemas.openxmlformats.org/drawingml/2006/main" noGrp="1"/>
          </p:cNvSpPr>
          <p:nvPr/>
        </p:nvSpPr>
        <p:spPr>
          <a:xfrm xmlns:a="http://schemas.openxmlformats.org/drawingml/2006/main">
            <a:off x="609600" y="6534150"/>
            <a:ext cx="685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0">
                <a:solidFill>
                  <a:srgbClr val="565E68"/>
                </a:solidFill>
                <a:latin typeface="Arial"/>
                <a:ea typeface="Arial"/>
                <a:cs typeface="Arial"/>
              </a:defRPr>
            </a:pPr>
            <a:r>
              <a:rPr sz="975" b="0">
                <a:solidFill>
                  <a:srgbClr val="565E68"/>
                </a:solidFill>
                <a:latin typeface="Arial"/>
                <a:ea typeface="Arial"/>
                <a:cs typeface="Arial"/>
              </a:rPr>
              <a:t>ALI BAYOUMI  /  PRIMAVERA P6 CASE STUDY</a:t>
            </a:r>
          </a:p>
        </p:txBody>
      </p:sp>
      <p:sp>
        <p:nvSpPr>
          <p:cNvPr id="5" name="text-157">
            <a:extLst xmlns:a="http://schemas.openxmlformats.org/drawingml/2006/main">
              <a:ext uri="{FF2B5EF4-FFF2-40B4-BE49-F238E27FC236}">
                <a16:creationId xmlns:a16="http://schemas.microsoft.com/office/drawing/2014/main" id="{C1066D8D-81CE-45A1-9B94-BF3404CFE700}"/>
              </a:ext>
            </a:extLst>
          </p:cNvPr>
          <p:cNvSpPr>
            <a:spLocks xmlns:a="http://schemas.openxmlformats.org/drawingml/2006/main" noGrp="1"/>
          </p:cNvSpPr>
          <p:nvPr/>
        </p:nvSpPr>
        <p:spPr>
          <a:xfrm xmlns:a="http://schemas.openxmlformats.org/drawingml/2006/main">
            <a:off x="8229600" y="653415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a:solidFill>
                  <a:srgbClr val="565E68"/>
                </a:solidFill>
                <a:latin typeface="Arial"/>
                <a:ea typeface="Arial"/>
                <a:cs typeface="Arial"/>
              </a:defRPr>
            </a:pPr>
            <a:r>
              <a:rPr sz="975" b="0">
                <a:solidFill>
                  <a:srgbClr val="565E68"/>
                </a:solidFill>
                <a:latin typeface="Arial"/>
                <a:ea typeface="Arial"/>
                <a:cs typeface="Arial"/>
              </a:rPr>
              <a:t>SIMULATED PROJECT</a:t>
            </a:r>
          </a:p>
        </p:txBody>
      </p:sp>
      <p:sp>
        <p:nvSpPr>
          <p:cNvPr id="6" name="text-158">
            <a:extLst xmlns:a="http://schemas.openxmlformats.org/drawingml/2006/main">
              <a:ext uri="{FF2B5EF4-FFF2-40B4-BE49-F238E27FC236}">
                <a16:creationId xmlns:a16="http://schemas.microsoft.com/office/drawing/2014/main" id="{D669B13D-0B88-4A0C-83A2-68B273D50F2B}"/>
              </a:ext>
            </a:extLst>
          </p:cNvPr>
          <p:cNvSpPr>
            <a:spLocks xmlns:a="http://schemas.openxmlformats.org/drawingml/2006/main" noGrp="1"/>
          </p:cNvSpPr>
          <p:nvPr/>
        </p:nvSpPr>
        <p:spPr>
          <a:xfrm xmlns:a="http://schemas.openxmlformats.org/drawingml/2006/main">
            <a:off x="11144250" y="64960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111111"/>
                </a:solidFill>
                <a:latin typeface="Arial"/>
                <a:ea typeface="Arial"/>
                <a:cs typeface="Arial"/>
              </a:defRPr>
            </a:pPr>
            <a:r>
              <a:rPr sz="1350" b="0">
                <a:solidFill>
                  <a:srgbClr val="111111"/>
                </a:solidFill>
                <a:latin typeface="Arial"/>
                <a:ea typeface="Arial"/>
                <a:cs typeface="Arial"/>
              </a:rPr>
              <a:t>13</a:t>
            </a:r>
          </a:p>
        </p:txBody>
      </p:sp>
      <p:sp>
        <p:nvSpPr>
          <p:cNvPr id="7" name="text-159">
            <a:extLst xmlns:a="http://schemas.openxmlformats.org/drawingml/2006/main">
              <a:ext uri="{FF2B5EF4-FFF2-40B4-BE49-F238E27FC236}">
                <a16:creationId xmlns:a16="http://schemas.microsoft.com/office/drawing/2014/main" id="{1567E5A5-A582-456B-BE29-25B3003FF58E}"/>
              </a:ext>
            </a:extLst>
          </p:cNvPr>
          <p:cNvSpPr>
            <a:spLocks xmlns:a="http://schemas.openxmlformats.org/drawingml/2006/main" noGrp="1"/>
          </p:cNvSpPr>
          <p:nvPr/>
        </p:nvSpPr>
        <p:spPr>
          <a:xfrm xmlns:a="http://schemas.openxmlformats.org/drawingml/2006/main">
            <a:off x="609600" y="2095500"/>
            <a:ext cx="3333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250" b="1">
                <a:solidFill>
                  <a:srgbClr val="2563EB"/>
                </a:solidFill>
                <a:latin typeface="Arial"/>
                <a:ea typeface="Arial"/>
                <a:cs typeface="Arial"/>
              </a:defRPr>
            </a:pPr>
            <a:r>
              <a:rPr sz="5250" b="1">
                <a:solidFill>
                  <a:srgbClr val="2563EB"/>
                </a:solidFill>
                <a:latin typeface="Arial"/>
                <a:ea typeface="Arial"/>
                <a:cs typeface="Arial"/>
              </a:rPr>
              <a:t>01</a:t>
            </a:r>
          </a:p>
        </p:txBody>
      </p:sp>
      <p:sp>
        <p:nvSpPr>
          <p:cNvPr id="8" name="rule-160">
            <a:extLst xmlns:a="http://schemas.openxmlformats.org/drawingml/2006/main">
              <a:ext uri="{FF2B5EF4-FFF2-40B4-BE49-F238E27FC236}">
                <a16:creationId xmlns:a16="http://schemas.microsoft.com/office/drawing/2014/main" id="{64462017-776A-40E8-A000-00DA0E0576E0}"/>
              </a:ext>
            </a:extLst>
          </p:cNvPr>
          <p:cNvSpPr>
            <a:spLocks xmlns:a="http://schemas.openxmlformats.org/drawingml/2006/main" noGrp="1"/>
          </p:cNvSpPr>
          <p:nvPr/>
        </p:nvSpPr>
        <p:spPr>
          <a:xfrm xmlns:a="http://schemas.openxmlformats.org/drawingml/2006/main">
            <a:off x="609600" y="3190875"/>
            <a:ext cx="3333750" cy="0"/>
          </a:xfrm>
          <a:prstGeom xmlns:a="http://schemas.openxmlformats.org/drawingml/2006/main" prst="line">
            <a:avLst/>
          </a:prstGeom>
          <a:noFill xmlns:a="http://schemas.openxmlformats.org/drawingml/2006/main"/>
          <a:ln xmlns:a="http://schemas.openxmlformats.org/drawingml/2006/main" w="9525">
            <a:solidFill>
              <a:srgbClr val="D8DDE3"/>
            </a:solidFill>
            <a:prstDash val="solid"/>
          </a:ln>
        </p:spPr>
      </p:sp>
      <p:sp>
        <p:nvSpPr>
          <p:cNvPr id="9" name="text-161">
            <a:extLst xmlns:a="http://schemas.openxmlformats.org/drawingml/2006/main">
              <a:ext uri="{FF2B5EF4-FFF2-40B4-BE49-F238E27FC236}">
                <a16:creationId xmlns:a16="http://schemas.microsoft.com/office/drawing/2014/main" id="{6CFDF29D-1F4B-4098-AF94-17AAC2E7EB6E}"/>
              </a:ext>
            </a:extLst>
          </p:cNvPr>
          <p:cNvSpPr>
            <a:spLocks xmlns:a="http://schemas.openxmlformats.org/drawingml/2006/main" noGrp="1"/>
          </p:cNvSpPr>
          <p:nvPr/>
        </p:nvSpPr>
        <p:spPr>
          <a:xfrm xmlns:a="http://schemas.openxmlformats.org/drawingml/2006/main">
            <a:off x="609600" y="35147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rial"/>
                <a:ea typeface="Arial"/>
                <a:cs typeface="Arial"/>
              </a:defRPr>
            </a:pPr>
            <a:r>
              <a:rPr sz="2400" b="1">
                <a:solidFill>
                  <a:srgbClr val="111111"/>
                </a:solidFill>
                <a:latin typeface="Arial"/>
                <a:ea typeface="Arial"/>
                <a:cs typeface="Arial"/>
              </a:rPr>
              <a:t>Protect structure</a:t>
            </a:r>
          </a:p>
        </p:txBody>
      </p:sp>
      <p:sp>
        <p:nvSpPr>
          <p:cNvPr id="10" name="text-162">
            <a:extLst xmlns:a="http://schemas.openxmlformats.org/drawingml/2006/main">
              <a:ext uri="{FF2B5EF4-FFF2-40B4-BE49-F238E27FC236}">
                <a16:creationId xmlns:a16="http://schemas.microsoft.com/office/drawing/2014/main" id="{48883EF3-1DD1-43B8-89DD-1A9110C0A43C}"/>
              </a:ext>
            </a:extLst>
          </p:cNvPr>
          <p:cNvSpPr>
            <a:spLocks xmlns:a="http://schemas.openxmlformats.org/drawingml/2006/main" noGrp="1"/>
          </p:cNvSpPr>
          <p:nvPr/>
        </p:nvSpPr>
        <p:spPr>
          <a:xfrm xmlns:a="http://schemas.openxmlformats.org/drawingml/2006/main">
            <a:off x="609600" y="4229100"/>
            <a:ext cx="33337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565E68"/>
                </a:solidFill>
                <a:latin typeface="Arial"/>
                <a:ea typeface="Arial"/>
                <a:cs typeface="Arial"/>
              </a:defRPr>
            </a:pPr>
            <a:r>
              <a:rPr sz="1950" b="0">
                <a:solidFill>
                  <a:srgbClr val="565E68"/>
                </a:solidFill>
                <a:latin typeface="Arial"/>
                <a:ea typeface="Arial"/>
                <a:cs typeface="Arial"/>
              </a:rPr>
              <a:t>Confirm curing, stripping and next-floor release assumptions. Track the pour and full GF handover separately.</a:t>
            </a:r>
          </a:p>
        </p:txBody>
      </p:sp>
      <p:sp>
        <p:nvSpPr>
          <p:cNvPr id="11" name="text-163">
            <a:extLst xmlns:a="http://schemas.openxmlformats.org/drawingml/2006/main">
              <a:ext uri="{FF2B5EF4-FFF2-40B4-BE49-F238E27FC236}">
                <a16:creationId xmlns:a16="http://schemas.microsoft.com/office/drawing/2014/main" id="{432B139E-6052-423D-8996-5950EF98A32E}"/>
              </a:ext>
            </a:extLst>
          </p:cNvPr>
          <p:cNvSpPr>
            <a:spLocks xmlns:a="http://schemas.openxmlformats.org/drawingml/2006/main" noGrp="1"/>
          </p:cNvSpPr>
          <p:nvPr/>
        </p:nvSpPr>
        <p:spPr>
          <a:xfrm xmlns:a="http://schemas.openxmlformats.org/drawingml/2006/main">
            <a:off x="4362450" y="2095500"/>
            <a:ext cx="3333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250" b="1">
                <a:solidFill>
                  <a:srgbClr val="2563EB"/>
                </a:solidFill>
                <a:latin typeface="Arial"/>
                <a:ea typeface="Arial"/>
                <a:cs typeface="Arial"/>
              </a:defRPr>
            </a:pPr>
            <a:r>
              <a:rPr sz="5250" b="1">
                <a:solidFill>
                  <a:srgbClr val="2563EB"/>
                </a:solidFill>
                <a:latin typeface="Arial"/>
                <a:ea typeface="Arial"/>
                <a:cs typeface="Arial"/>
              </a:rPr>
              <a:t>02</a:t>
            </a:r>
          </a:p>
        </p:txBody>
      </p:sp>
      <p:sp>
        <p:nvSpPr>
          <p:cNvPr id="12" name="rule-164">
            <a:extLst xmlns:a="http://schemas.openxmlformats.org/drawingml/2006/main">
              <a:ext uri="{FF2B5EF4-FFF2-40B4-BE49-F238E27FC236}">
                <a16:creationId xmlns:a16="http://schemas.microsoft.com/office/drawing/2014/main" id="{6B568723-CA09-42C5-B296-64EAE6FFC2BB}"/>
              </a:ext>
            </a:extLst>
          </p:cNvPr>
          <p:cNvSpPr>
            <a:spLocks xmlns:a="http://schemas.openxmlformats.org/drawingml/2006/main" noGrp="1"/>
          </p:cNvSpPr>
          <p:nvPr/>
        </p:nvSpPr>
        <p:spPr>
          <a:xfrm xmlns:a="http://schemas.openxmlformats.org/drawingml/2006/main">
            <a:off x="4362450" y="3190875"/>
            <a:ext cx="3333750" cy="0"/>
          </a:xfrm>
          <a:prstGeom xmlns:a="http://schemas.openxmlformats.org/drawingml/2006/main" prst="line">
            <a:avLst/>
          </a:prstGeom>
          <a:noFill xmlns:a="http://schemas.openxmlformats.org/drawingml/2006/main"/>
          <a:ln xmlns:a="http://schemas.openxmlformats.org/drawingml/2006/main" w="9525">
            <a:solidFill>
              <a:srgbClr val="D8DDE3"/>
            </a:solidFill>
            <a:prstDash val="solid"/>
          </a:ln>
        </p:spPr>
      </p:sp>
      <p:sp>
        <p:nvSpPr>
          <p:cNvPr id="13" name="text-165">
            <a:extLst xmlns:a="http://schemas.openxmlformats.org/drawingml/2006/main">
              <a:ext uri="{FF2B5EF4-FFF2-40B4-BE49-F238E27FC236}">
                <a16:creationId xmlns:a16="http://schemas.microsoft.com/office/drawing/2014/main" id="{16BE3C26-7F5A-49E5-B596-4D8B3B0B6CFE}"/>
              </a:ext>
            </a:extLst>
          </p:cNvPr>
          <p:cNvSpPr>
            <a:spLocks xmlns:a="http://schemas.openxmlformats.org/drawingml/2006/main" noGrp="1"/>
          </p:cNvSpPr>
          <p:nvPr/>
        </p:nvSpPr>
        <p:spPr>
          <a:xfrm xmlns:a="http://schemas.openxmlformats.org/drawingml/2006/main">
            <a:off x="4362450" y="35147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rial"/>
                <a:ea typeface="Arial"/>
                <a:cs typeface="Arial"/>
              </a:defRPr>
            </a:pPr>
            <a:r>
              <a:rPr sz="2400" b="1">
                <a:solidFill>
                  <a:srgbClr val="111111"/>
                </a:solidFill>
                <a:latin typeface="Arial"/>
                <a:ea typeface="Arial"/>
                <a:cs typeface="Arial"/>
              </a:rPr>
              <a:t>Release MEP gates</a:t>
            </a:r>
          </a:p>
        </p:txBody>
      </p:sp>
      <p:sp>
        <p:nvSpPr>
          <p:cNvPr id="14" name="text-166">
            <a:extLst xmlns:a="http://schemas.openxmlformats.org/drawingml/2006/main">
              <a:ext uri="{FF2B5EF4-FFF2-40B4-BE49-F238E27FC236}">
                <a16:creationId xmlns:a16="http://schemas.microsoft.com/office/drawing/2014/main" id="{BA125DD8-FF2B-4E39-943B-85A42BACD46A}"/>
              </a:ext>
            </a:extLst>
          </p:cNvPr>
          <p:cNvSpPr>
            <a:spLocks xmlns:a="http://schemas.openxmlformats.org/drawingml/2006/main" noGrp="1"/>
          </p:cNvSpPr>
          <p:nvPr/>
        </p:nvSpPr>
        <p:spPr>
          <a:xfrm xmlns:a="http://schemas.openxmlformats.org/drawingml/2006/main">
            <a:off x="4362450" y="4229100"/>
            <a:ext cx="33337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565E68"/>
                </a:solidFill>
                <a:latin typeface="Arial"/>
                <a:ea typeface="Arial"/>
                <a:cs typeface="Arial"/>
              </a:defRPr>
            </a:pPr>
            <a:r>
              <a:rPr sz="1950" b="0">
                <a:solidFill>
                  <a:srgbClr val="565E68"/>
                </a:solidFill>
                <a:latin typeface="Arial"/>
                <a:ea typeface="Arial"/>
                <a:cs typeface="Arial"/>
              </a:rPr>
              <a:t>Track manufacture, FAT, delivery, inspection and approval. Keep June 30 starts inside the lookahead.</a:t>
            </a:r>
          </a:p>
        </p:txBody>
      </p:sp>
      <p:sp>
        <p:nvSpPr>
          <p:cNvPr id="15" name="text-167">
            <a:extLst xmlns:a="http://schemas.openxmlformats.org/drawingml/2006/main">
              <a:ext uri="{FF2B5EF4-FFF2-40B4-BE49-F238E27FC236}">
                <a16:creationId xmlns:a16="http://schemas.microsoft.com/office/drawing/2014/main" id="{4DC8CA9D-68AF-43C2-AC93-6D7D46129A79}"/>
              </a:ext>
            </a:extLst>
          </p:cNvPr>
          <p:cNvSpPr>
            <a:spLocks xmlns:a="http://schemas.openxmlformats.org/drawingml/2006/main" noGrp="1"/>
          </p:cNvSpPr>
          <p:nvPr/>
        </p:nvSpPr>
        <p:spPr>
          <a:xfrm xmlns:a="http://schemas.openxmlformats.org/drawingml/2006/main">
            <a:off x="8115300" y="2095500"/>
            <a:ext cx="3333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250" b="1">
                <a:solidFill>
                  <a:srgbClr val="2563EB"/>
                </a:solidFill>
                <a:latin typeface="Arial"/>
                <a:ea typeface="Arial"/>
                <a:cs typeface="Arial"/>
              </a:defRPr>
            </a:pPr>
            <a:r>
              <a:rPr sz="5250" b="1">
                <a:solidFill>
                  <a:srgbClr val="2563EB"/>
                </a:solidFill>
                <a:latin typeface="Arial"/>
                <a:ea typeface="Arial"/>
                <a:cs typeface="Arial"/>
              </a:rPr>
              <a:t>03</a:t>
            </a:r>
          </a:p>
        </p:txBody>
      </p:sp>
      <p:sp>
        <p:nvSpPr>
          <p:cNvPr id="16" name="rule-168">
            <a:extLst xmlns:a="http://schemas.openxmlformats.org/drawingml/2006/main">
              <a:ext uri="{FF2B5EF4-FFF2-40B4-BE49-F238E27FC236}">
                <a16:creationId xmlns:a16="http://schemas.microsoft.com/office/drawing/2014/main" id="{33BB0556-4CBF-4526-A83C-86032C2E3A99}"/>
              </a:ext>
            </a:extLst>
          </p:cNvPr>
          <p:cNvSpPr>
            <a:spLocks xmlns:a="http://schemas.openxmlformats.org/drawingml/2006/main" noGrp="1"/>
          </p:cNvSpPr>
          <p:nvPr/>
        </p:nvSpPr>
        <p:spPr>
          <a:xfrm xmlns:a="http://schemas.openxmlformats.org/drawingml/2006/main">
            <a:off x="8115300" y="3190875"/>
            <a:ext cx="3333750" cy="0"/>
          </a:xfrm>
          <a:prstGeom xmlns:a="http://schemas.openxmlformats.org/drawingml/2006/main" prst="line">
            <a:avLst/>
          </a:prstGeom>
          <a:noFill xmlns:a="http://schemas.openxmlformats.org/drawingml/2006/main"/>
          <a:ln xmlns:a="http://schemas.openxmlformats.org/drawingml/2006/main" w="9525">
            <a:solidFill>
              <a:srgbClr val="D8DDE3"/>
            </a:solidFill>
            <a:prstDash val="solid"/>
          </a:ln>
        </p:spPr>
      </p:sp>
      <p:sp>
        <p:nvSpPr>
          <p:cNvPr id="17" name="text-169">
            <a:extLst xmlns:a="http://schemas.openxmlformats.org/drawingml/2006/main">
              <a:ext uri="{FF2B5EF4-FFF2-40B4-BE49-F238E27FC236}">
                <a16:creationId xmlns:a16="http://schemas.microsoft.com/office/drawing/2014/main" id="{527B98CA-C39A-4AD1-AC9B-96927236A1F5}"/>
              </a:ext>
            </a:extLst>
          </p:cNvPr>
          <p:cNvSpPr>
            <a:spLocks xmlns:a="http://schemas.openxmlformats.org/drawingml/2006/main" noGrp="1"/>
          </p:cNvSpPr>
          <p:nvPr/>
        </p:nvSpPr>
        <p:spPr>
          <a:xfrm xmlns:a="http://schemas.openxmlformats.org/drawingml/2006/main">
            <a:off x="8115300" y="35147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rial"/>
                <a:ea typeface="Arial"/>
                <a:cs typeface="Arial"/>
              </a:defRPr>
            </a:pPr>
            <a:r>
              <a:rPr sz="2400" b="1">
                <a:solidFill>
                  <a:srgbClr val="111111"/>
                </a:solidFill>
                <a:latin typeface="Arial"/>
                <a:ea typeface="Arial"/>
                <a:cs typeface="Arial"/>
              </a:rPr>
              <a:t>Control exceptions</a:t>
            </a:r>
          </a:p>
        </p:txBody>
      </p:sp>
      <p:sp>
        <p:nvSpPr>
          <p:cNvPr id="18" name="text-170">
            <a:extLst xmlns:a="http://schemas.openxmlformats.org/drawingml/2006/main">
              <a:ext uri="{FF2B5EF4-FFF2-40B4-BE49-F238E27FC236}">
                <a16:creationId xmlns:a16="http://schemas.microsoft.com/office/drawing/2014/main" id="{B9BCECC7-BBC0-4356-B8D5-AFEE93F6EC4D}"/>
              </a:ext>
            </a:extLst>
          </p:cNvPr>
          <p:cNvSpPr>
            <a:spLocks xmlns:a="http://schemas.openxmlformats.org/drawingml/2006/main" noGrp="1"/>
          </p:cNvSpPr>
          <p:nvPr/>
        </p:nvSpPr>
        <p:spPr>
          <a:xfrm xmlns:a="http://schemas.openxmlformats.org/drawingml/2006/main">
            <a:off x="8115300" y="4229100"/>
            <a:ext cx="33337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565E68"/>
                </a:solidFill>
                <a:latin typeface="Arial"/>
                <a:ea typeface="Arial"/>
                <a:cs typeface="Arial"/>
              </a:defRPr>
            </a:pPr>
            <a:r>
              <a:rPr sz="1950" b="0">
                <a:solidFill>
                  <a:srgbClr val="565E68"/>
                </a:solidFill>
                <a:latin typeface="Arial"/>
                <a:ea typeface="Arial"/>
                <a:cs typeface="Arial"/>
              </a:rPr>
              <a:t>Explain completed-work overruns. Reconcile leveling delays and correct the report baseline assignment.</a:t>
            </a:r>
          </a:p>
        </p:txBody>
      </p:sp>
    </p:spTree>
    <p:extLst>
      <p:ext uri="{BB962C8B-B14F-4D97-AF65-F5344CB8AC3E}">
        <p14:creationId xmlns:p14="http://schemas.microsoft.com/office/powerpoint/2010/main" val="71600343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171">
            <a:extLst xmlns:a="http://schemas.openxmlformats.org/drawingml/2006/main">
              <a:ext uri="{FF2B5EF4-FFF2-40B4-BE49-F238E27FC236}">
                <a16:creationId xmlns:a16="http://schemas.microsoft.com/office/drawing/2014/main" id="{0F1EF1F1-D9FF-4321-A8E4-8A65A65C5A98}"/>
              </a:ext>
            </a:extLst>
          </p:cNvPr>
          <p:cNvSpPr>
            <a:spLocks xmlns:a="http://schemas.openxmlformats.org/drawingml/2006/main" noGrp="1"/>
          </p:cNvSpPr>
          <p:nvPr/>
        </p:nvSpPr>
        <p:spPr>
          <a:xfrm xmlns:a="http://schemas.openxmlformats.org/drawingml/2006/main">
            <a:off x="609600" y="3238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2563EB"/>
                </a:solidFill>
                <a:latin typeface="Arial"/>
                <a:ea typeface="Arial"/>
                <a:cs typeface="Arial"/>
              </a:defRPr>
            </a:pPr>
            <a:r>
              <a:rPr sz="1275" b="1">
                <a:solidFill>
                  <a:srgbClr val="2563EB"/>
                </a:solidFill>
                <a:latin typeface="Arial"/>
                <a:ea typeface="Arial"/>
                <a:cs typeface="Arial"/>
              </a:rPr>
              <a:t>REPORTING EVIDENCE</a:t>
            </a:r>
          </a:p>
        </p:txBody>
      </p:sp>
      <p:sp>
        <p:nvSpPr>
          <p:cNvPr id="2" name="slide-14-title">
            <a:extLst xmlns:a="http://schemas.openxmlformats.org/drawingml/2006/main">
              <a:ext uri="{FF2B5EF4-FFF2-40B4-BE49-F238E27FC236}">
                <a16:creationId xmlns:a16="http://schemas.microsoft.com/office/drawing/2014/main" id="{ABFF7C9E-862F-421A-878B-B8F3F5B8347B}"/>
              </a:ext>
            </a:extLst>
          </p:cNvPr>
          <p:cNvSpPr>
            <a:spLocks xmlns:a="http://schemas.openxmlformats.org/drawingml/2006/main" noGrp="1"/>
          </p:cNvSpPr>
          <p:nvPr/>
        </p:nvSpPr>
        <p:spPr>
          <a:xfrm xmlns:a="http://schemas.openxmlformats.org/drawingml/2006/main">
            <a:off x="609600" y="7905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111111"/>
                </a:solidFill>
                <a:latin typeface="Arial"/>
                <a:ea typeface="Arial"/>
                <a:cs typeface="Arial"/>
              </a:defRPr>
            </a:pPr>
            <a:r>
              <a:rPr sz="3600" b="1">
                <a:solidFill>
                  <a:srgbClr val="111111"/>
                </a:solidFill>
                <a:latin typeface="Arial"/>
                <a:ea typeface="Arial"/>
                <a:cs typeface="Arial"/>
              </a:rPr>
              <a:t>The reporting pack stays linked to the model</a:t>
            </a:r>
          </a:p>
        </p:txBody>
      </p:sp>
      <p:sp>
        <p:nvSpPr>
          <p:cNvPr id="3" name="rule-172">
            <a:extLst xmlns:a="http://schemas.openxmlformats.org/drawingml/2006/main">
              <a:ext uri="{FF2B5EF4-FFF2-40B4-BE49-F238E27FC236}">
                <a16:creationId xmlns:a16="http://schemas.microsoft.com/office/drawing/2014/main" id="{226C9BDA-5353-4285-B805-3CB6B7408596}"/>
              </a:ext>
            </a:extLst>
          </p:cNvPr>
          <p:cNvSpPr>
            <a:spLocks xmlns:a="http://schemas.openxmlformats.org/drawingml/2006/main" noGrp="1"/>
          </p:cNvSpPr>
          <p:nvPr/>
        </p:nvSpPr>
        <p:spPr>
          <a:xfrm xmlns:a="http://schemas.openxmlformats.org/drawingml/2006/main">
            <a:off x="609600" y="6362700"/>
            <a:ext cx="10972800" cy="0"/>
          </a:xfrm>
          <a:prstGeom xmlns:a="http://schemas.openxmlformats.org/drawingml/2006/main" prst="line">
            <a:avLst/>
          </a:prstGeom>
          <a:noFill xmlns:a="http://schemas.openxmlformats.org/drawingml/2006/main"/>
          <a:ln xmlns:a="http://schemas.openxmlformats.org/drawingml/2006/main" w="9525">
            <a:solidFill>
              <a:srgbClr val="D8DDE3"/>
            </a:solidFill>
            <a:prstDash val="solid"/>
          </a:ln>
        </p:spPr>
      </p:sp>
      <p:sp>
        <p:nvSpPr>
          <p:cNvPr id="4" name="text-173">
            <a:extLst xmlns:a="http://schemas.openxmlformats.org/drawingml/2006/main">
              <a:ext uri="{FF2B5EF4-FFF2-40B4-BE49-F238E27FC236}">
                <a16:creationId xmlns:a16="http://schemas.microsoft.com/office/drawing/2014/main" id="{04FB3F73-619E-47A1-B013-93E86C5DD7D2}"/>
              </a:ext>
            </a:extLst>
          </p:cNvPr>
          <p:cNvSpPr>
            <a:spLocks xmlns:a="http://schemas.openxmlformats.org/drawingml/2006/main" noGrp="1"/>
          </p:cNvSpPr>
          <p:nvPr/>
        </p:nvSpPr>
        <p:spPr>
          <a:xfrm xmlns:a="http://schemas.openxmlformats.org/drawingml/2006/main">
            <a:off x="609600" y="6534150"/>
            <a:ext cx="685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0">
                <a:solidFill>
                  <a:srgbClr val="565E68"/>
                </a:solidFill>
                <a:latin typeface="Arial"/>
                <a:ea typeface="Arial"/>
                <a:cs typeface="Arial"/>
              </a:defRPr>
            </a:pPr>
            <a:r>
              <a:rPr sz="975" b="0">
                <a:solidFill>
                  <a:srgbClr val="565E68"/>
                </a:solidFill>
                <a:latin typeface="Arial"/>
                <a:ea typeface="Arial"/>
                <a:cs typeface="Arial"/>
              </a:rPr>
              <a:t>ALI BAYOUMI  /  PRIMAVERA P6 CASE STUDY</a:t>
            </a:r>
          </a:p>
        </p:txBody>
      </p:sp>
      <p:sp>
        <p:nvSpPr>
          <p:cNvPr id="5" name="text-174">
            <a:extLst xmlns:a="http://schemas.openxmlformats.org/drawingml/2006/main">
              <a:ext uri="{FF2B5EF4-FFF2-40B4-BE49-F238E27FC236}">
                <a16:creationId xmlns:a16="http://schemas.microsoft.com/office/drawing/2014/main" id="{E168900A-FD82-40FD-BD61-6B81D1EE75CA}"/>
              </a:ext>
            </a:extLst>
          </p:cNvPr>
          <p:cNvSpPr>
            <a:spLocks xmlns:a="http://schemas.openxmlformats.org/drawingml/2006/main" noGrp="1"/>
          </p:cNvSpPr>
          <p:nvPr/>
        </p:nvSpPr>
        <p:spPr>
          <a:xfrm xmlns:a="http://schemas.openxmlformats.org/drawingml/2006/main">
            <a:off x="8229600" y="653415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a:solidFill>
                  <a:srgbClr val="565E68"/>
                </a:solidFill>
                <a:latin typeface="Arial"/>
                <a:ea typeface="Arial"/>
                <a:cs typeface="Arial"/>
              </a:defRPr>
            </a:pPr>
            <a:r>
              <a:rPr sz="975" b="0">
                <a:solidFill>
                  <a:srgbClr val="565E68"/>
                </a:solidFill>
                <a:latin typeface="Arial"/>
                <a:ea typeface="Arial"/>
                <a:cs typeface="Arial"/>
              </a:rPr>
              <a:t>SIMULATED PROJECT</a:t>
            </a:r>
          </a:p>
        </p:txBody>
      </p:sp>
      <p:sp>
        <p:nvSpPr>
          <p:cNvPr id="6" name="text-175">
            <a:extLst xmlns:a="http://schemas.openxmlformats.org/drawingml/2006/main">
              <a:ext uri="{FF2B5EF4-FFF2-40B4-BE49-F238E27FC236}">
                <a16:creationId xmlns:a16="http://schemas.microsoft.com/office/drawing/2014/main" id="{59BB79DC-9C89-437D-A4B8-50C5C7A10CAC}"/>
              </a:ext>
            </a:extLst>
          </p:cNvPr>
          <p:cNvSpPr>
            <a:spLocks xmlns:a="http://schemas.openxmlformats.org/drawingml/2006/main" noGrp="1"/>
          </p:cNvSpPr>
          <p:nvPr/>
        </p:nvSpPr>
        <p:spPr>
          <a:xfrm xmlns:a="http://schemas.openxmlformats.org/drawingml/2006/main">
            <a:off x="11144250" y="64960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111111"/>
                </a:solidFill>
                <a:latin typeface="Arial"/>
                <a:ea typeface="Arial"/>
                <a:cs typeface="Arial"/>
              </a:defRPr>
            </a:pPr>
            <a:r>
              <a:rPr sz="1350" b="0">
                <a:solidFill>
                  <a:srgbClr val="111111"/>
                </a:solidFill>
                <a:latin typeface="Arial"/>
                <a:ea typeface="Arial"/>
                <a:cs typeface="Arial"/>
              </a:rPr>
              <a:t>14</a:t>
            </a:r>
          </a:p>
        </p:txBody>
      </p:sp>
      <p:sp>
        <p:nvSpPr>
          <p:cNvPr id="7" name="text-176">
            <a:extLst xmlns:a="http://schemas.openxmlformats.org/drawingml/2006/main">
              <a:ext uri="{FF2B5EF4-FFF2-40B4-BE49-F238E27FC236}">
                <a16:creationId xmlns:a16="http://schemas.microsoft.com/office/drawing/2014/main" id="{52C02961-91FA-4E3F-A3CF-82B2CC8D311D}"/>
              </a:ext>
            </a:extLst>
          </p:cNvPr>
          <p:cNvSpPr>
            <a:spLocks xmlns:a="http://schemas.openxmlformats.org/drawingml/2006/main" noGrp="1"/>
          </p:cNvSpPr>
          <p:nvPr/>
        </p:nvSpPr>
        <p:spPr>
          <a:xfrm xmlns:a="http://schemas.openxmlformats.org/drawingml/2006/main">
            <a:off x="609600" y="2066925"/>
            <a:ext cx="6896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rial"/>
                <a:ea typeface="Arial"/>
                <a:cs typeface="Arial"/>
              </a:defRPr>
            </a:pPr>
            <a:r>
              <a:rPr sz="2400" b="1">
                <a:solidFill>
                  <a:srgbClr val="111111"/>
                </a:solidFill>
                <a:latin typeface="Arial"/>
                <a:ea typeface="Arial"/>
                <a:cs typeface="Arial"/>
              </a:rPr>
              <a:t>Original P6 output</a:t>
            </a:r>
          </a:p>
        </p:txBody>
      </p:sp>
      <p:sp>
        <p:nvSpPr>
          <p:cNvPr id="8" name="text-177">
            <a:extLst xmlns:a="http://schemas.openxmlformats.org/drawingml/2006/main">
              <a:ext uri="{FF2B5EF4-FFF2-40B4-BE49-F238E27FC236}">
                <a16:creationId xmlns:a16="http://schemas.microsoft.com/office/drawing/2014/main" id="{DE076FAF-99FE-4A86-A628-5CA1DCF3FBA4}"/>
              </a:ext>
            </a:extLst>
          </p:cNvPr>
          <p:cNvSpPr>
            <a:spLocks xmlns:a="http://schemas.openxmlformats.org/drawingml/2006/main" noGrp="1"/>
          </p:cNvSpPr>
          <p:nvPr/>
        </p:nvSpPr>
        <p:spPr>
          <a:xfrm xmlns:a="http://schemas.openxmlformats.org/drawingml/2006/main">
            <a:off x="609600" y="2676525"/>
            <a:ext cx="6896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565E68"/>
                </a:solidFill>
                <a:latin typeface="Arial"/>
                <a:ea typeface="Arial"/>
                <a:cs typeface="Arial"/>
              </a:defRPr>
            </a:pPr>
            <a:r>
              <a:rPr sz="1650" b="0">
                <a:solidFill>
                  <a:srgbClr val="565E68"/>
                </a:solidFill>
                <a:latin typeface="Arial"/>
                <a:ea typeface="Arial"/>
                <a:cs typeface="Arial"/>
              </a:rPr>
              <a:t>OFF-04 · Earned Value Summary · 01 Apr 2027</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5c3f85f17fb44d96"/>
          <a:srcRect xmlns:a="http://schemas.openxmlformats.org/drawingml/2006/main" l="13462" t="60000" r="67872" b="0"/>
          <a:stretch xmlns:a="http://schemas.openxmlformats.org/drawingml/2006/main">
            <a:fillRect l="0" t="0" r="0" b="0"/>
          </a:stretch>
        </p:blipFill>
        <p:spPr>
          <a:xfrm xmlns:a="http://schemas.openxmlformats.org/drawingml/2006/main">
            <a:off x="609600" y="3524250"/>
            <a:ext cx="6896100" cy="1250392"/>
          </a:xfrm>
          <a:prstGeom xmlns:a="http://schemas.openxmlformats.org/drawingml/2006/main" prst="rect">
            <a:avLst/>
          </a:prstGeom>
        </p:spPr>
      </p:pic>
      <p:sp>
        <p:nvSpPr>
          <p:cNvPr id="10" name="text-178">
            <a:extLst xmlns:a="http://schemas.openxmlformats.org/drawingml/2006/main">
              <a:ext uri="{FF2B5EF4-FFF2-40B4-BE49-F238E27FC236}">
                <a16:creationId xmlns:a16="http://schemas.microsoft.com/office/drawing/2014/main" id="{085EFD42-3ED8-430E-BAFE-1BA312C8720F}"/>
              </a:ext>
            </a:extLst>
          </p:cNvPr>
          <p:cNvSpPr>
            <a:spLocks xmlns:a="http://schemas.openxmlformats.org/drawingml/2006/main" noGrp="1"/>
          </p:cNvSpPr>
          <p:nvPr/>
        </p:nvSpPr>
        <p:spPr>
          <a:xfrm xmlns:a="http://schemas.openxmlformats.org/drawingml/2006/main">
            <a:off x="609600" y="5267325"/>
            <a:ext cx="6896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565E68"/>
                </a:solidFill>
                <a:latin typeface="Arial"/>
                <a:ea typeface="Arial"/>
                <a:cs typeface="Arial"/>
              </a:defRPr>
            </a:pPr>
            <a:r>
              <a:rPr sz="1950" b="0">
                <a:solidFill>
                  <a:srgbClr val="565E68"/>
                </a:solidFill>
                <a:latin typeface="Arial"/>
                <a:ea typeface="Arial"/>
                <a:cs typeface="Arial"/>
              </a:rPr>
              <a:t>The source amounts underpin the editable EVM charts and the variance analysis.</a:t>
            </a:r>
          </a:p>
        </p:txBody>
      </p:sp>
      <p:sp>
        <p:nvSpPr>
          <p:cNvPr id="11" name="text-179">
            <a:extLst xmlns:a="http://schemas.openxmlformats.org/drawingml/2006/main">
              <a:ext uri="{FF2B5EF4-FFF2-40B4-BE49-F238E27FC236}">
                <a16:creationId xmlns:a16="http://schemas.microsoft.com/office/drawing/2014/main" id="{BA5FB6BD-EFCF-4A35-B56E-07F7CC0800E0}"/>
              </a:ext>
            </a:extLst>
          </p:cNvPr>
          <p:cNvSpPr>
            <a:spLocks xmlns:a="http://schemas.openxmlformats.org/drawingml/2006/main" noGrp="1"/>
          </p:cNvSpPr>
          <p:nvPr/>
        </p:nvSpPr>
        <p:spPr>
          <a:xfrm xmlns:a="http://schemas.openxmlformats.org/drawingml/2006/main">
            <a:off x="8020050" y="2066925"/>
            <a:ext cx="3562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rial"/>
                <a:ea typeface="Arial"/>
                <a:cs typeface="Arial"/>
              </a:defRPr>
            </a:pPr>
            <a:r>
              <a:rPr sz="2400" b="1">
                <a:solidFill>
                  <a:srgbClr val="111111"/>
                </a:solidFill>
                <a:latin typeface="Arial"/>
                <a:ea typeface="Arial"/>
                <a:cs typeface="Arial"/>
              </a:rPr>
              <a:t>Five P6 reports</a:t>
            </a:r>
          </a:p>
        </p:txBody>
      </p:sp>
      <p:sp>
        <p:nvSpPr>
          <p:cNvPr id="12" name="text-180">
            <a:extLst xmlns:a="http://schemas.openxmlformats.org/drawingml/2006/main">
              <a:ext uri="{FF2B5EF4-FFF2-40B4-BE49-F238E27FC236}">
                <a16:creationId xmlns:a16="http://schemas.microsoft.com/office/drawing/2014/main" id="{0D9BF170-566A-4E94-B629-12134EDE432A}"/>
              </a:ext>
            </a:extLst>
          </p:cNvPr>
          <p:cNvSpPr>
            <a:spLocks xmlns:a="http://schemas.openxmlformats.org/drawingml/2006/main" noGrp="1"/>
          </p:cNvSpPr>
          <p:nvPr/>
        </p:nvSpPr>
        <p:spPr>
          <a:xfrm xmlns:a="http://schemas.openxmlformats.org/drawingml/2006/main">
            <a:off x="8020050" y="2781300"/>
            <a:ext cx="356235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565E68"/>
                </a:solidFill>
                <a:latin typeface="Arial"/>
                <a:ea typeface="Arial"/>
                <a:cs typeface="Arial"/>
              </a:defRPr>
            </a:pPr>
            <a:r>
              <a:rPr sz="2025" b="0">
                <a:solidFill>
                  <a:srgbClr val="565E68"/>
                </a:solidFill>
                <a:latin typeface="Arial"/>
                <a:ea typeface="Arial"/>
                <a:cs typeface="Arial"/>
              </a:rPr>
              <a:t>Labor crew loading</a:t>
            </a:r>
          </a:p>
          <a:p xmlns:a="http://schemas.openxmlformats.org/drawingml/2006/main">
            <a:pPr algn="l">
              <a:buNone/>
              <a:defRPr sz="2025" b="0">
                <a:solidFill>
                  <a:srgbClr val="565E68"/>
                </a:solidFill>
                <a:latin typeface="Arial"/>
                <a:ea typeface="Arial"/>
                <a:cs typeface="Arial"/>
              </a:defRPr>
            </a:pPr>
            <a:r>
              <a:rPr sz="2025" b="0">
                <a:solidFill>
                  <a:srgbClr val="565E68"/>
                </a:solidFill>
                <a:latin typeface="Arial"/>
                <a:ea typeface="Arial"/>
                <a:cs typeface="Arial"/>
              </a:rPr>
              <a:t>Earned value summary</a:t>
            </a:r>
          </a:p>
          <a:p xmlns:a="http://schemas.openxmlformats.org/drawingml/2006/main">
            <a:pPr algn="l">
              <a:buNone/>
              <a:defRPr sz="2025" b="0">
                <a:solidFill>
                  <a:srgbClr val="565E68"/>
                </a:solidFill>
                <a:latin typeface="Arial"/>
                <a:ea typeface="Arial"/>
                <a:cs typeface="Arial"/>
              </a:defRPr>
            </a:pPr>
            <a:r>
              <a:rPr sz="2025" b="0">
                <a:solidFill>
                  <a:srgbClr val="565E68"/>
                </a:solidFill>
                <a:latin typeface="Arial"/>
                <a:ea typeface="Arial"/>
                <a:cs typeface="Arial"/>
              </a:rPr>
              <a:t>PV / EV / AC curve</a:t>
            </a:r>
          </a:p>
          <a:p xmlns:a="http://schemas.openxmlformats.org/drawingml/2006/main">
            <a:pPr algn="l">
              <a:buNone/>
              <a:defRPr sz="2025" b="0">
                <a:solidFill>
                  <a:srgbClr val="565E68"/>
                </a:solidFill>
                <a:latin typeface="Arial"/>
                <a:ea typeface="Arial"/>
                <a:cs typeface="Arial"/>
              </a:defRPr>
            </a:pPr>
            <a:r>
              <a:rPr sz="2025" b="0">
                <a:solidFill>
                  <a:srgbClr val="565E68"/>
                </a:solidFill>
                <a:latin typeface="Arial"/>
                <a:ea typeface="Arial"/>
                <a:cs typeface="Arial"/>
              </a:rPr>
              <a:t>GF structural extract</a:t>
            </a:r>
          </a:p>
          <a:p xmlns:a="http://schemas.openxmlformats.org/drawingml/2006/main">
            <a:pPr algn="l">
              <a:buNone/>
              <a:defRPr sz="2025" b="0">
                <a:solidFill>
                  <a:srgbClr val="565E68"/>
                </a:solidFill>
                <a:latin typeface="Arial"/>
                <a:ea typeface="Arial"/>
                <a:cs typeface="Arial"/>
              </a:defRPr>
            </a:pPr>
            <a:r>
              <a:rPr sz="2025" b="0">
                <a:solidFill>
                  <a:srgbClr val="565E68"/>
                </a:solidFill>
                <a:latin typeface="Arial"/>
                <a:ea typeface="Arial"/>
                <a:cs typeface="Arial"/>
              </a:rPr>
              <a:t>90-day lookahead</a:t>
            </a:r>
          </a:p>
        </p:txBody>
      </p:sp>
      <p:sp>
        <p:nvSpPr>
          <p:cNvPr id="13" name="text-181">
            <a:extLst xmlns:a="http://schemas.openxmlformats.org/drawingml/2006/main">
              <a:ext uri="{FF2B5EF4-FFF2-40B4-BE49-F238E27FC236}">
                <a16:creationId xmlns:a16="http://schemas.microsoft.com/office/drawing/2014/main" id="{C59B7FD3-6410-4684-A3E0-25ED81DC0B7C}"/>
              </a:ext>
            </a:extLst>
          </p:cNvPr>
          <p:cNvSpPr>
            <a:spLocks xmlns:a="http://schemas.openxmlformats.org/drawingml/2006/main" noGrp="1"/>
          </p:cNvSpPr>
          <p:nvPr/>
        </p:nvSpPr>
        <p:spPr>
          <a:xfrm xmlns:a="http://schemas.openxmlformats.org/drawingml/2006/main">
            <a:off x="8020050" y="5162550"/>
            <a:ext cx="35623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65E68"/>
                </a:solidFill>
                <a:latin typeface="Arial"/>
                <a:ea typeface="Arial"/>
                <a:cs typeface="Arial"/>
              </a:defRPr>
            </a:pPr>
            <a:r>
              <a:rPr sz="1800" b="0">
                <a:solidFill>
                  <a:srgbClr val="565E68"/>
                </a:solidFill>
                <a:latin typeface="Arial"/>
                <a:ea typeface="Arial"/>
                <a:cs typeface="Arial"/>
              </a:rPr>
              <a:t>Original outputs are retained alongside the corrected analytical comparisons.</a:t>
            </a:r>
          </a:p>
        </p:txBody>
      </p:sp>
    </p:spTree>
    <p:extLst>
      <p:ext uri="{BB962C8B-B14F-4D97-AF65-F5344CB8AC3E}">
        <p14:creationId xmlns:p14="http://schemas.microsoft.com/office/powerpoint/2010/main" val="41132744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182">
            <a:extLst xmlns:a="http://schemas.openxmlformats.org/drawingml/2006/main">
              <a:ext uri="{FF2B5EF4-FFF2-40B4-BE49-F238E27FC236}">
                <a16:creationId xmlns:a16="http://schemas.microsoft.com/office/drawing/2014/main" id="{45A1E2CC-DBEA-4A6C-A7E7-4E3FC7CAE52C}"/>
              </a:ext>
            </a:extLst>
          </p:cNvPr>
          <p:cNvSpPr>
            <a:spLocks xmlns:a="http://schemas.openxmlformats.org/drawingml/2006/main" noGrp="1"/>
          </p:cNvSpPr>
          <p:nvPr/>
        </p:nvSpPr>
        <p:spPr>
          <a:xfrm xmlns:a="http://schemas.openxmlformats.org/drawingml/2006/main">
            <a:off x="609600" y="3238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2563EB"/>
                </a:solidFill>
                <a:latin typeface="Arial"/>
                <a:ea typeface="Arial"/>
                <a:cs typeface="Arial"/>
              </a:defRPr>
            </a:pPr>
            <a:r>
              <a:rPr sz="1275" b="1">
                <a:solidFill>
                  <a:srgbClr val="2563EB"/>
                </a:solidFill>
                <a:latin typeface="Arial"/>
                <a:ea typeface="Arial"/>
                <a:cs typeface="Arial"/>
              </a:rPr>
              <a:t>PORTFOLIO HANDOFF</a:t>
            </a:r>
          </a:p>
        </p:txBody>
      </p:sp>
      <p:sp>
        <p:nvSpPr>
          <p:cNvPr id="2" name="slide-15-title">
            <a:extLst xmlns:a="http://schemas.openxmlformats.org/drawingml/2006/main">
              <a:ext uri="{FF2B5EF4-FFF2-40B4-BE49-F238E27FC236}">
                <a16:creationId xmlns:a16="http://schemas.microsoft.com/office/drawing/2014/main" id="{7CB8D3CF-25F7-4E8F-A6EE-EE3383C0D702}"/>
              </a:ext>
            </a:extLst>
          </p:cNvPr>
          <p:cNvSpPr>
            <a:spLocks xmlns:a="http://schemas.openxmlformats.org/drawingml/2006/main" noGrp="1"/>
          </p:cNvSpPr>
          <p:nvPr/>
        </p:nvSpPr>
        <p:spPr>
          <a:xfrm xmlns:a="http://schemas.openxmlformats.org/drawingml/2006/main">
            <a:off x="609600" y="7905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111111"/>
                </a:solidFill>
                <a:latin typeface="Arial"/>
                <a:ea typeface="Arial"/>
                <a:cs typeface="Arial"/>
              </a:defRPr>
            </a:pPr>
            <a:r>
              <a:rPr sz="3600" b="1">
                <a:solidFill>
                  <a:srgbClr val="111111"/>
                </a:solidFill>
                <a:latin typeface="Arial"/>
                <a:ea typeface="Arial"/>
                <a:cs typeface="Arial"/>
              </a:rPr>
              <a:t>A model that can be explained and defended</a:t>
            </a:r>
          </a:p>
        </p:txBody>
      </p:sp>
      <p:sp>
        <p:nvSpPr>
          <p:cNvPr id="3" name="rule-183">
            <a:extLst xmlns:a="http://schemas.openxmlformats.org/drawingml/2006/main">
              <a:ext uri="{FF2B5EF4-FFF2-40B4-BE49-F238E27FC236}">
                <a16:creationId xmlns:a16="http://schemas.microsoft.com/office/drawing/2014/main" id="{F52C7FBB-D4B3-4123-80D6-ED64481B195F}"/>
              </a:ext>
            </a:extLst>
          </p:cNvPr>
          <p:cNvSpPr>
            <a:spLocks xmlns:a="http://schemas.openxmlformats.org/drawingml/2006/main" noGrp="1"/>
          </p:cNvSpPr>
          <p:nvPr/>
        </p:nvSpPr>
        <p:spPr>
          <a:xfrm xmlns:a="http://schemas.openxmlformats.org/drawingml/2006/main">
            <a:off x="609600" y="6362700"/>
            <a:ext cx="10972800" cy="0"/>
          </a:xfrm>
          <a:prstGeom xmlns:a="http://schemas.openxmlformats.org/drawingml/2006/main" prst="line">
            <a:avLst/>
          </a:prstGeom>
          <a:noFill xmlns:a="http://schemas.openxmlformats.org/drawingml/2006/main"/>
          <a:ln xmlns:a="http://schemas.openxmlformats.org/drawingml/2006/main" w="9525">
            <a:solidFill>
              <a:srgbClr val="D8DDE3"/>
            </a:solidFill>
            <a:prstDash val="solid"/>
          </a:ln>
        </p:spPr>
      </p:sp>
      <p:sp>
        <p:nvSpPr>
          <p:cNvPr id="4" name="text-184">
            <a:extLst xmlns:a="http://schemas.openxmlformats.org/drawingml/2006/main">
              <a:ext uri="{FF2B5EF4-FFF2-40B4-BE49-F238E27FC236}">
                <a16:creationId xmlns:a16="http://schemas.microsoft.com/office/drawing/2014/main" id="{C363908C-8F1A-4088-A444-589628B72132}"/>
              </a:ext>
            </a:extLst>
          </p:cNvPr>
          <p:cNvSpPr>
            <a:spLocks xmlns:a="http://schemas.openxmlformats.org/drawingml/2006/main" noGrp="1"/>
          </p:cNvSpPr>
          <p:nvPr/>
        </p:nvSpPr>
        <p:spPr>
          <a:xfrm xmlns:a="http://schemas.openxmlformats.org/drawingml/2006/main">
            <a:off x="609600" y="6534150"/>
            <a:ext cx="685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0">
                <a:solidFill>
                  <a:srgbClr val="565E68"/>
                </a:solidFill>
                <a:latin typeface="Arial"/>
                <a:ea typeface="Arial"/>
                <a:cs typeface="Arial"/>
              </a:defRPr>
            </a:pPr>
            <a:r>
              <a:rPr sz="975" b="0">
                <a:solidFill>
                  <a:srgbClr val="565E68"/>
                </a:solidFill>
                <a:latin typeface="Arial"/>
                <a:ea typeface="Arial"/>
                <a:cs typeface="Arial"/>
              </a:rPr>
              <a:t>ALI BAYOUMI  /  PRIMAVERA P6 CASE STUDY</a:t>
            </a:r>
          </a:p>
        </p:txBody>
      </p:sp>
      <p:sp>
        <p:nvSpPr>
          <p:cNvPr id="5" name="text-185">
            <a:extLst xmlns:a="http://schemas.openxmlformats.org/drawingml/2006/main">
              <a:ext uri="{FF2B5EF4-FFF2-40B4-BE49-F238E27FC236}">
                <a16:creationId xmlns:a16="http://schemas.microsoft.com/office/drawing/2014/main" id="{33B0B5E2-E65D-429E-AC4B-5D24B1987557}"/>
              </a:ext>
            </a:extLst>
          </p:cNvPr>
          <p:cNvSpPr>
            <a:spLocks xmlns:a="http://schemas.openxmlformats.org/drawingml/2006/main" noGrp="1"/>
          </p:cNvSpPr>
          <p:nvPr/>
        </p:nvSpPr>
        <p:spPr>
          <a:xfrm xmlns:a="http://schemas.openxmlformats.org/drawingml/2006/main">
            <a:off x="8229600" y="6534150"/>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0">
                <a:solidFill>
                  <a:srgbClr val="565E68"/>
                </a:solidFill>
                <a:latin typeface="Arial"/>
                <a:ea typeface="Arial"/>
                <a:cs typeface="Arial"/>
              </a:defRPr>
            </a:pPr>
            <a:r>
              <a:rPr sz="975" b="0">
                <a:solidFill>
                  <a:srgbClr val="565E68"/>
                </a:solidFill>
                <a:latin typeface="Arial"/>
                <a:ea typeface="Arial"/>
                <a:cs typeface="Arial"/>
              </a:rPr>
              <a:t>SIMULATED PROJECT</a:t>
            </a:r>
          </a:p>
        </p:txBody>
      </p:sp>
      <p:sp>
        <p:nvSpPr>
          <p:cNvPr id="6" name="text-186">
            <a:extLst xmlns:a="http://schemas.openxmlformats.org/drawingml/2006/main">
              <a:ext uri="{FF2B5EF4-FFF2-40B4-BE49-F238E27FC236}">
                <a16:creationId xmlns:a16="http://schemas.microsoft.com/office/drawing/2014/main" id="{54FB1191-F63F-47E8-8DCC-491F51967AC7}"/>
              </a:ext>
            </a:extLst>
          </p:cNvPr>
          <p:cNvSpPr>
            <a:spLocks xmlns:a="http://schemas.openxmlformats.org/drawingml/2006/main" noGrp="1"/>
          </p:cNvSpPr>
          <p:nvPr/>
        </p:nvSpPr>
        <p:spPr>
          <a:xfrm xmlns:a="http://schemas.openxmlformats.org/drawingml/2006/main">
            <a:off x="11144250" y="64960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111111"/>
                </a:solidFill>
                <a:latin typeface="Arial"/>
                <a:ea typeface="Arial"/>
                <a:cs typeface="Arial"/>
              </a:defRPr>
            </a:pPr>
            <a:r>
              <a:rPr sz="1350" b="0">
                <a:solidFill>
                  <a:srgbClr val="111111"/>
                </a:solidFill>
                <a:latin typeface="Arial"/>
                <a:ea typeface="Arial"/>
                <a:cs typeface="Arial"/>
              </a:rPr>
              <a:t>15</a:t>
            </a:r>
          </a:p>
        </p:txBody>
      </p:sp>
      <p:sp>
        <p:nvSpPr>
          <p:cNvPr id="7" name="text-187">
            <a:extLst xmlns:a="http://schemas.openxmlformats.org/drawingml/2006/main">
              <a:ext uri="{FF2B5EF4-FFF2-40B4-BE49-F238E27FC236}">
                <a16:creationId xmlns:a16="http://schemas.microsoft.com/office/drawing/2014/main" id="{44B3A69A-53BB-44A5-83C7-8307C2E36065}"/>
              </a:ext>
            </a:extLst>
          </p:cNvPr>
          <p:cNvSpPr>
            <a:spLocks xmlns:a="http://schemas.openxmlformats.org/drawingml/2006/main" noGrp="1"/>
          </p:cNvSpPr>
          <p:nvPr/>
        </p:nvSpPr>
        <p:spPr>
          <a:xfrm xmlns:a="http://schemas.openxmlformats.org/drawingml/2006/main">
            <a:off x="609600" y="1971675"/>
            <a:ext cx="1057275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500" b="1">
                <a:solidFill>
                  <a:srgbClr val="111111"/>
                </a:solidFill>
                <a:latin typeface="Arial"/>
                <a:ea typeface="Arial"/>
                <a:cs typeface="Arial"/>
              </a:defRPr>
            </a:pPr>
            <a:r>
              <a:rPr sz="4500" b="1">
                <a:solidFill>
                  <a:srgbClr val="111111"/>
                </a:solidFill>
                <a:latin typeface="Arial"/>
                <a:ea typeface="Arial"/>
                <a:cs typeface="Arial"/>
              </a:rPr>
              <a:t>Build the logic.</a:t>
            </a:r>
          </a:p>
          <a:p xmlns:a="http://schemas.openxmlformats.org/drawingml/2006/main">
            <a:pPr algn="l">
              <a:buNone/>
              <a:defRPr sz="4500" b="1">
                <a:solidFill>
                  <a:srgbClr val="111111"/>
                </a:solidFill>
                <a:latin typeface="Arial"/>
                <a:ea typeface="Arial"/>
                <a:cs typeface="Arial"/>
              </a:defRPr>
            </a:pPr>
            <a:r>
              <a:rPr sz="4500" b="1">
                <a:solidFill>
                  <a:srgbClr val="111111"/>
                </a:solidFill>
                <a:latin typeface="Arial"/>
                <a:ea typeface="Arial"/>
                <a:cs typeface="Arial"/>
              </a:rPr>
              <a:t>Reconcile the story.</a:t>
            </a:r>
          </a:p>
          <a:p xmlns:a="http://schemas.openxmlformats.org/drawingml/2006/main">
            <a:pPr algn="l">
              <a:buNone/>
              <a:defRPr sz="4500" b="1">
                <a:solidFill>
                  <a:srgbClr val="111111"/>
                </a:solidFill>
                <a:latin typeface="Arial"/>
                <a:ea typeface="Arial"/>
                <a:cs typeface="Arial"/>
              </a:defRPr>
            </a:pPr>
            <a:r>
              <a:rPr sz="4500" b="1">
                <a:solidFill>
                  <a:srgbClr val="111111"/>
                </a:solidFill>
                <a:latin typeface="Arial"/>
                <a:ea typeface="Arial"/>
                <a:cs typeface="Arial"/>
              </a:rPr>
              <a:t>Define the next action.</a:t>
            </a:r>
          </a:p>
        </p:txBody>
      </p:sp>
      <p:sp>
        <p:nvSpPr>
          <p:cNvPr id="8" name="rule-188">
            <a:extLst xmlns:a="http://schemas.openxmlformats.org/drawingml/2006/main">
              <a:ext uri="{FF2B5EF4-FFF2-40B4-BE49-F238E27FC236}">
                <a16:creationId xmlns:a16="http://schemas.microsoft.com/office/drawing/2014/main" id="{7F344494-3A4F-4B31-B7F6-D57A34EE2EFE}"/>
              </a:ext>
            </a:extLst>
          </p:cNvPr>
          <p:cNvSpPr>
            <a:spLocks xmlns:a="http://schemas.openxmlformats.org/drawingml/2006/main" noGrp="1"/>
          </p:cNvSpPr>
          <p:nvPr/>
        </p:nvSpPr>
        <p:spPr>
          <a:xfrm xmlns:a="http://schemas.openxmlformats.org/drawingml/2006/main">
            <a:off x="609600" y="4505325"/>
            <a:ext cx="10972800" cy="0"/>
          </a:xfrm>
          <a:prstGeom xmlns:a="http://schemas.openxmlformats.org/drawingml/2006/main" prst="line">
            <a:avLst/>
          </a:prstGeom>
          <a:noFill xmlns:a="http://schemas.openxmlformats.org/drawingml/2006/main"/>
          <a:ln xmlns:a="http://schemas.openxmlformats.org/drawingml/2006/main" w="9525">
            <a:solidFill>
              <a:srgbClr val="D8DDE3"/>
            </a:solidFill>
            <a:prstDash val="solid"/>
          </a:ln>
        </p:spPr>
      </p:sp>
      <p:sp>
        <p:nvSpPr>
          <p:cNvPr id="9" name="text-189">
            <a:extLst xmlns:a="http://schemas.openxmlformats.org/drawingml/2006/main">
              <a:ext uri="{FF2B5EF4-FFF2-40B4-BE49-F238E27FC236}">
                <a16:creationId xmlns:a16="http://schemas.microsoft.com/office/drawing/2014/main" id="{B86D76BD-103D-4FEE-B8F3-E41473B61769}"/>
              </a:ext>
            </a:extLst>
          </p:cNvPr>
          <p:cNvSpPr>
            <a:spLocks xmlns:a="http://schemas.openxmlformats.org/drawingml/2006/main" noGrp="1"/>
          </p:cNvSpPr>
          <p:nvPr/>
        </p:nvSpPr>
        <p:spPr>
          <a:xfrm xmlns:a="http://schemas.openxmlformats.org/drawingml/2006/main">
            <a:off x="609600" y="4819650"/>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2563EB"/>
                </a:solidFill>
                <a:latin typeface="Arial"/>
                <a:ea typeface="Arial"/>
                <a:cs typeface="Arial"/>
              </a:defRPr>
            </a:pPr>
            <a:r>
              <a:rPr sz="1650" b="1">
                <a:solidFill>
                  <a:srgbClr val="2563EB"/>
                </a:solidFill>
                <a:latin typeface="Arial"/>
                <a:ea typeface="Arial"/>
                <a:cs typeface="Arial"/>
              </a:rPr>
              <a:t>SOURCE MODEL</a:t>
            </a:r>
          </a:p>
        </p:txBody>
      </p:sp>
      <p:sp>
        <p:nvSpPr>
          <p:cNvPr id="10" name="text-190">
            <a:extLst xmlns:a="http://schemas.openxmlformats.org/drawingml/2006/main">
              <a:ext uri="{FF2B5EF4-FFF2-40B4-BE49-F238E27FC236}">
                <a16:creationId xmlns:a16="http://schemas.microsoft.com/office/drawing/2014/main" id="{68C92F70-EBBF-4145-8FA9-A69EC87697C2}"/>
              </a:ext>
            </a:extLst>
          </p:cNvPr>
          <p:cNvSpPr>
            <a:spLocks xmlns:a="http://schemas.openxmlformats.org/drawingml/2006/main" noGrp="1"/>
          </p:cNvSpPr>
          <p:nvPr/>
        </p:nvSpPr>
        <p:spPr>
          <a:xfrm xmlns:a="http://schemas.openxmlformats.org/drawingml/2006/main">
            <a:off x="609600" y="5257800"/>
            <a:ext cx="328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65E68"/>
                </a:solidFill>
                <a:latin typeface="Arial"/>
                <a:ea typeface="Arial"/>
                <a:cs typeface="Arial"/>
              </a:defRPr>
            </a:pPr>
            <a:r>
              <a:rPr sz="1800" b="0">
                <a:solidFill>
                  <a:srgbClr val="565E68"/>
                </a:solidFill>
                <a:latin typeface="Arial"/>
                <a:ea typeface="Arial"/>
                <a:cs typeface="Arial"/>
              </a:rPr>
              <a:t>Current-project XER</a:t>
            </a:r>
          </a:p>
          <a:p xmlns:a="http://schemas.openxmlformats.org/drawingml/2006/main">
            <a:pPr algn="l">
              <a:buNone/>
              <a:defRPr sz="1800" b="0">
                <a:solidFill>
                  <a:srgbClr val="565E68"/>
                </a:solidFill>
                <a:latin typeface="Arial"/>
                <a:ea typeface="Arial"/>
                <a:cs typeface="Arial"/>
              </a:defRPr>
            </a:pPr>
            <a:r>
              <a:rPr sz="1800" b="0">
                <a:solidFill>
                  <a:srgbClr val="565E68"/>
                </a:solidFill>
                <a:latin typeface="Arial"/>
                <a:ea typeface="Arial"/>
                <a:cs typeface="Arial"/>
              </a:rPr>
              <a:t>XML with the original baseline</a:t>
            </a:r>
          </a:p>
        </p:txBody>
      </p:sp>
      <p:sp>
        <p:nvSpPr>
          <p:cNvPr id="11" name="text-191">
            <a:extLst xmlns:a="http://schemas.openxmlformats.org/drawingml/2006/main">
              <a:ext uri="{FF2B5EF4-FFF2-40B4-BE49-F238E27FC236}">
                <a16:creationId xmlns:a16="http://schemas.microsoft.com/office/drawing/2014/main" id="{CD8221AF-237F-4059-83F4-165B28DACB66}"/>
              </a:ext>
            </a:extLst>
          </p:cNvPr>
          <p:cNvSpPr>
            <a:spLocks xmlns:a="http://schemas.openxmlformats.org/drawingml/2006/main" noGrp="1"/>
          </p:cNvSpPr>
          <p:nvPr/>
        </p:nvSpPr>
        <p:spPr>
          <a:xfrm xmlns:a="http://schemas.openxmlformats.org/drawingml/2006/main">
            <a:off x="4362450" y="4819650"/>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2563EB"/>
                </a:solidFill>
                <a:latin typeface="Arial"/>
                <a:ea typeface="Arial"/>
                <a:cs typeface="Arial"/>
              </a:defRPr>
            </a:pPr>
            <a:r>
              <a:rPr sz="1650" b="1">
                <a:solidFill>
                  <a:srgbClr val="2563EB"/>
                </a:solidFill>
                <a:latin typeface="Arial"/>
                <a:ea typeface="Arial"/>
                <a:cs typeface="Arial"/>
              </a:rPr>
              <a:t>CONTROL OUTPUTS</a:t>
            </a:r>
          </a:p>
        </p:txBody>
      </p:sp>
      <p:sp>
        <p:nvSpPr>
          <p:cNvPr id="12" name="text-192">
            <a:extLst xmlns:a="http://schemas.openxmlformats.org/drawingml/2006/main">
              <a:ext uri="{FF2B5EF4-FFF2-40B4-BE49-F238E27FC236}">
                <a16:creationId xmlns:a16="http://schemas.microsoft.com/office/drawing/2014/main" id="{AC1D910F-7D71-4A97-B4E7-CC3B7C55CD4E}"/>
              </a:ext>
            </a:extLst>
          </p:cNvPr>
          <p:cNvSpPr>
            <a:spLocks xmlns:a="http://schemas.openxmlformats.org/drawingml/2006/main" noGrp="1"/>
          </p:cNvSpPr>
          <p:nvPr/>
        </p:nvSpPr>
        <p:spPr>
          <a:xfrm xmlns:a="http://schemas.openxmlformats.org/drawingml/2006/main">
            <a:off x="4362450" y="5257800"/>
            <a:ext cx="328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65E68"/>
                </a:solidFill>
                <a:latin typeface="Arial"/>
                <a:ea typeface="Arial"/>
                <a:cs typeface="Arial"/>
              </a:defRPr>
            </a:pPr>
            <a:r>
              <a:rPr sz="1800" b="0">
                <a:solidFill>
                  <a:srgbClr val="565E68"/>
                </a:solidFill>
                <a:latin typeface="Arial"/>
                <a:ea typeface="Arial"/>
                <a:cs typeface="Arial"/>
              </a:rPr>
              <a:t>Five P6 reports</a:t>
            </a:r>
          </a:p>
          <a:p xmlns:a="http://schemas.openxmlformats.org/drawingml/2006/main">
            <a:pPr algn="l">
              <a:buNone/>
              <a:defRPr sz="1800" b="0">
                <a:solidFill>
                  <a:srgbClr val="565E68"/>
                </a:solidFill>
                <a:latin typeface="Arial"/>
                <a:ea typeface="Arial"/>
                <a:cs typeface="Arial"/>
              </a:defRPr>
            </a:pPr>
            <a:r>
              <a:rPr sz="1800" b="0">
                <a:solidFill>
                  <a:srgbClr val="565E68"/>
                </a:solidFill>
                <a:latin typeface="Arial"/>
                <a:ea typeface="Arial"/>
                <a:cs typeface="Arial"/>
              </a:rPr>
              <a:t>Corrected analytical extracts</a:t>
            </a:r>
          </a:p>
        </p:txBody>
      </p:sp>
      <p:sp>
        <p:nvSpPr>
          <p:cNvPr id="13" name="text-193">
            <a:extLst xmlns:a="http://schemas.openxmlformats.org/drawingml/2006/main">
              <a:ext uri="{FF2B5EF4-FFF2-40B4-BE49-F238E27FC236}">
                <a16:creationId xmlns:a16="http://schemas.microsoft.com/office/drawing/2014/main" id="{3AF29A18-F901-434D-A02A-7F4C528F2CE7}"/>
              </a:ext>
            </a:extLst>
          </p:cNvPr>
          <p:cNvSpPr>
            <a:spLocks xmlns:a="http://schemas.openxmlformats.org/drawingml/2006/main" noGrp="1"/>
          </p:cNvSpPr>
          <p:nvPr/>
        </p:nvSpPr>
        <p:spPr>
          <a:xfrm xmlns:a="http://schemas.openxmlformats.org/drawingml/2006/main">
            <a:off x="8115300" y="4819650"/>
            <a:ext cx="3467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2563EB"/>
                </a:solidFill>
                <a:latin typeface="Arial"/>
                <a:ea typeface="Arial"/>
                <a:cs typeface="Arial"/>
              </a:defRPr>
            </a:pPr>
            <a:r>
              <a:rPr sz="1650" b="1">
                <a:solidFill>
                  <a:srgbClr val="2563EB"/>
                </a:solidFill>
                <a:latin typeface="Arial"/>
                <a:ea typeface="Arial"/>
                <a:cs typeface="Arial"/>
              </a:rPr>
              <a:t>TECHNICAL DEFENSE</a:t>
            </a:r>
          </a:p>
        </p:txBody>
      </p:sp>
      <p:sp>
        <p:nvSpPr>
          <p:cNvPr id="14" name="text-194">
            <a:extLst xmlns:a="http://schemas.openxmlformats.org/drawingml/2006/main">
              <a:ext uri="{FF2B5EF4-FFF2-40B4-BE49-F238E27FC236}">
                <a16:creationId xmlns:a16="http://schemas.microsoft.com/office/drawing/2014/main" id="{F757639B-3507-43E3-B0B4-AFB81EB3D9F0}"/>
              </a:ext>
            </a:extLst>
          </p:cNvPr>
          <p:cNvSpPr>
            <a:spLocks xmlns:a="http://schemas.openxmlformats.org/drawingml/2006/main" noGrp="1"/>
          </p:cNvSpPr>
          <p:nvPr/>
        </p:nvSpPr>
        <p:spPr>
          <a:xfrm xmlns:a="http://schemas.openxmlformats.org/drawingml/2006/main">
            <a:off x="8115300" y="5257800"/>
            <a:ext cx="346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65E68"/>
                </a:solidFill>
                <a:latin typeface="Arial"/>
                <a:ea typeface="Arial"/>
                <a:cs typeface="Arial"/>
              </a:defRPr>
            </a:pPr>
            <a:r>
              <a:rPr sz="1800" b="0">
                <a:solidFill>
                  <a:srgbClr val="565E68"/>
                </a:solidFill>
                <a:latin typeface="Arial"/>
                <a:ea typeface="Arial"/>
                <a:cs typeface="Arial"/>
              </a:rPr>
              <a:t>Audit and reconciliation</a:t>
            </a:r>
          </a:p>
          <a:p xmlns:a="http://schemas.openxmlformats.org/drawingml/2006/main">
            <a:pPr algn="l">
              <a:buNone/>
              <a:defRPr sz="1800" b="0">
                <a:solidFill>
                  <a:srgbClr val="565E68"/>
                </a:solidFill>
                <a:latin typeface="Arial"/>
                <a:ea typeface="Arial"/>
                <a:cs typeface="Arial"/>
              </a:defRPr>
            </a:pPr>
            <a:r>
              <a:rPr sz="1800" b="0">
                <a:solidFill>
                  <a:srgbClr val="565E68"/>
                </a:solidFill>
                <a:latin typeface="Arial"/>
                <a:ea typeface="Arial"/>
                <a:cs typeface="Arial"/>
              </a:rPr>
              <a:t>Documented assumptions</a:t>
            </a:r>
          </a:p>
        </p:txBody>
      </p:sp>
    </p:spTree>
    <p:extLst>
      <p:ext uri="{BB962C8B-B14F-4D97-AF65-F5344CB8AC3E}">
        <p14:creationId xmlns:p14="http://schemas.microsoft.com/office/powerpoint/2010/main" val="174966853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raining-text-1">
            <a:extLst xmlns:a="http://schemas.openxmlformats.org/drawingml/2006/main">
              <a:ext uri="{FF2B5EF4-FFF2-40B4-BE49-F238E27FC236}">
                <a16:creationId xmlns:a16="http://schemas.microsoft.com/office/drawing/2014/main" id="{F741CA7C-B65E-423C-A383-751E9EC64B00}"/>
              </a:ext>
            </a:extLst>
          </p:cNvPr>
          <p:cNvSpPr>
            <a:spLocks xmlns:a="http://schemas.openxmlformats.org/drawingml/2006/main" noGrp="1"/>
          </p:cNvSpPr>
          <p:nvPr/>
        </p:nvSpPr>
        <p:spPr>
          <a:xfrm xmlns:a="http://schemas.openxmlformats.org/drawingml/2006/main">
            <a:off x="609600" y="323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2563EB"/>
                </a:solidFill>
                <a:latin typeface="Arial"/>
                <a:ea typeface="Arial"/>
                <a:cs typeface="Arial"/>
              </a:defRPr>
            </a:pPr>
            <a:r>
              <a:rPr sz="1275" b="1">
                <a:solidFill>
                  <a:srgbClr val="2563EB"/>
                </a:solidFill>
                <a:latin typeface="Arial"/>
                <a:ea typeface="Arial"/>
                <a:cs typeface="Arial"/>
              </a:rPr>
              <a:t>TRAINING 01 / PRACTICE EXERCISE</a:t>
            </a:r>
          </a:p>
        </p:txBody>
      </p:sp>
      <p:sp>
        <p:nvSpPr>
          <p:cNvPr id="2" name="training-text-2">
            <a:extLst xmlns:a="http://schemas.openxmlformats.org/drawingml/2006/main">
              <a:ext uri="{FF2B5EF4-FFF2-40B4-BE49-F238E27FC236}">
                <a16:creationId xmlns:a16="http://schemas.microsoft.com/office/drawing/2014/main" id="{4FD4B678-5B8A-4AEA-846A-F3120266D3A1}"/>
              </a:ext>
            </a:extLst>
          </p:cNvPr>
          <p:cNvSpPr>
            <a:spLocks xmlns:a="http://schemas.openxmlformats.org/drawingml/2006/main" noGrp="1"/>
          </p:cNvSpPr>
          <p:nvPr/>
        </p:nvSpPr>
        <p:spPr>
          <a:xfrm xmlns:a="http://schemas.openxmlformats.org/drawingml/2006/main">
            <a:off x="609600" y="8001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11111"/>
                </a:solidFill>
                <a:latin typeface="Arial"/>
                <a:ea typeface="Arial"/>
                <a:cs typeface="Arial"/>
              </a:defRPr>
            </a:pPr>
            <a:r>
              <a:rPr sz="3300" b="1">
                <a:solidFill>
                  <a:srgbClr val="111111"/>
                </a:solidFill>
                <a:latin typeface="Arial"/>
                <a:ea typeface="Arial"/>
                <a:cs typeface="Arial"/>
              </a:rPr>
              <a:t>Contractor Programme Review</a:t>
            </a:r>
          </a:p>
        </p:txBody>
      </p:sp>
      <p:sp>
        <p:nvSpPr>
          <p:cNvPr id="3" name="training-text-3">
            <a:extLst xmlns:a="http://schemas.openxmlformats.org/drawingml/2006/main">
              <a:ext uri="{FF2B5EF4-FFF2-40B4-BE49-F238E27FC236}">
                <a16:creationId xmlns:a16="http://schemas.microsoft.com/office/drawing/2014/main" id="{1B2D210D-E701-4E1A-B932-B3A0A81A9671}"/>
              </a:ext>
            </a:extLst>
          </p:cNvPr>
          <p:cNvSpPr>
            <a:spLocks xmlns:a="http://schemas.openxmlformats.org/drawingml/2006/main" noGrp="1"/>
          </p:cNvSpPr>
          <p:nvPr/>
        </p:nvSpPr>
        <p:spPr>
          <a:xfrm xmlns:a="http://schemas.openxmlformats.org/drawingml/2006/main">
            <a:off x="609600" y="61436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5E68"/>
                </a:solidFill>
                <a:latin typeface="Arial"/>
                <a:ea typeface="Arial"/>
                <a:cs typeface="Arial"/>
              </a:defRPr>
            </a:pPr>
            <a:r>
              <a:rPr sz="1275" b="0">
                <a:solidFill>
                  <a:srgbClr val="565E68"/>
                </a:solidFill>
                <a:latin typeface="Arial"/>
                <a:ea typeface="Arial"/>
                <a:cs typeface="Arial"/>
              </a:rPr>
              <a:t>Independent training exercise using assumed events and data; not a live contractual claim.</a:t>
            </a:r>
          </a:p>
        </p:txBody>
      </p:sp>
      <p:sp>
        <p:nvSpPr>
          <p:cNvPr id="4" name="">
            <a:extLst xmlns:a="http://schemas.openxmlformats.org/drawingml/2006/main">
              <a:ext uri="{FF2B5EF4-FFF2-40B4-BE49-F238E27FC236}">
                <a16:creationId xmlns:a16="http://schemas.microsoft.com/office/drawing/2014/main" id="{4222C0CA-7788-493B-8410-6E057FFF5BF8}"/>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9525">
            <a:solidFill>
              <a:srgbClr val="D8DDE3"/>
            </a:solidFill>
          </a:ln>
        </p:spPr>
      </p:sp>
      <p:sp>
        <p:nvSpPr>
          <p:cNvPr id="5" name="training-text-4">
            <a:extLst xmlns:a="http://schemas.openxmlformats.org/drawingml/2006/main">
              <a:ext uri="{FF2B5EF4-FFF2-40B4-BE49-F238E27FC236}">
                <a16:creationId xmlns:a16="http://schemas.microsoft.com/office/drawing/2014/main" id="{04629B1A-339B-493D-AC01-233F0D08B413}"/>
              </a:ext>
            </a:extLst>
          </p:cNvPr>
          <p:cNvSpPr>
            <a:spLocks xmlns:a="http://schemas.openxmlformats.org/drawingml/2006/main" noGrp="1"/>
          </p:cNvSpPr>
          <p:nvPr/>
        </p:nvSpPr>
        <p:spPr>
          <a:xfrm xmlns:a="http://schemas.openxmlformats.org/drawingml/2006/main">
            <a:off x="609600" y="65722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0">
                <a:solidFill>
                  <a:srgbClr val="565E68"/>
                </a:solidFill>
                <a:latin typeface="Arial"/>
                <a:ea typeface="Arial"/>
                <a:cs typeface="Arial"/>
              </a:defRPr>
            </a:pPr>
            <a:r>
              <a:rPr sz="975" b="0">
                <a:solidFill>
                  <a:srgbClr val="565E68"/>
                </a:solidFill>
                <a:latin typeface="Arial"/>
                <a:ea typeface="Arial"/>
                <a:cs typeface="Arial"/>
              </a:rPr>
              <a:t>ALI BAYOUMI  /  CONSULTANT REVIEW TRAINING</a:t>
            </a:r>
          </a:p>
        </p:txBody>
      </p:sp>
      <p:sp>
        <p:nvSpPr>
          <p:cNvPr id="6" name="training-text-5">
            <a:extLst xmlns:a="http://schemas.openxmlformats.org/drawingml/2006/main">
              <a:ext uri="{FF2B5EF4-FFF2-40B4-BE49-F238E27FC236}">
                <a16:creationId xmlns:a16="http://schemas.microsoft.com/office/drawing/2014/main" id="{7FFB0B12-F4C1-4114-9659-32D4C0CD7C99}"/>
              </a:ext>
            </a:extLst>
          </p:cNvPr>
          <p:cNvSpPr>
            <a:spLocks xmlns:a="http://schemas.openxmlformats.org/drawingml/2006/main" noGrp="1"/>
          </p:cNvSpPr>
          <p:nvPr/>
        </p:nvSpPr>
        <p:spPr>
          <a:xfrm xmlns:a="http://schemas.openxmlformats.org/drawingml/2006/main">
            <a:off x="11144250" y="652462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111111"/>
                </a:solidFill>
                <a:latin typeface="Arial"/>
                <a:ea typeface="Arial"/>
                <a:cs typeface="Arial"/>
              </a:defRPr>
            </a:pPr>
            <a:r>
              <a:rPr sz="1350" b="0">
                <a:solidFill>
                  <a:srgbClr val="111111"/>
                </a:solidFill>
                <a:latin typeface="Arial"/>
                <a:ea typeface="Arial"/>
                <a:cs typeface="Arial"/>
              </a:rPr>
              <a:t>16</a:t>
            </a:r>
          </a:p>
        </p:txBody>
      </p:sp>
      <p:sp>
        <p:nvSpPr>
          <p:cNvPr id="7" name="training-text-6">
            <a:extLst xmlns:a="http://schemas.openxmlformats.org/drawingml/2006/main">
              <a:ext uri="{FF2B5EF4-FFF2-40B4-BE49-F238E27FC236}">
                <a16:creationId xmlns:a16="http://schemas.microsoft.com/office/drawing/2014/main" id="{EAD62946-90FC-4B1D-AA1A-B6493C26EBD2}"/>
              </a:ext>
            </a:extLst>
          </p:cNvPr>
          <p:cNvSpPr>
            <a:spLocks xmlns:a="http://schemas.openxmlformats.org/drawingml/2006/main" noGrp="1"/>
          </p:cNvSpPr>
          <p:nvPr/>
        </p:nvSpPr>
        <p:spPr>
          <a:xfrm xmlns:a="http://schemas.openxmlformats.org/drawingml/2006/main">
            <a:off x="609600" y="18573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111111"/>
                </a:solidFill>
                <a:latin typeface="Arial"/>
                <a:ea typeface="Arial"/>
                <a:cs typeface="Arial"/>
              </a:defRPr>
            </a:pPr>
            <a:r>
              <a:rPr sz="2250" b="1">
                <a:solidFill>
                  <a:srgbClr val="111111"/>
                </a:solidFill>
                <a:latin typeface="Arial"/>
                <a:ea typeface="Arial"/>
                <a:cs typeface="Arial"/>
              </a:rPr>
              <a:t>C-01  Calendar exceptions require confirmation</a:t>
            </a:r>
          </a:p>
        </p:txBody>
      </p:sp>
      <p:graphicFrame>
        <p:nvGraphicFramePr>
          <p:cNvPr id="17" name=""/>
          <p:cNvGraphicFramePr/>
          <p:nvPr/>
        </p:nvGraphicFramePr>
        <p:xfrm>
          <a:off xmlns:a="http://schemas.openxmlformats.org/drawingml/2006/main" x="609600" y="2543175"/>
          <a:ext xmlns:a="http://schemas.openxmlformats.org/drawingml/2006/main" cx="10972800" cy="2771775"/>
        </p:xfrm>
        <a:graphic xmlns:a="http://schemas.openxmlformats.org/drawingml/2006/main">
          <a:graphicData uri="http://schemas.openxmlformats.org/drawingml/2006/table">
            <a:tbl>
              <a:tblPr/>
              <a:tblGrid>
                <a:gridCol w="2476500"/>
                <a:gridCol w="8496300"/>
              </a:tblGrid>
              <a:tr h="554355">
                <a:tc>
                  <a:txBody>
                    <a:bodyPr lIns="114300" tIns="76200" rIns="95250" bIns="76200"/>
                    <a:lstStyle/>
                    <a:p>
                      <a:r>
                        <a:rPr sz="1800" b="1">
                          <a:solidFill>
                            <a:srgbClr val="FFFFFF"/>
                          </a:solidFill>
                          <a:latin typeface="Arial"/>
                          <a:ea typeface="Arial"/>
                          <a:cs typeface="Arial"/>
                        </a:rPr>
                        <a:t>Review item</a:t>
                      </a:r>
                    </a:p>
                  </a:txBody>
                  <a:tcPr marL="91440" marR="91440" marT="45720" marB="45720" anchor="ctr">
                    <a:solidFill>
                      <a:srgbClr val="111111"/>
                    </a:solidFill>
                  </a:tcPr>
                </a:tc>
                <a:tc>
                  <a:txBody>
                    <a:bodyPr lIns="114300" tIns="76200" rIns="95250" bIns="76200"/>
                    <a:lstStyle/>
                    <a:p>
                      <a:r>
                        <a:rPr sz="1800" b="1">
                          <a:solidFill>
                            <a:srgbClr val="FFFFFF"/>
                          </a:solidFill>
                          <a:latin typeface="Arial"/>
                          <a:ea typeface="Arial"/>
                          <a:cs typeface="Arial"/>
                        </a:rPr>
                        <a:t>Observation and requested response</a:t>
                      </a:r>
                    </a:p>
                  </a:txBody>
                  <a:tcPr marL="91440" marR="91440" marT="45720" marB="45720" anchor="ctr">
                    <a:solidFill>
                      <a:srgbClr val="111111"/>
                    </a:solidFill>
                  </a:tcPr>
                </a:tc>
              </a:tr>
              <a:tr h="554355">
                <a:tc>
                  <a:txBody>
                    <a:bodyPr lIns="114300" tIns="76200" rIns="95250" bIns="76200"/>
                    <a:lstStyle/>
                    <a:p>
                      <a:r>
                        <a:rPr sz="1800" b="0">
                          <a:solidFill>
                            <a:srgbClr val="111111"/>
                          </a:solidFill>
                          <a:latin typeface="Arial"/>
                          <a:ea typeface="Arial"/>
                          <a:cs typeface="Arial"/>
                        </a:rPr>
                        <a:t>Source finding</a:t>
                      </a:r>
                    </a:p>
                  </a:txBody>
                  <a:tcPr marL="91440" marR="91440" marT="45720" marB="45720" anchor="ctr">
                    <a:solidFill>
                      <a:srgbClr val="F2F3F5"/>
                    </a:solidFill>
                  </a:tcPr>
                </a:tc>
                <a:tc>
                  <a:txBody>
                    <a:bodyPr lIns="114300" tIns="76200" rIns="95250" bIns="76200"/>
                    <a:lstStyle/>
                    <a:p>
                      <a:r>
                        <a:rPr sz="1800" b="0">
                          <a:solidFill>
                            <a:srgbClr val="111111"/>
                          </a:solidFill>
                          <a:latin typeface="Arial"/>
                          <a:ea typeface="Arial"/>
                          <a:cs typeface="Arial"/>
                        </a:rPr>
                        <a:t>The saved programme has no holiday exceptions for 2026–2028.</a:t>
                      </a:r>
                    </a:p>
                  </a:txBody>
                  <a:tcPr marL="91440" marR="91440" marT="45720" marB="45720" anchor="ctr">
                    <a:solidFill>
                      <a:srgbClr val="F2F3F5"/>
                    </a:solidFill>
                  </a:tcPr>
                </a:tc>
              </a:tr>
              <a:tr h="554355">
                <a:tc>
                  <a:txBody>
                    <a:bodyPr lIns="114300" tIns="76200" rIns="95250" bIns="76200"/>
                    <a:lstStyle/>
                    <a:p>
                      <a:r>
                        <a:rPr sz="1800" b="0">
                          <a:solidFill>
                            <a:srgbClr val="111111"/>
                          </a:solidFill>
                          <a:latin typeface="Arial"/>
                          <a:ea typeface="Arial"/>
                          <a:cs typeface="Arial"/>
                        </a:rPr>
                        <a:t>Potential effect</a:t>
                      </a:r>
                    </a:p>
                  </a:txBody>
                  <a:tcPr marL="91440" marR="91440" marT="45720" marB="45720" anchor="ctr">
                    <a:solidFill>
                      <a:srgbClr val="FFFFFF"/>
                    </a:solidFill>
                  </a:tcPr>
                </a:tc>
                <a:tc>
                  <a:txBody>
                    <a:bodyPr lIns="114300" tIns="76200" rIns="95250" bIns="76200"/>
                    <a:lstStyle/>
                    <a:p>
                      <a:r>
                        <a:rPr sz="1800" b="0">
                          <a:solidFill>
                            <a:srgbClr val="111111"/>
                          </a:solidFill>
                          <a:latin typeface="Arial"/>
                          <a:ea typeface="Arial"/>
                          <a:cs typeface="Arial"/>
                        </a:rPr>
                        <a:t>Work could fall on dates when crews are unavailable. The time impact is unquantified.</a:t>
                      </a:r>
                    </a:p>
                  </a:txBody>
                  <a:tcPr marL="91440" marR="91440" marT="45720" marB="45720" anchor="ctr">
                    <a:solidFill>
                      <a:srgbClr val="FFFFFF"/>
                    </a:solidFill>
                  </a:tcPr>
                </a:tc>
              </a:tr>
              <a:tr h="554355">
                <a:tc>
                  <a:txBody>
                    <a:bodyPr lIns="114300" tIns="76200" rIns="95250" bIns="76200"/>
                    <a:lstStyle/>
                    <a:p>
                      <a:r>
                        <a:rPr sz="1800" b="0">
                          <a:solidFill>
                            <a:srgbClr val="111111"/>
                          </a:solidFill>
                          <a:latin typeface="Arial"/>
                          <a:ea typeface="Arial"/>
                          <a:cs typeface="Arial"/>
                        </a:rPr>
                        <a:t>Review comment</a:t>
                      </a:r>
                    </a:p>
                  </a:txBody>
                  <a:tcPr marL="91440" marR="91440" marT="45720" marB="45720" anchor="ctr">
                    <a:solidFill>
                      <a:srgbClr val="F2F3F5"/>
                    </a:solidFill>
                  </a:tcPr>
                </a:tc>
                <a:tc>
                  <a:txBody>
                    <a:bodyPr lIns="114300" tIns="76200" rIns="95250" bIns="76200"/>
                    <a:lstStyle/>
                    <a:p>
                      <a:r>
                        <a:rPr sz="1800" b="0">
                          <a:solidFill>
                            <a:srgbClr val="111111"/>
                          </a:solidFill>
                          <a:latin typeface="Arial"/>
                          <a:ea typeface="Arial"/>
                          <a:cs typeface="Arial"/>
                        </a:rPr>
                        <a:t>Submit the agreed holiday and shutdown calendar. Explain any continuous-work calendars.</a:t>
                      </a:r>
                    </a:p>
                  </a:txBody>
                  <a:tcPr marL="91440" marR="91440" marT="45720" marB="45720" anchor="ctr">
                    <a:solidFill>
                      <a:srgbClr val="F2F3F5"/>
                    </a:solidFill>
                  </a:tcPr>
                </a:tc>
              </a:tr>
              <a:tr h="554355">
                <a:tc>
                  <a:txBody>
                    <a:bodyPr lIns="114300" tIns="76200" rIns="95250" bIns="76200"/>
                    <a:lstStyle/>
                    <a:p>
                      <a:r>
                        <a:rPr sz="1800" b="0">
                          <a:solidFill>
                            <a:srgbClr val="111111"/>
                          </a:solidFill>
                          <a:latin typeface="Arial"/>
                          <a:ea typeface="Arial"/>
                          <a:cs typeface="Arial"/>
                        </a:rPr>
                        <a:t>Required action</a:t>
                      </a:r>
                    </a:p>
                  </a:txBody>
                  <a:tcPr marL="91440" marR="91440" marT="45720" marB="45720" anchor="ctr">
                    <a:solidFill>
                      <a:srgbClr val="FFFFFF"/>
                    </a:solidFill>
                  </a:tcPr>
                </a:tc>
                <a:tc>
                  <a:txBody>
                    <a:bodyPr lIns="114300" tIns="76200" rIns="95250" bIns="76200"/>
                    <a:lstStyle/>
                    <a:p>
                      <a:r>
                        <a:rPr sz="1800" b="0">
                          <a:solidFill>
                            <a:srgbClr val="111111"/>
                          </a:solidFill>
                          <a:latin typeface="Arial"/>
                          <a:ea typeface="Arial"/>
                          <a:cs typeface="Arial"/>
                        </a:rPr>
                        <a:t>Planner: update a copy, recalculate CPM and compare the same handover milestone.</a:t>
                      </a:r>
                    </a:p>
                  </a:txBody>
                  <a:tcPr marL="91440" marR="91440" marT="45720" marB="45720" anchor="ctr">
                    <a:solidFill>
                      <a:srgbClr val="FFFFFF"/>
                    </a:solidFill>
                  </a:tcPr>
                </a:tc>
              </a:tr>
            </a:tbl>
          </a:graphicData>
        </a:graphic>
      </p:graphicFrame>
      <p:sp>
        <p:nvSpPr>
          <p:cNvPr id="9" name="training-text-7">
            <a:extLst xmlns:a="http://schemas.openxmlformats.org/drawingml/2006/main">
              <a:ext uri="{FF2B5EF4-FFF2-40B4-BE49-F238E27FC236}">
                <a16:creationId xmlns:a16="http://schemas.microsoft.com/office/drawing/2014/main" id="{11E01E32-93E0-43D6-B2F2-A3DD7EB61611}"/>
              </a:ext>
            </a:extLst>
          </p:cNvPr>
          <p:cNvSpPr>
            <a:spLocks xmlns:a="http://schemas.openxmlformats.org/drawingml/2006/main" noGrp="1"/>
          </p:cNvSpPr>
          <p:nvPr/>
        </p:nvSpPr>
        <p:spPr>
          <a:xfrm xmlns:a="http://schemas.openxmlformats.org/drawingml/2006/main">
            <a:off x="609600" y="57721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65E68"/>
                </a:solidFill>
                <a:latin typeface="Arial"/>
                <a:ea typeface="Arial"/>
                <a:cs typeface="Arial"/>
              </a:defRPr>
            </a:pPr>
            <a:r>
              <a:rPr sz="1725" b="0">
                <a:solidFill>
                  <a:srgbClr val="565E68"/>
                </a:solidFill>
                <a:latin typeface="Arial"/>
                <a:ea typeface="Arial"/>
                <a:cs typeface="Arial"/>
              </a:rPr>
              <a:t>Training response due: 02 Apr 2027. Status: open pending evidence.</a:t>
            </a:r>
          </a:p>
        </p:txBody>
      </p:sp>
    </p:spTree>
    <p:extLst>
      <p:ext uri="{BB962C8B-B14F-4D97-AF65-F5344CB8AC3E}">
        <p14:creationId xmlns:p14="http://schemas.microsoft.com/office/powerpoint/2010/main" val="102505413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raining-text-8">
            <a:extLst xmlns:a="http://schemas.openxmlformats.org/drawingml/2006/main">
              <a:ext uri="{FF2B5EF4-FFF2-40B4-BE49-F238E27FC236}">
                <a16:creationId xmlns:a16="http://schemas.microsoft.com/office/drawing/2014/main" id="{B292C9B3-00C8-4A7B-9F82-B9CB40A53504}"/>
              </a:ext>
            </a:extLst>
          </p:cNvPr>
          <p:cNvSpPr>
            <a:spLocks xmlns:a="http://schemas.openxmlformats.org/drawingml/2006/main" noGrp="1"/>
          </p:cNvSpPr>
          <p:nvPr/>
        </p:nvSpPr>
        <p:spPr>
          <a:xfrm xmlns:a="http://schemas.openxmlformats.org/drawingml/2006/main">
            <a:off x="609600" y="323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2563EB"/>
                </a:solidFill>
                <a:latin typeface="Arial"/>
                <a:ea typeface="Arial"/>
                <a:cs typeface="Arial"/>
              </a:defRPr>
            </a:pPr>
            <a:r>
              <a:rPr sz="1275" b="1">
                <a:solidFill>
                  <a:srgbClr val="2563EB"/>
                </a:solidFill>
                <a:latin typeface="Arial"/>
                <a:ea typeface="Arial"/>
                <a:cs typeface="Arial"/>
              </a:rPr>
              <a:t>TRAINING 02 / ASSUMED QUANTITIES</a:t>
            </a:r>
          </a:p>
        </p:txBody>
      </p:sp>
      <p:sp>
        <p:nvSpPr>
          <p:cNvPr id="2" name="training-text-9">
            <a:extLst xmlns:a="http://schemas.openxmlformats.org/drawingml/2006/main">
              <a:ext uri="{FF2B5EF4-FFF2-40B4-BE49-F238E27FC236}">
                <a16:creationId xmlns:a16="http://schemas.microsoft.com/office/drawing/2014/main" id="{D71CE740-FF88-4ADD-BBC0-B1BC4DFF5A9C}"/>
              </a:ext>
            </a:extLst>
          </p:cNvPr>
          <p:cNvSpPr>
            <a:spLocks xmlns:a="http://schemas.openxmlformats.org/drawingml/2006/main" noGrp="1"/>
          </p:cNvSpPr>
          <p:nvPr/>
        </p:nvSpPr>
        <p:spPr>
          <a:xfrm xmlns:a="http://schemas.openxmlformats.org/drawingml/2006/main">
            <a:off x="609600" y="8001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11111"/>
                </a:solidFill>
                <a:latin typeface="Arial"/>
                <a:ea typeface="Arial"/>
                <a:cs typeface="Arial"/>
              </a:defRPr>
            </a:pPr>
            <a:r>
              <a:rPr sz="3300" b="1">
                <a:solidFill>
                  <a:srgbClr val="111111"/>
                </a:solidFill>
                <a:latin typeface="Arial"/>
                <a:ea typeface="Arial"/>
                <a:cs typeface="Arial"/>
              </a:rPr>
              <a:t>Progress Verification &amp; Reporting</a:t>
            </a:r>
          </a:p>
        </p:txBody>
      </p:sp>
      <p:sp>
        <p:nvSpPr>
          <p:cNvPr id="3" name="training-text-10">
            <a:extLst xmlns:a="http://schemas.openxmlformats.org/drawingml/2006/main">
              <a:ext uri="{FF2B5EF4-FFF2-40B4-BE49-F238E27FC236}">
                <a16:creationId xmlns:a16="http://schemas.microsoft.com/office/drawing/2014/main" id="{C54BC5F1-7740-45AD-BC85-4C380AC93BB2}"/>
              </a:ext>
            </a:extLst>
          </p:cNvPr>
          <p:cNvSpPr>
            <a:spLocks xmlns:a="http://schemas.openxmlformats.org/drawingml/2006/main" noGrp="1"/>
          </p:cNvSpPr>
          <p:nvPr/>
        </p:nvSpPr>
        <p:spPr>
          <a:xfrm xmlns:a="http://schemas.openxmlformats.org/drawingml/2006/main">
            <a:off x="609600" y="61436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5E68"/>
                </a:solidFill>
                <a:latin typeface="Arial"/>
                <a:ea typeface="Arial"/>
                <a:cs typeface="Arial"/>
              </a:defRPr>
            </a:pPr>
            <a:r>
              <a:rPr sz="1275" b="0">
                <a:solidFill>
                  <a:srgbClr val="565E68"/>
                </a:solidFill>
                <a:latin typeface="Arial"/>
                <a:ea typeface="Arial"/>
                <a:cs typeface="Arial"/>
              </a:rPr>
              <a:t>Independent training exercise using assumed events and data; not a live contractual claim.</a:t>
            </a:r>
          </a:p>
        </p:txBody>
      </p:sp>
      <p:sp>
        <p:nvSpPr>
          <p:cNvPr id="4" name="">
            <a:extLst xmlns:a="http://schemas.openxmlformats.org/drawingml/2006/main">
              <a:ext uri="{FF2B5EF4-FFF2-40B4-BE49-F238E27FC236}">
                <a16:creationId xmlns:a16="http://schemas.microsoft.com/office/drawing/2014/main" id="{C3306455-550E-48DA-8729-40DBB06F477C}"/>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9525">
            <a:solidFill>
              <a:srgbClr val="D8DDE3"/>
            </a:solidFill>
          </a:ln>
        </p:spPr>
      </p:sp>
      <p:sp>
        <p:nvSpPr>
          <p:cNvPr id="5" name="training-text-11">
            <a:extLst xmlns:a="http://schemas.openxmlformats.org/drawingml/2006/main">
              <a:ext uri="{FF2B5EF4-FFF2-40B4-BE49-F238E27FC236}">
                <a16:creationId xmlns:a16="http://schemas.microsoft.com/office/drawing/2014/main" id="{5F506A5E-D530-428E-BF9C-4FDD10006977}"/>
              </a:ext>
            </a:extLst>
          </p:cNvPr>
          <p:cNvSpPr>
            <a:spLocks xmlns:a="http://schemas.openxmlformats.org/drawingml/2006/main" noGrp="1"/>
          </p:cNvSpPr>
          <p:nvPr/>
        </p:nvSpPr>
        <p:spPr>
          <a:xfrm xmlns:a="http://schemas.openxmlformats.org/drawingml/2006/main">
            <a:off x="609600" y="65722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0">
                <a:solidFill>
                  <a:srgbClr val="565E68"/>
                </a:solidFill>
                <a:latin typeface="Arial"/>
                <a:ea typeface="Arial"/>
                <a:cs typeface="Arial"/>
              </a:defRPr>
            </a:pPr>
            <a:r>
              <a:rPr sz="975" b="0">
                <a:solidFill>
                  <a:srgbClr val="565E68"/>
                </a:solidFill>
                <a:latin typeface="Arial"/>
                <a:ea typeface="Arial"/>
                <a:cs typeface="Arial"/>
              </a:rPr>
              <a:t>ALI BAYOUMI  /  CONSULTANT REVIEW TRAINING</a:t>
            </a:r>
          </a:p>
        </p:txBody>
      </p:sp>
      <p:sp>
        <p:nvSpPr>
          <p:cNvPr id="6" name="training-text-12">
            <a:extLst xmlns:a="http://schemas.openxmlformats.org/drawingml/2006/main">
              <a:ext uri="{FF2B5EF4-FFF2-40B4-BE49-F238E27FC236}">
                <a16:creationId xmlns:a16="http://schemas.microsoft.com/office/drawing/2014/main" id="{DE626E9E-2363-4113-8941-39F150D008D2}"/>
              </a:ext>
            </a:extLst>
          </p:cNvPr>
          <p:cNvSpPr>
            <a:spLocks xmlns:a="http://schemas.openxmlformats.org/drawingml/2006/main" noGrp="1"/>
          </p:cNvSpPr>
          <p:nvPr/>
        </p:nvSpPr>
        <p:spPr>
          <a:xfrm xmlns:a="http://schemas.openxmlformats.org/drawingml/2006/main">
            <a:off x="11144250" y="652462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111111"/>
                </a:solidFill>
                <a:latin typeface="Arial"/>
                <a:ea typeface="Arial"/>
                <a:cs typeface="Arial"/>
              </a:defRPr>
            </a:pPr>
            <a:r>
              <a:rPr sz="1350" b="0">
                <a:solidFill>
                  <a:srgbClr val="111111"/>
                </a:solidFill>
                <a:latin typeface="Arial"/>
                <a:ea typeface="Arial"/>
                <a:cs typeface="Arial"/>
              </a:rPr>
              <a:t>17</a:t>
            </a:r>
          </a:p>
        </p:txBody>
      </p:sp>
      <p:sp>
        <p:nvSpPr>
          <p:cNvPr id="7" name="training-text-13">
            <a:extLst xmlns:a="http://schemas.openxmlformats.org/drawingml/2006/main">
              <a:ext uri="{FF2B5EF4-FFF2-40B4-BE49-F238E27FC236}">
                <a16:creationId xmlns:a16="http://schemas.microsoft.com/office/drawing/2014/main" id="{3AB05436-6A4E-4991-A830-17587C35C32D}"/>
              </a:ext>
            </a:extLst>
          </p:cNvPr>
          <p:cNvSpPr>
            <a:spLocks xmlns:a="http://schemas.openxmlformats.org/drawingml/2006/main" noGrp="1"/>
          </p:cNvSpPr>
          <p:nvPr/>
        </p:nvSpPr>
        <p:spPr>
          <a:xfrm xmlns:a="http://schemas.openxmlformats.org/drawingml/2006/main">
            <a:off x="609600" y="1762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65E68"/>
                </a:solidFill>
                <a:latin typeface="Arial"/>
                <a:ea typeface="Arial"/>
                <a:cs typeface="Arial"/>
              </a:defRPr>
            </a:pPr>
            <a:r>
              <a:rPr sz="1800" b="0">
                <a:solidFill>
                  <a:srgbClr val="565E68"/>
                </a:solidFill>
                <a:latin typeface="Arial"/>
                <a:ea typeface="Arial"/>
                <a:cs typeface="Arial"/>
              </a:rPr>
              <a:t>Slab package: 400 m³ total scope. Reporting cut: 01 Apr 2027.</a:t>
            </a:r>
          </a:p>
        </p:txBody>
      </p:sp>
      <p:graphicFrame>
        <p:nvGraphicFramePr>
          <p:cNvPr id="19" name=""/>
          <p:cNvGraphicFramePr/>
          <p:nvPr/>
        </p:nvGraphicFramePr>
        <p:xfrm>
          <a:off xmlns:a="http://schemas.openxmlformats.org/drawingml/2006/main" x="609600" y="2333625"/>
          <a:ext xmlns:a="http://schemas.openxmlformats.org/drawingml/2006/main" cx="10972800" cy="1924050"/>
        </p:xfrm>
        <a:graphic xmlns:a="http://schemas.openxmlformats.org/drawingml/2006/main">
          <a:graphicData uri="http://schemas.openxmlformats.org/drawingml/2006/table">
            <a:tbl>
              <a:tblPr/>
              <a:tblGrid>
                <a:gridCol w="3333750"/>
                <a:gridCol w="1809750"/>
                <a:gridCol w="1619250"/>
                <a:gridCol w="4210050"/>
              </a:tblGrid>
              <a:tr h="481013">
                <a:tc>
                  <a:txBody>
                    <a:bodyPr lIns="114300" tIns="76200" rIns="95250" bIns="76200"/>
                    <a:lstStyle/>
                    <a:p>
                      <a:r>
                        <a:rPr sz="1800" b="1">
                          <a:solidFill>
                            <a:srgbClr val="FFFFFF"/>
                          </a:solidFill>
                          <a:latin typeface="Arial"/>
                          <a:ea typeface="Arial"/>
                          <a:cs typeface="Arial"/>
                        </a:rPr>
                        <a:t>Reporting basis</a:t>
                      </a:r>
                    </a:p>
                  </a:txBody>
                  <a:tcPr marL="91440" marR="91440" marT="45720" marB="45720" anchor="ctr">
                    <a:solidFill>
                      <a:srgbClr val="111111"/>
                    </a:solidFill>
                  </a:tcPr>
                </a:tc>
                <a:tc>
                  <a:txBody>
                    <a:bodyPr lIns="114300" tIns="76200" rIns="95250" bIns="76200"/>
                    <a:lstStyle/>
                    <a:p>
                      <a:r>
                        <a:rPr sz="1800" b="1">
                          <a:solidFill>
                            <a:srgbClr val="FFFFFF"/>
                          </a:solidFill>
                          <a:latin typeface="Arial"/>
                          <a:ea typeface="Arial"/>
                          <a:cs typeface="Arial"/>
                        </a:rPr>
                        <a:t>Quantity</a:t>
                      </a:r>
                    </a:p>
                  </a:txBody>
                  <a:tcPr marL="91440" marR="91440" marT="45720" marB="45720" anchor="ctr">
                    <a:solidFill>
                      <a:srgbClr val="111111"/>
                    </a:solidFill>
                  </a:tcPr>
                </a:tc>
                <a:tc>
                  <a:txBody>
                    <a:bodyPr lIns="114300" tIns="76200" rIns="95250" bIns="76200"/>
                    <a:lstStyle/>
                    <a:p>
                      <a:r>
                        <a:rPr sz="1800" b="1">
                          <a:solidFill>
                            <a:srgbClr val="FFFFFF"/>
                          </a:solidFill>
                          <a:latin typeface="Arial"/>
                          <a:ea typeface="Arial"/>
                          <a:cs typeface="Arial"/>
                        </a:rPr>
                        <a:t>Progress</a:t>
                      </a:r>
                    </a:p>
                  </a:txBody>
                  <a:tcPr marL="91440" marR="91440" marT="45720" marB="45720" anchor="ctr">
                    <a:solidFill>
                      <a:srgbClr val="111111"/>
                    </a:solidFill>
                  </a:tcPr>
                </a:tc>
                <a:tc>
                  <a:txBody>
                    <a:bodyPr lIns="114300" tIns="76200" rIns="95250" bIns="76200"/>
                    <a:lstStyle/>
                    <a:p>
                      <a:r>
                        <a:rPr sz="1800" b="1">
                          <a:solidFill>
                            <a:srgbClr val="FFFFFF"/>
                          </a:solidFill>
                          <a:latin typeface="Arial"/>
                          <a:ea typeface="Arial"/>
                          <a:cs typeface="Arial"/>
                        </a:rPr>
                        <a:t>Training evidence</a:t>
                      </a:r>
                    </a:p>
                  </a:txBody>
                  <a:tcPr marL="91440" marR="91440" marT="45720" marB="45720" anchor="ctr">
                    <a:solidFill>
                      <a:srgbClr val="111111"/>
                    </a:solidFill>
                  </a:tcPr>
                </a:tc>
              </a:tr>
              <a:tr h="481013">
                <a:tc>
                  <a:txBody>
                    <a:bodyPr lIns="114300" tIns="76200" rIns="95250" bIns="76200"/>
                    <a:lstStyle/>
                    <a:p>
                      <a:r>
                        <a:rPr sz="1800" b="0">
                          <a:solidFill>
                            <a:srgbClr val="111111"/>
                          </a:solidFill>
                          <a:latin typeface="Arial"/>
                          <a:ea typeface="Arial"/>
                          <a:cs typeface="Arial"/>
                        </a:rPr>
                        <a:t>Planned to date</a:t>
                      </a:r>
                    </a:p>
                  </a:txBody>
                  <a:tcPr marL="91440" marR="91440" marT="45720" marB="45720" anchor="ctr">
                    <a:solidFill>
                      <a:srgbClr val="F2F3F5"/>
                    </a:solidFill>
                  </a:tcPr>
                </a:tc>
                <a:tc>
                  <a:txBody>
                    <a:bodyPr lIns="114300" tIns="76200" rIns="95250" bIns="76200"/>
                    <a:lstStyle/>
                    <a:p>
                      <a:r>
                        <a:rPr sz="1800" b="0">
                          <a:solidFill>
                            <a:srgbClr val="111111"/>
                          </a:solidFill>
                          <a:latin typeface="Arial"/>
                          <a:ea typeface="Arial"/>
                          <a:cs typeface="Arial"/>
                        </a:rPr>
                        <a:t>200 m³</a:t>
                      </a:r>
                    </a:p>
                  </a:txBody>
                  <a:tcPr marL="91440" marR="91440" marT="45720" marB="45720" anchor="ctr">
                    <a:solidFill>
                      <a:srgbClr val="F2F3F5"/>
                    </a:solidFill>
                  </a:tcPr>
                </a:tc>
                <a:tc>
                  <a:txBody>
                    <a:bodyPr lIns="114300" tIns="76200" rIns="95250" bIns="76200"/>
                    <a:lstStyle/>
                    <a:p>
                      <a:r>
                        <a:rPr sz="1800" b="0">
                          <a:solidFill>
                            <a:srgbClr val="111111"/>
                          </a:solidFill>
                          <a:latin typeface="Arial"/>
                          <a:ea typeface="Arial"/>
                          <a:cs typeface="Arial"/>
                        </a:rPr>
                        <a:t>50%</a:t>
                      </a:r>
                    </a:p>
                  </a:txBody>
                  <a:tcPr marL="91440" marR="91440" marT="45720" marB="45720" anchor="ctr">
                    <a:solidFill>
                      <a:srgbClr val="F2F3F5"/>
                    </a:solidFill>
                  </a:tcPr>
                </a:tc>
                <a:tc>
                  <a:txBody>
                    <a:bodyPr lIns="114300" tIns="76200" rIns="95250" bIns="76200"/>
                    <a:lstStyle/>
                    <a:p>
                      <a:r>
                        <a:rPr sz="1800" b="0">
                          <a:solidFill>
                            <a:srgbClr val="111111"/>
                          </a:solidFill>
                          <a:latin typeface="Arial"/>
                          <a:ea typeface="Arial"/>
                          <a:cs typeface="Arial"/>
                        </a:rPr>
                        <a:t>Assumed quantity plan</a:t>
                      </a:r>
                    </a:p>
                  </a:txBody>
                  <a:tcPr marL="91440" marR="91440" marT="45720" marB="45720" anchor="ctr">
                    <a:solidFill>
                      <a:srgbClr val="F2F3F5"/>
                    </a:solidFill>
                  </a:tcPr>
                </a:tc>
              </a:tr>
              <a:tr h="481013">
                <a:tc>
                  <a:txBody>
                    <a:bodyPr lIns="114300" tIns="76200" rIns="95250" bIns="76200"/>
                    <a:lstStyle/>
                    <a:p>
                      <a:r>
                        <a:rPr sz="1800" b="0">
                          <a:solidFill>
                            <a:srgbClr val="111111"/>
                          </a:solidFill>
                          <a:latin typeface="Arial"/>
                          <a:ea typeface="Arial"/>
                          <a:cs typeface="Arial"/>
                        </a:rPr>
                        <a:t>Contractor reported</a:t>
                      </a:r>
                    </a:p>
                  </a:txBody>
                  <a:tcPr marL="91440" marR="91440" marT="45720" marB="45720" anchor="ctr">
                    <a:solidFill>
                      <a:srgbClr val="FFFFFF"/>
                    </a:solidFill>
                  </a:tcPr>
                </a:tc>
                <a:tc>
                  <a:txBody>
                    <a:bodyPr lIns="114300" tIns="76200" rIns="95250" bIns="76200"/>
                    <a:lstStyle/>
                    <a:p>
                      <a:r>
                        <a:rPr sz="1800" b="0">
                          <a:solidFill>
                            <a:srgbClr val="111111"/>
                          </a:solidFill>
                          <a:latin typeface="Arial"/>
                          <a:ea typeface="Arial"/>
                          <a:cs typeface="Arial"/>
                        </a:rPr>
                        <a:t>180 m³</a:t>
                      </a:r>
                    </a:p>
                  </a:txBody>
                  <a:tcPr marL="91440" marR="91440" marT="45720" marB="45720" anchor="ctr">
                    <a:solidFill>
                      <a:srgbClr val="FFFFFF"/>
                    </a:solidFill>
                  </a:tcPr>
                </a:tc>
                <a:tc>
                  <a:txBody>
                    <a:bodyPr lIns="114300" tIns="76200" rIns="95250" bIns="76200"/>
                    <a:lstStyle/>
                    <a:p>
                      <a:r>
                        <a:rPr sz="1800" b="0">
                          <a:solidFill>
                            <a:srgbClr val="111111"/>
                          </a:solidFill>
                          <a:latin typeface="Arial"/>
                          <a:ea typeface="Arial"/>
                          <a:cs typeface="Arial"/>
                        </a:rPr>
                        <a:t>45%</a:t>
                      </a:r>
                    </a:p>
                  </a:txBody>
                  <a:tcPr marL="91440" marR="91440" marT="45720" marB="45720" anchor="ctr">
                    <a:solidFill>
                      <a:srgbClr val="FFFFFF"/>
                    </a:solidFill>
                  </a:tcPr>
                </a:tc>
                <a:tc>
                  <a:txBody>
                    <a:bodyPr lIns="114300" tIns="76200" rIns="95250" bIns="76200"/>
                    <a:lstStyle/>
                    <a:p>
                      <a:r>
                        <a:rPr sz="1800" b="0">
                          <a:solidFill>
                            <a:srgbClr val="111111"/>
                          </a:solidFill>
                          <a:latin typeface="Arial"/>
                          <a:ea typeface="Arial"/>
                          <a:cs typeface="Arial"/>
                        </a:rPr>
                        <a:t>Assumed daily report</a:t>
                      </a:r>
                    </a:p>
                  </a:txBody>
                  <a:tcPr marL="91440" marR="91440" marT="45720" marB="45720" anchor="ctr">
                    <a:solidFill>
                      <a:srgbClr val="FFFFFF"/>
                    </a:solidFill>
                  </a:tcPr>
                </a:tc>
              </a:tr>
              <a:tr h="481013">
                <a:tc>
                  <a:txBody>
                    <a:bodyPr lIns="114300" tIns="76200" rIns="95250" bIns="76200"/>
                    <a:lstStyle/>
                    <a:p>
                      <a:r>
                        <a:rPr sz="1800" b="0">
                          <a:solidFill>
                            <a:srgbClr val="111111"/>
                          </a:solidFill>
                          <a:latin typeface="Arial"/>
                          <a:ea typeface="Arial"/>
                          <a:cs typeface="Arial"/>
                        </a:rPr>
                        <a:t>Verified in exercise</a:t>
                      </a:r>
                    </a:p>
                  </a:txBody>
                  <a:tcPr marL="91440" marR="91440" marT="45720" marB="45720" anchor="ctr">
                    <a:solidFill>
                      <a:srgbClr val="F2F3F5"/>
                    </a:solidFill>
                  </a:tcPr>
                </a:tc>
                <a:tc>
                  <a:txBody>
                    <a:bodyPr lIns="114300" tIns="76200" rIns="95250" bIns="76200"/>
                    <a:lstStyle/>
                    <a:p>
                      <a:r>
                        <a:rPr sz="1800" b="0">
                          <a:solidFill>
                            <a:srgbClr val="111111"/>
                          </a:solidFill>
                          <a:latin typeface="Arial"/>
                          <a:ea typeface="Arial"/>
                          <a:cs typeface="Arial"/>
                        </a:rPr>
                        <a:t>160 m³</a:t>
                      </a:r>
                    </a:p>
                  </a:txBody>
                  <a:tcPr marL="91440" marR="91440" marT="45720" marB="45720" anchor="ctr">
                    <a:solidFill>
                      <a:srgbClr val="F2F3F5"/>
                    </a:solidFill>
                  </a:tcPr>
                </a:tc>
                <a:tc>
                  <a:txBody>
                    <a:bodyPr lIns="114300" tIns="76200" rIns="95250" bIns="76200"/>
                    <a:lstStyle/>
                    <a:p>
                      <a:r>
                        <a:rPr sz="1800" b="0">
                          <a:solidFill>
                            <a:srgbClr val="111111"/>
                          </a:solidFill>
                          <a:latin typeface="Arial"/>
                          <a:ea typeface="Arial"/>
                          <a:cs typeface="Arial"/>
                        </a:rPr>
                        <a:t>40%</a:t>
                      </a:r>
                    </a:p>
                  </a:txBody>
                  <a:tcPr marL="91440" marR="91440" marT="45720" marB="45720" anchor="ctr">
                    <a:solidFill>
                      <a:srgbClr val="F2F3F5"/>
                    </a:solidFill>
                  </a:tcPr>
                </a:tc>
                <a:tc>
                  <a:txBody>
                    <a:bodyPr lIns="114300" tIns="76200" rIns="95250" bIns="76200"/>
                    <a:lstStyle/>
                    <a:p>
                      <a:r>
                        <a:rPr sz="1800" b="0">
                          <a:solidFill>
                            <a:srgbClr val="111111"/>
                          </a:solidFill>
                          <a:latin typeface="Arial"/>
                          <a:ea typeface="Arial"/>
                          <a:cs typeface="Arial"/>
                        </a:rPr>
                        <a:t>Mock Q-001 + IR-001</a:t>
                      </a:r>
                    </a:p>
                  </a:txBody>
                  <a:tcPr marL="91440" marR="91440" marT="45720" marB="45720" anchor="ctr">
                    <a:solidFill>
                      <a:srgbClr val="F2F3F5"/>
                    </a:solidFill>
                  </a:tcPr>
                </a:tc>
              </a:tr>
            </a:tbl>
          </a:graphicData>
        </a:graphic>
      </p:graphicFrame>
      <p:sp>
        <p:nvSpPr>
          <p:cNvPr id="9" name="training-text-14">
            <a:extLst xmlns:a="http://schemas.openxmlformats.org/drawingml/2006/main">
              <a:ext uri="{FF2B5EF4-FFF2-40B4-BE49-F238E27FC236}">
                <a16:creationId xmlns:a16="http://schemas.microsoft.com/office/drawing/2014/main" id="{8D5BA9E4-6EE1-40FE-A5E0-493F00885187}"/>
              </a:ext>
            </a:extLst>
          </p:cNvPr>
          <p:cNvSpPr>
            <a:spLocks xmlns:a="http://schemas.openxmlformats.org/drawingml/2006/main" noGrp="1"/>
          </p:cNvSpPr>
          <p:nvPr/>
        </p:nvSpPr>
        <p:spPr>
          <a:xfrm xmlns:a="http://schemas.openxmlformats.org/drawingml/2006/main">
            <a:off x="609600" y="4419600"/>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2563EB"/>
                </a:solidFill>
                <a:latin typeface="Arial"/>
                <a:ea typeface="Arial"/>
                <a:cs typeface="Arial"/>
              </a:defRPr>
            </a:pPr>
            <a:r>
              <a:rPr sz="2400" b="1">
                <a:solidFill>
                  <a:srgbClr val="2563EB"/>
                </a:solidFill>
                <a:latin typeface="Arial"/>
                <a:ea typeface="Arial"/>
                <a:cs typeface="Arial"/>
              </a:rPr>
              <a:t>−10 percentage points</a:t>
            </a:r>
          </a:p>
        </p:txBody>
      </p:sp>
      <p:sp>
        <p:nvSpPr>
          <p:cNvPr id="10" name="training-text-15">
            <a:extLst xmlns:a="http://schemas.openxmlformats.org/drawingml/2006/main">
              <a:ext uri="{FF2B5EF4-FFF2-40B4-BE49-F238E27FC236}">
                <a16:creationId xmlns:a16="http://schemas.microsoft.com/office/drawing/2014/main" id="{D166D2E0-1E59-420F-94FD-BD5B1D3E44C1}"/>
              </a:ext>
            </a:extLst>
          </p:cNvPr>
          <p:cNvSpPr>
            <a:spLocks xmlns:a="http://schemas.openxmlformats.org/drawingml/2006/main" noGrp="1"/>
          </p:cNvSpPr>
          <p:nvPr/>
        </p:nvSpPr>
        <p:spPr>
          <a:xfrm xmlns:a="http://schemas.openxmlformats.org/drawingml/2006/main">
            <a:off x="6096000" y="4495800"/>
            <a:ext cx="5486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565E68"/>
                </a:solidFill>
                <a:latin typeface="Arial"/>
                <a:ea typeface="Arial"/>
                <a:cs typeface="Arial"/>
              </a:defRPr>
            </a:pPr>
            <a:r>
              <a:rPr sz="1725" b="0">
                <a:solidFill>
                  <a:srgbClr val="565E68"/>
                </a:solidFill>
                <a:latin typeface="Arial"/>
                <a:ea typeface="Arial"/>
                <a:cs typeface="Arial"/>
              </a:rPr>
              <a:t>Verified vs planned. Quantity shortfall: 40 m³.</a:t>
            </a:r>
          </a:p>
        </p:txBody>
      </p:sp>
      <p:graphicFrame>
        <p:nvGraphicFramePr>
          <p:cNvPr id="22" name=""/>
          <p:cNvGraphicFramePr/>
          <p:nvPr/>
        </p:nvGraphicFramePr>
        <p:xfrm>
          <a:off xmlns:a="http://schemas.openxmlformats.org/drawingml/2006/main" x="609600" y="4972050"/>
          <a:ext xmlns:a="http://schemas.openxmlformats.org/drawingml/2006/main" cx="10972800" cy="1028700"/>
        </p:xfrm>
        <a:graphic xmlns:a="http://schemas.openxmlformats.org/drawingml/2006/main">
          <a:graphicData uri="http://schemas.openxmlformats.org/drawingml/2006/table">
            <a:tbl>
              <a:tblPr/>
              <a:tblGrid>
                <a:gridCol w="857250"/>
                <a:gridCol w="2571750"/>
                <a:gridCol w="5524500"/>
                <a:gridCol w="2019300"/>
              </a:tblGrid>
              <a:tr h="342900">
                <a:tc>
                  <a:txBody>
                    <a:bodyPr lIns="114300" tIns="76200" rIns="95250" bIns="76200"/>
                    <a:lstStyle/>
                    <a:p>
                      <a:r>
                        <a:rPr sz="1425" b="1">
                          <a:solidFill>
                            <a:srgbClr val="FFFFFF"/>
                          </a:solidFill>
                          <a:latin typeface="Arial"/>
                          <a:ea typeface="Arial"/>
                          <a:cs typeface="Arial"/>
                        </a:rPr>
                        <a:t>Log</a:t>
                      </a:r>
                    </a:p>
                  </a:txBody>
                  <a:tcPr marL="91440" marR="91440" marT="45720" marB="45720" anchor="ctr">
                    <a:solidFill>
                      <a:srgbClr val="111111"/>
                    </a:solidFill>
                  </a:tcPr>
                </a:tc>
                <a:tc>
                  <a:txBody>
                    <a:bodyPr lIns="114300" tIns="76200" rIns="95250" bIns="76200"/>
                    <a:lstStyle/>
                    <a:p>
                      <a:r>
                        <a:rPr sz="1425" b="1">
                          <a:solidFill>
                            <a:srgbClr val="FFFFFF"/>
                          </a:solidFill>
                          <a:latin typeface="Arial"/>
                          <a:ea typeface="Arial"/>
                          <a:cs typeface="Arial"/>
                        </a:rPr>
                        <a:t>Finding</a:t>
                      </a:r>
                    </a:p>
                  </a:txBody>
                  <a:tcPr marL="91440" marR="91440" marT="45720" marB="45720" anchor="ctr">
                    <a:solidFill>
                      <a:srgbClr val="111111"/>
                    </a:solidFill>
                  </a:tcPr>
                </a:tc>
                <a:tc>
                  <a:txBody>
                    <a:bodyPr lIns="114300" tIns="76200" rIns="95250" bIns="76200"/>
                    <a:lstStyle/>
                    <a:p>
                      <a:r>
                        <a:rPr sz="1425" b="1">
                          <a:solidFill>
                            <a:srgbClr val="FFFFFF"/>
                          </a:solidFill>
                          <a:latin typeface="Arial"/>
                          <a:ea typeface="Arial"/>
                          <a:cs typeface="Arial"/>
                        </a:rPr>
                        <a:t>Action owner / response</a:t>
                      </a:r>
                    </a:p>
                  </a:txBody>
                  <a:tcPr marL="91440" marR="91440" marT="45720" marB="45720" anchor="ctr">
                    <a:solidFill>
                      <a:srgbClr val="111111"/>
                    </a:solidFill>
                  </a:tcPr>
                </a:tc>
                <a:tc>
                  <a:txBody>
                    <a:bodyPr lIns="114300" tIns="76200" rIns="95250" bIns="76200"/>
                    <a:lstStyle/>
                    <a:p>
                      <a:r>
                        <a:rPr sz="1425" b="1">
                          <a:solidFill>
                            <a:srgbClr val="FFFFFF"/>
                          </a:solidFill>
                          <a:latin typeface="Arial"/>
                          <a:ea typeface="Arial"/>
                          <a:cs typeface="Arial"/>
                        </a:rPr>
                        <a:t>Due</a:t>
                      </a:r>
                    </a:p>
                  </a:txBody>
                  <a:tcPr marL="91440" marR="91440" marT="45720" marB="45720" anchor="ctr">
                    <a:solidFill>
                      <a:srgbClr val="111111"/>
                    </a:solidFill>
                  </a:tcPr>
                </a:tc>
              </a:tr>
              <a:tr h="342900">
                <a:tc>
                  <a:txBody>
                    <a:bodyPr lIns="114300" tIns="76200" rIns="95250" bIns="76200"/>
                    <a:lstStyle/>
                    <a:p>
                      <a:r>
                        <a:rPr sz="1425" b="0">
                          <a:solidFill>
                            <a:srgbClr val="111111"/>
                          </a:solidFill>
                          <a:latin typeface="Arial"/>
                          <a:ea typeface="Arial"/>
                          <a:cs typeface="Arial"/>
                        </a:rPr>
                        <a:t>D-01</a:t>
                      </a:r>
                    </a:p>
                  </a:txBody>
                  <a:tcPr marL="91440" marR="91440" marT="45720" marB="45720" anchor="ctr">
                    <a:solidFill>
                      <a:srgbClr val="F2F3F5"/>
                    </a:solidFill>
                  </a:tcPr>
                </a:tc>
                <a:tc>
                  <a:txBody>
                    <a:bodyPr lIns="114300" tIns="76200" rIns="95250" bIns="76200"/>
                    <a:lstStyle/>
                    <a:p>
                      <a:r>
                        <a:rPr sz="1425" b="0">
                          <a:solidFill>
                            <a:srgbClr val="111111"/>
                          </a:solidFill>
                          <a:latin typeface="Arial"/>
                          <a:ea typeface="Arial"/>
                          <a:cs typeface="Arial"/>
                        </a:rPr>
                        <a:t>40 m³ below plan</a:t>
                      </a:r>
                    </a:p>
                  </a:txBody>
                  <a:tcPr marL="91440" marR="91440" marT="45720" marB="45720" anchor="ctr">
                    <a:solidFill>
                      <a:srgbClr val="F2F3F5"/>
                    </a:solidFill>
                  </a:tcPr>
                </a:tc>
                <a:tc>
                  <a:txBody>
                    <a:bodyPr lIns="114300" tIns="76200" rIns="95250" bIns="76200"/>
                    <a:lstStyle/>
                    <a:p>
                      <a:r>
                        <a:rPr sz="1425" b="0">
                          <a:solidFill>
                            <a:srgbClr val="111111"/>
                          </a:solidFill>
                          <a:latin typeface="Arial"/>
                          <a:ea typeface="Arial"/>
                          <a:cs typeface="Arial"/>
                        </a:rPr>
                        <a:t>Site manager: submit recovery plan</a:t>
                      </a:r>
                    </a:p>
                  </a:txBody>
                  <a:tcPr marL="91440" marR="91440" marT="45720" marB="45720" anchor="ctr">
                    <a:solidFill>
                      <a:srgbClr val="F2F3F5"/>
                    </a:solidFill>
                  </a:tcPr>
                </a:tc>
                <a:tc>
                  <a:txBody>
                    <a:bodyPr lIns="114300" tIns="76200" rIns="95250" bIns="76200"/>
                    <a:lstStyle/>
                    <a:p>
                      <a:r>
                        <a:rPr sz="1425" b="0">
                          <a:solidFill>
                            <a:srgbClr val="111111"/>
                          </a:solidFill>
                          <a:latin typeface="Arial"/>
                          <a:ea typeface="Arial"/>
                          <a:cs typeface="Arial"/>
                        </a:rPr>
                        <a:t>02 Apr 2027</a:t>
                      </a:r>
                    </a:p>
                  </a:txBody>
                  <a:tcPr marL="91440" marR="91440" marT="45720" marB="45720" anchor="ctr">
                    <a:solidFill>
                      <a:srgbClr val="F2F3F5"/>
                    </a:solidFill>
                  </a:tcPr>
                </a:tc>
              </a:tr>
              <a:tr h="342900">
                <a:tc>
                  <a:txBody>
                    <a:bodyPr lIns="114300" tIns="76200" rIns="95250" bIns="76200"/>
                    <a:lstStyle/>
                    <a:p>
                      <a:r>
                        <a:rPr sz="1425" b="0">
                          <a:solidFill>
                            <a:srgbClr val="111111"/>
                          </a:solidFill>
                          <a:latin typeface="Arial"/>
                          <a:ea typeface="Arial"/>
                          <a:cs typeface="Arial"/>
                        </a:rPr>
                        <a:t>V-01</a:t>
                      </a:r>
                    </a:p>
                  </a:txBody>
                  <a:tcPr marL="91440" marR="91440" marT="45720" marB="45720" anchor="ctr">
                    <a:solidFill>
                      <a:srgbClr val="FFFFFF"/>
                    </a:solidFill>
                  </a:tcPr>
                </a:tc>
                <a:tc>
                  <a:txBody>
                    <a:bodyPr lIns="114300" tIns="76200" rIns="95250" bIns="76200"/>
                    <a:lstStyle/>
                    <a:p>
                      <a:r>
                        <a:rPr sz="1425" b="0">
                          <a:solidFill>
                            <a:srgbClr val="111111"/>
                          </a:solidFill>
                          <a:latin typeface="Arial"/>
                          <a:ea typeface="Arial"/>
                          <a:cs typeface="Arial"/>
                        </a:rPr>
                        <a:t>20 m³ unverified</a:t>
                      </a:r>
                    </a:p>
                  </a:txBody>
                  <a:tcPr marL="91440" marR="91440" marT="45720" marB="45720" anchor="ctr">
                    <a:solidFill>
                      <a:srgbClr val="FFFFFF"/>
                    </a:solidFill>
                  </a:tcPr>
                </a:tc>
                <a:tc>
                  <a:txBody>
                    <a:bodyPr lIns="114300" tIns="76200" rIns="95250" bIns="76200"/>
                    <a:lstStyle/>
                    <a:p>
                      <a:r>
                        <a:rPr sz="1425" b="0">
                          <a:solidFill>
                            <a:srgbClr val="111111"/>
                          </a:solidFill>
                          <a:latin typeface="Arial"/>
                          <a:ea typeface="Arial"/>
                          <a:cs typeface="Arial"/>
                        </a:rPr>
                        <a:t>Site engineer: reconcile records</a:t>
                      </a:r>
                    </a:p>
                  </a:txBody>
                  <a:tcPr marL="91440" marR="91440" marT="45720" marB="45720" anchor="ctr">
                    <a:solidFill>
                      <a:srgbClr val="FFFFFF"/>
                    </a:solidFill>
                  </a:tcPr>
                </a:tc>
                <a:tc>
                  <a:txBody>
                    <a:bodyPr lIns="114300" tIns="76200" rIns="95250" bIns="76200"/>
                    <a:lstStyle/>
                    <a:p>
                      <a:r>
                        <a:rPr sz="1425" b="0">
                          <a:solidFill>
                            <a:srgbClr val="111111"/>
                          </a:solidFill>
                          <a:latin typeface="Arial"/>
                          <a:ea typeface="Arial"/>
                          <a:cs typeface="Arial"/>
                        </a:rPr>
                        <a:t>02 Apr 2027</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58797135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training-text-16">
            <a:extLst xmlns:a="http://schemas.openxmlformats.org/drawingml/2006/main">
              <a:ext uri="{FF2B5EF4-FFF2-40B4-BE49-F238E27FC236}">
                <a16:creationId xmlns:a16="http://schemas.microsoft.com/office/drawing/2014/main" id="{67D24B3F-7946-4BC7-AF54-7C254A2794E8}"/>
              </a:ext>
            </a:extLst>
          </p:cNvPr>
          <p:cNvSpPr>
            <a:spLocks xmlns:a="http://schemas.openxmlformats.org/drawingml/2006/main" noGrp="1"/>
          </p:cNvSpPr>
          <p:nvPr/>
        </p:nvSpPr>
        <p:spPr>
          <a:xfrm xmlns:a="http://schemas.openxmlformats.org/drawingml/2006/main">
            <a:off x="609600" y="323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1">
                <a:solidFill>
                  <a:srgbClr val="2563EB"/>
                </a:solidFill>
                <a:latin typeface="Arial"/>
                <a:ea typeface="Arial"/>
                <a:cs typeface="Arial"/>
              </a:defRPr>
            </a:pPr>
            <a:r>
              <a:rPr sz="1275" b="1">
                <a:solidFill>
                  <a:srgbClr val="2563EB"/>
                </a:solidFill>
                <a:latin typeface="Arial"/>
                <a:ea typeface="Arial"/>
                <a:cs typeface="Arial"/>
              </a:rPr>
              <a:t>TRAINING 03 / ISOLATED CPM MODEL</a:t>
            </a:r>
          </a:p>
        </p:txBody>
      </p:sp>
      <p:sp>
        <p:nvSpPr>
          <p:cNvPr id="2" name="training-text-17">
            <a:extLst xmlns:a="http://schemas.openxmlformats.org/drawingml/2006/main">
              <a:ext uri="{FF2B5EF4-FFF2-40B4-BE49-F238E27FC236}">
                <a16:creationId xmlns:a16="http://schemas.microsoft.com/office/drawing/2014/main" id="{61EF46F7-8035-46B2-A8D6-16219552AC72}"/>
              </a:ext>
            </a:extLst>
          </p:cNvPr>
          <p:cNvSpPr>
            <a:spLocks xmlns:a="http://schemas.openxmlformats.org/drawingml/2006/main" noGrp="1"/>
          </p:cNvSpPr>
          <p:nvPr/>
        </p:nvSpPr>
        <p:spPr>
          <a:xfrm xmlns:a="http://schemas.openxmlformats.org/drawingml/2006/main">
            <a:off x="609600" y="8001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11111"/>
                </a:solidFill>
                <a:latin typeface="Arial"/>
                <a:ea typeface="Arial"/>
                <a:cs typeface="Arial"/>
              </a:defRPr>
            </a:pPr>
            <a:r>
              <a:rPr sz="3300" b="1">
                <a:solidFill>
                  <a:srgbClr val="111111"/>
                </a:solidFill>
                <a:latin typeface="Arial"/>
                <a:ea typeface="Arial"/>
                <a:cs typeface="Arial"/>
              </a:rPr>
              <a:t>Delay Analysis: Illustrative TIA</a:t>
            </a:r>
          </a:p>
        </p:txBody>
      </p:sp>
      <p:sp>
        <p:nvSpPr>
          <p:cNvPr id="3" name="training-text-18">
            <a:extLst xmlns:a="http://schemas.openxmlformats.org/drawingml/2006/main">
              <a:ext uri="{FF2B5EF4-FFF2-40B4-BE49-F238E27FC236}">
                <a16:creationId xmlns:a16="http://schemas.microsoft.com/office/drawing/2014/main" id="{D3C4EF49-C91A-426C-B992-C3EF4BFF7747}"/>
              </a:ext>
            </a:extLst>
          </p:cNvPr>
          <p:cNvSpPr>
            <a:spLocks xmlns:a="http://schemas.openxmlformats.org/drawingml/2006/main" noGrp="1"/>
          </p:cNvSpPr>
          <p:nvPr/>
        </p:nvSpPr>
        <p:spPr>
          <a:xfrm xmlns:a="http://schemas.openxmlformats.org/drawingml/2006/main">
            <a:off x="609600" y="61436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5E68"/>
                </a:solidFill>
                <a:latin typeface="Arial"/>
                <a:ea typeface="Arial"/>
                <a:cs typeface="Arial"/>
              </a:defRPr>
            </a:pPr>
            <a:r>
              <a:rPr sz="1275" b="0">
                <a:solidFill>
                  <a:srgbClr val="565E68"/>
                </a:solidFill>
                <a:latin typeface="Arial"/>
                <a:ea typeface="Arial"/>
                <a:cs typeface="Arial"/>
              </a:rPr>
              <a:t>Independent training exercise using assumed events and data; not a live contractual claim.</a:t>
            </a:r>
          </a:p>
        </p:txBody>
      </p:sp>
      <p:sp>
        <p:nvSpPr>
          <p:cNvPr id="4" name="">
            <a:extLst xmlns:a="http://schemas.openxmlformats.org/drawingml/2006/main">
              <a:ext uri="{FF2B5EF4-FFF2-40B4-BE49-F238E27FC236}">
                <a16:creationId xmlns:a16="http://schemas.microsoft.com/office/drawing/2014/main" id="{E23C74CB-C37C-4DA4-B36A-3CC37E606C0E}"/>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noFill xmlns:a="http://schemas.openxmlformats.org/drawingml/2006/main"/>
          <a:ln xmlns:a="http://schemas.openxmlformats.org/drawingml/2006/main" w="9525">
            <a:solidFill>
              <a:srgbClr val="D8DDE3"/>
            </a:solidFill>
          </a:ln>
        </p:spPr>
      </p:sp>
      <p:sp>
        <p:nvSpPr>
          <p:cNvPr id="5" name="training-text-19">
            <a:extLst xmlns:a="http://schemas.openxmlformats.org/drawingml/2006/main">
              <a:ext uri="{FF2B5EF4-FFF2-40B4-BE49-F238E27FC236}">
                <a16:creationId xmlns:a16="http://schemas.microsoft.com/office/drawing/2014/main" id="{DBAFB714-32B0-430F-80F2-32CAAAC7CE3E}"/>
              </a:ext>
            </a:extLst>
          </p:cNvPr>
          <p:cNvSpPr>
            <a:spLocks xmlns:a="http://schemas.openxmlformats.org/drawingml/2006/main" noGrp="1"/>
          </p:cNvSpPr>
          <p:nvPr/>
        </p:nvSpPr>
        <p:spPr>
          <a:xfrm xmlns:a="http://schemas.openxmlformats.org/drawingml/2006/main">
            <a:off x="609600" y="6572250"/>
            <a:ext cx="933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75" b="0">
                <a:solidFill>
                  <a:srgbClr val="565E68"/>
                </a:solidFill>
                <a:latin typeface="Arial"/>
                <a:ea typeface="Arial"/>
                <a:cs typeface="Arial"/>
              </a:defRPr>
            </a:pPr>
            <a:r>
              <a:rPr sz="975" b="0">
                <a:solidFill>
                  <a:srgbClr val="565E68"/>
                </a:solidFill>
                <a:latin typeface="Arial"/>
                <a:ea typeface="Arial"/>
                <a:cs typeface="Arial"/>
              </a:rPr>
              <a:t>ALI BAYOUMI  /  CONSULTANT REVIEW TRAINING</a:t>
            </a:r>
          </a:p>
        </p:txBody>
      </p:sp>
      <p:sp>
        <p:nvSpPr>
          <p:cNvPr id="6" name="training-text-20">
            <a:extLst xmlns:a="http://schemas.openxmlformats.org/drawingml/2006/main">
              <a:ext uri="{FF2B5EF4-FFF2-40B4-BE49-F238E27FC236}">
                <a16:creationId xmlns:a16="http://schemas.microsoft.com/office/drawing/2014/main" id="{1862C48E-9A8F-4108-AC4E-8EEB587E4295}"/>
              </a:ext>
            </a:extLst>
          </p:cNvPr>
          <p:cNvSpPr>
            <a:spLocks xmlns:a="http://schemas.openxmlformats.org/drawingml/2006/main" noGrp="1"/>
          </p:cNvSpPr>
          <p:nvPr/>
        </p:nvSpPr>
        <p:spPr>
          <a:xfrm xmlns:a="http://schemas.openxmlformats.org/drawingml/2006/main">
            <a:off x="11144250" y="652462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111111"/>
                </a:solidFill>
                <a:latin typeface="Arial"/>
                <a:ea typeface="Arial"/>
                <a:cs typeface="Arial"/>
              </a:defRPr>
            </a:pPr>
            <a:r>
              <a:rPr sz="1350" b="0">
                <a:solidFill>
                  <a:srgbClr val="111111"/>
                </a:solidFill>
                <a:latin typeface="Arial"/>
                <a:ea typeface="Arial"/>
                <a:cs typeface="Arial"/>
              </a:rPr>
              <a:t>18</a:t>
            </a:r>
          </a:p>
        </p:txBody>
      </p:sp>
      <p:sp>
        <p:nvSpPr>
          <p:cNvPr id="7" name="training-text-21">
            <a:extLst xmlns:a="http://schemas.openxmlformats.org/drawingml/2006/main">
              <a:ext uri="{FF2B5EF4-FFF2-40B4-BE49-F238E27FC236}">
                <a16:creationId xmlns:a16="http://schemas.microsoft.com/office/drawing/2014/main" id="{7A00A156-5D96-4772-B72F-F0089B4520FE}"/>
              </a:ext>
            </a:extLst>
          </p:cNvPr>
          <p:cNvSpPr>
            <a:spLocks xmlns:a="http://schemas.openxmlformats.org/drawingml/2006/main" noGrp="1"/>
          </p:cNvSpPr>
          <p:nvPr/>
        </p:nvSpPr>
        <p:spPr>
          <a:xfrm xmlns:a="http://schemas.openxmlformats.org/drawingml/2006/main">
            <a:off x="609600" y="17621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65E68"/>
                </a:solidFill>
                <a:latin typeface="Arial"/>
                <a:ea typeface="Arial"/>
                <a:cs typeface="Arial"/>
              </a:defRPr>
            </a:pPr>
            <a:r>
              <a:rPr sz="1650" b="0">
                <a:solidFill>
                  <a:srgbClr val="565E68"/>
                </a:solidFill>
                <a:latin typeface="Arial"/>
                <a:ea typeface="Arial"/>
                <a:cs typeface="Arial"/>
              </a:rPr>
              <a:t>Model data date: 05 Apr 2027, 08:00. Mon–Fri, 8h/day, no holidays.</a:t>
            </a:r>
          </a:p>
        </p:txBody>
      </p:sp>
      <p:sp>
        <p:nvSpPr>
          <p:cNvPr id="8" name="fragnet-node-0">
            <a:extLst xmlns:a="http://schemas.openxmlformats.org/drawingml/2006/main">
              <a:ext uri="{FF2B5EF4-FFF2-40B4-BE49-F238E27FC236}">
                <a16:creationId xmlns:a16="http://schemas.microsoft.com/office/drawing/2014/main" id="{11A4F47D-0F3D-4357-86BA-1F67014DC3D4}"/>
              </a:ext>
            </a:extLst>
          </p:cNvPr>
          <p:cNvSpPr>
            <a:spLocks xmlns:a="http://schemas.openxmlformats.org/drawingml/2006/main" noGrp="1"/>
          </p:cNvSpPr>
          <p:nvPr/>
        </p:nvSpPr>
        <p:spPr>
          <a:xfrm xmlns:a="http://schemas.openxmlformats.org/drawingml/2006/main">
            <a:off x="609600" y="2314575"/>
            <a:ext cx="20002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8DDE3"/>
            </a:solidFill>
          </a:ln>
        </p:spPr>
      </p:sp>
      <p:sp>
        <p:nvSpPr>
          <p:cNvPr id="9" name="training-text-22">
            <a:extLst xmlns:a="http://schemas.openxmlformats.org/drawingml/2006/main">
              <a:ext uri="{FF2B5EF4-FFF2-40B4-BE49-F238E27FC236}">
                <a16:creationId xmlns:a16="http://schemas.microsoft.com/office/drawing/2014/main" id="{B44C195A-141F-4309-BF5E-4A34649E4A98}"/>
              </a:ext>
            </a:extLst>
          </p:cNvPr>
          <p:cNvSpPr>
            <a:spLocks xmlns:a="http://schemas.openxmlformats.org/drawingml/2006/main" noGrp="1"/>
          </p:cNvSpPr>
          <p:nvPr/>
        </p:nvSpPr>
        <p:spPr>
          <a:xfrm xmlns:a="http://schemas.openxmlformats.org/drawingml/2006/main">
            <a:off x="723900" y="2400300"/>
            <a:ext cx="1771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111111"/>
                </a:solidFill>
                <a:latin typeface="Arial"/>
                <a:ea typeface="Arial"/>
                <a:cs typeface="Arial"/>
              </a:defRPr>
            </a:pPr>
            <a:r>
              <a:rPr sz="1575" b="0">
                <a:solidFill>
                  <a:srgbClr val="111111"/>
                </a:solidFill>
                <a:latin typeface="Arial"/>
                <a:ea typeface="Arial"/>
                <a:cs typeface="Arial"/>
              </a:rPr>
              <a:t>Release</a:t>
            </a:r>
          </a:p>
          <a:p xmlns:a="http://schemas.openxmlformats.org/drawingml/2006/main">
            <a:pPr>
              <a:defRPr sz="1575" b="0">
                <a:solidFill>
                  <a:srgbClr val="111111"/>
                </a:solidFill>
                <a:latin typeface="Arial"/>
                <a:ea typeface="Arial"/>
                <a:cs typeface="Arial"/>
              </a:defRPr>
            </a:pPr>
            <a:r>
              <a:rPr sz="1575" b="0">
                <a:solidFill>
                  <a:srgbClr val="111111"/>
                </a:solidFill>
                <a:latin typeface="Arial"/>
                <a:ea typeface="Arial"/>
                <a:cs typeface="Arial"/>
              </a:rPr>
              <a:t>0d</a:t>
            </a:r>
          </a:p>
        </p:txBody>
      </p:sp>
      <p:sp>
        <p:nvSpPr>
          <p:cNvPr id="10" name="training-text-23">
            <a:extLst xmlns:a="http://schemas.openxmlformats.org/drawingml/2006/main">
              <a:ext uri="{FF2B5EF4-FFF2-40B4-BE49-F238E27FC236}">
                <a16:creationId xmlns:a16="http://schemas.microsoft.com/office/drawing/2014/main" id="{7F0A4ACF-1328-4840-B2FB-90AF1A30A97B}"/>
              </a:ext>
            </a:extLst>
          </p:cNvPr>
          <p:cNvSpPr>
            <a:spLocks xmlns:a="http://schemas.openxmlformats.org/drawingml/2006/main" noGrp="1"/>
          </p:cNvSpPr>
          <p:nvPr/>
        </p:nvSpPr>
        <p:spPr>
          <a:xfrm xmlns:a="http://schemas.openxmlformats.org/drawingml/2006/main">
            <a:off x="2628900" y="2476500"/>
            <a:ext cx="219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a:t>
            </a:r>
          </a:p>
        </p:txBody>
      </p:sp>
      <p:sp>
        <p:nvSpPr>
          <p:cNvPr id="11" name="fragnet-node-1">
            <a:extLst xmlns:a="http://schemas.openxmlformats.org/drawingml/2006/main">
              <a:ext uri="{FF2B5EF4-FFF2-40B4-BE49-F238E27FC236}">
                <a16:creationId xmlns:a16="http://schemas.microsoft.com/office/drawing/2014/main" id="{9156C209-33D9-4F42-A087-C4D805F019A2}"/>
              </a:ext>
            </a:extLst>
          </p:cNvPr>
          <p:cNvSpPr>
            <a:spLocks xmlns:a="http://schemas.openxmlformats.org/drawingml/2006/main" noGrp="1"/>
          </p:cNvSpPr>
          <p:nvPr/>
        </p:nvSpPr>
        <p:spPr>
          <a:xfrm xmlns:a="http://schemas.openxmlformats.org/drawingml/2006/main">
            <a:off x="2838450" y="2314575"/>
            <a:ext cx="2000250" cy="647700"/>
          </a:xfrm>
          <a:prstGeom xmlns:a="http://schemas.openxmlformats.org/drawingml/2006/main" prst="rect">
            <a:avLst/>
          </a:prstGeom>
          <a:solidFill xmlns:a="http://schemas.openxmlformats.org/drawingml/2006/main">
            <a:srgbClr val="EDF3FD"/>
          </a:solidFill>
          <a:ln xmlns:a="http://schemas.openxmlformats.org/drawingml/2006/main" w="9525">
            <a:solidFill>
              <a:srgbClr val="2563EB"/>
            </a:solidFill>
          </a:ln>
        </p:spPr>
      </p:sp>
      <p:sp>
        <p:nvSpPr>
          <p:cNvPr id="12" name="training-text-24">
            <a:extLst xmlns:a="http://schemas.openxmlformats.org/drawingml/2006/main">
              <a:ext uri="{FF2B5EF4-FFF2-40B4-BE49-F238E27FC236}">
                <a16:creationId xmlns:a16="http://schemas.microsoft.com/office/drawing/2014/main" id="{0B27F3EA-2170-4CB2-985D-F2F5E86781AE}"/>
              </a:ext>
            </a:extLst>
          </p:cNvPr>
          <p:cNvSpPr>
            <a:spLocks xmlns:a="http://schemas.openxmlformats.org/drawingml/2006/main" noGrp="1"/>
          </p:cNvSpPr>
          <p:nvPr/>
        </p:nvSpPr>
        <p:spPr>
          <a:xfrm xmlns:a="http://schemas.openxmlformats.org/drawingml/2006/main">
            <a:off x="2952750" y="2400300"/>
            <a:ext cx="1771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563EB"/>
                </a:solidFill>
                <a:latin typeface="Arial"/>
                <a:ea typeface="Arial"/>
                <a:cs typeface="Arial"/>
              </a:defRPr>
            </a:pPr>
            <a:r>
              <a:rPr sz="1575" b="1">
                <a:solidFill>
                  <a:srgbClr val="2563EB"/>
                </a:solidFill>
                <a:latin typeface="Arial"/>
                <a:ea typeface="Arial"/>
                <a:cs typeface="Arial"/>
              </a:rPr>
              <a:t>Clarification</a:t>
            </a:r>
          </a:p>
          <a:p xmlns:a="http://schemas.openxmlformats.org/drawingml/2006/main">
            <a:pPr>
              <a:defRPr sz="1575" b="1">
                <a:solidFill>
                  <a:srgbClr val="2563EB"/>
                </a:solidFill>
                <a:latin typeface="Arial"/>
                <a:ea typeface="Arial"/>
                <a:cs typeface="Arial"/>
              </a:defRPr>
            </a:pPr>
            <a:r>
              <a:rPr sz="1575" b="1">
                <a:solidFill>
                  <a:srgbClr val="2563EB"/>
                </a:solidFill>
                <a:latin typeface="Arial"/>
                <a:ea typeface="Arial"/>
                <a:cs typeface="Arial"/>
              </a:rPr>
              <a:t>4d event</a:t>
            </a:r>
          </a:p>
        </p:txBody>
      </p:sp>
      <p:sp>
        <p:nvSpPr>
          <p:cNvPr id="13" name="training-text-25">
            <a:extLst xmlns:a="http://schemas.openxmlformats.org/drawingml/2006/main">
              <a:ext uri="{FF2B5EF4-FFF2-40B4-BE49-F238E27FC236}">
                <a16:creationId xmlns:a16="http://schemas.microsoft.com/office/drawing/2014/main" id="{89324393-4165-44C8-960E-232C21CF82F1}"/>
              </a:ext>
            </a:extLst>
          </p:cNvPr>
          <p:cNvSpPr>
            <a:spLocks xmlns:a="http://schemas.openxmlformats.org/drawingml/2006/main" noGrp="1"/>
          </p:cNvSpPr>
          <p:nvPr/>
        </p:nvSpPr>
        <p:spPr>
          <a:xfrm xmlns:a="http://schemas.openxmlformats.org/drawingml/2006/main">
            <a:off x="4857750" y="2476500"/>
            <a:ext cx="219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a:t>
            </a:r>
          </a:p>
        </p:txBody>
      </p:sp>
      <p:sp>
        <p:nvSpPr>
          <p:cNvPr id="14" name="fragnet-node-2">
            <a:extLst xmlns:a="http://schemas.openxmlformats.org/drawingml/2006/main">
              <a:ext uri="{FF2B5EF4-FFF2-40B4-BE49-F238E27FC236}">
                <a16:creationId xmlns:a16="http://schemas.microsoft.com/office/drawing/2014/main" id="{70E307BE-EA48-47F3-B562-6C7DC69938B8}"/>
              </a:ext>
            </a:extLst>
          </p:cNvPr>
          <p:cNvSpPr>
            <a:spLocks xmlns:a="http://schemas.openxmlformats.org/drawingml/2006/main" noGrp="1"/>
          </p:cNvSpPr>
          <p:nvPr/>
        </p:nvSpPr>
        <p:spPr>
          <a:xfrm xmlns:a="http://schemas.openxmlformats.org/drawingml/2006/main">
            <a:off x="5067300" y="2314575"/>
            <a:ext cx="20002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8DDE3"/>
            </a:solidFill>
          </a:ln>
        </p:spPr>
      </p:sp>
      <p:sp>
        <p:nvSpPr>
          <p:cNvPr id="15" name="training-text-26">
            <a:extLst xmlns:a="http://schemas.openxmlformats.org/drawingml/2006/main">
              <a:ext uri="{FF2B5EF4-FFF2-40B4-BE49-F238E27FC236}">
                <a16:creationId xmlns:a16="http://schemas.microsoft.com/office/drawing/2014/main" id="{C3CC65E1-D774-45B3-84C0-9BC5EB7DDF2E}"/>
              </a:ext>
            </a:extLst>
          </p:cNvPr>
          <p:cNvSpPr>
            <a:spLocks xmlns:a="http://schemas.openxmlformats.org/drawingml/2006/main" noGrp="1"/>
          </p:cNvSpPr>
          <p:nvPr/>
        </p:nvSpPr>
        <p:spPr>
          <a:xfrm xmlns:a="http://schemas.openxmlformats.org/drawingml/2006/main">
            <a:off x="5181600" y="2400300"/>
            <a:ext cx="1771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111111"/>
                </a:solidFill>
                <a:latin typeface="Arial"/>
                <a:ea typeface="Arial"/>
                <a:cs typeface="Arial"/>
              </a:defRPr>
            </a:pPr>
            <a:r>
              <a:rPr sz="1575" b="0">
                <a:solidFill>
                  <a:srgbClr val="111111"/>
                </a:solidFill>
                <a:latin typeface="Arial"/>
                <a:ea typeface="Arial"/>
                <a:cs typeface="Arial"/>
              </a:rPr>
              <a:t>Install</a:t>
            </a:r>
          </a:p>
          <a:p xmlns:a="http://schemas.openxmlformats.org/drawingml/2006/main">
            <a:pPr>
              <a:defRPr sz="1575" b="0">
                <a:solidFill>
                  <a:srgbClr val="111111"/>
                </a:solidFill>
                <a:latin typeface="Arial"/>
                <a:ea typeface="Arial"/>
                <a:cs typeface="Arial"/>
              </a:defRPr>
            </a:pPr>
            <a:r>
              <a:rPr sz="1575" b="0">
                <a:solidFill>
                  <a:srgbClr val="111111"/>
                </a:solidFill>
                <a:latin typeface="Arial"/>
                <a:ea typeface="Arial"/>
                <a:cs typeface="Arial"/>
              </a:rPr>
              <a:t>10d</a:t>
            </a:r>
          </a:p>
        </p:txBody>
      </p:sp>
      <p:sp>
        <p:nvSpPr>
          <p:cNvPr id="16" name="training-text-27">
            <a:extLst xmlns:a="http://schemas.openxmlformats.org/drawingml/2006/main">
              <a:ext uri="{FF2B5EF4-FFF2-40B4-BE49-F238E27FC236}">
                <a16:creationId xmlns:a16="http://schemas.microsoft.com/office/drawing/2014/main" id="{5C6B2E9F-0DAC-40FF-837C-F8C51BC09600}"/>
              </a:ext>
            </a:extLst>
          </p:cNvPr>
          <p:cNvSpPr>
            <a:spLocks xmlns:a="http://schemas.openxmlformats.org/drawingml/2006/main" noGrp="1"/>
          </p:cNvSpPr>
          <p:nvPr/>
        </p:nvSpPr>
        <p:spPr>
          <a:xfrm xmlns:a="http://schemas.openxmlformats.org/drawingml/2006/main">
            <a:off x="7086600" y="2476500"/>
            <a:ext cx="219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a:t>
            </a:r>
          </a:p>
        </p:txBody>
      </p:sp>
      <p:sp>
        <p:nvSpPr>
          <p:cNvPr id="17" name="fragnet-node-3">
            <a:extLst xmlns:a="http://schemas.openxmlformats.org/drawingml/2006/main">
              <a:ext uri="{FF2B5EF4-FFF2-40B4-BE49-F238E27FC236}">
                <a16:creationId xmlns:a16="http://schemas.microsoft.com/office/drawing/2014/main" id="{5E577C9E-0F11-4989-8E77-01E09945F8CE}"/>
              </a:ext>
            </a:extLst>
          </p:cNvPr>
          <p:cNvSpPr>
            <a:spLocks xmlns:a="http://schemas.openxmlformats.org/drawingml/2006/main" noGrp="1"/>
          </p:cNvSpPr>
          <p:nvPr/>
        </p:nvSpPr>
        <p:spPr>
          <a:xfrm xmlns:a="http://schemas.openxmlformats.org/drawingml/2006/main">
            <a:off x="7296150" y="2314575"/>
            <a:ext cx="20002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8DDE3"/>
            </a:solidFill>
          </a:ln>
        </p:spPr>
      </p:sp>
      <p:sp>
        <p:nvSpPr>
          <p:cNvPr id="18" name="training-text-28">
            <a:extLst xmlns:a="http://schemas.openxmlformats.org/drawingml/2006/main">
              <a:ext uri="{FF2B5EF4-FFF2-40B4-BE49-F238E27FC236}">
                <a16:creationId xmlns:a16="http://schemas.microsoft.com/office/drawing/2014/main" id="{C57BB7C1-1488-45CB-8850-D8CF14F2B438}"/>
              </a:ext>
            </a:extLst>
          </p:cNvPr>
          <p:cNvSpPr>
            <a:spLocks xmlns:a="http://schemas.openxmlformats.org/drawingml/2006/main" noGrp="1"/>
          </p:cNvSpPr>
          <p:nvPr/>
        </p:nvSpPr>
        <p:spPr>
          <a:xfrm xmlns:a="http://schemas.openxmlformats.org/drawingml/2006/main">
            <a:off x="7410450" y="2400300"/>
            <a:ext cx="1771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111111"/>
                </a:solidFill>
                <a:latin typeface="Arial"/>
                <a:ea typeface="Arial"/>
                <a:cs typeface="Arial"/>
              </a:defRPr>
            </a:pPr>
            <a:r>
              <a:rPr sz="1575" b="0">
                <a:solidFill>
                  <a:srgbClr val="111111"/>
                </a:solidFill>
                <a:latin typeface="Arial"/>
                <a:ea typeface="Arial"/>
                <a:cs typeface="Arial"/>
              </a:rPr>
              <a:t>Test</a:t>
            </a:r>
          </a:p>
          <a:p xmlns:a="http://schemas.openxmlformats.org/drawingml/2006/main">
            <a:pPr>
              <a:defRPr sz="1575" b="0">
                <a:solidFill>
                  <a:srgbClr val="111111"/>
                </a:solidFill>
                <a:latin typeface="Arial"/>
                <a:ea typeface="Arial"/>
                <a:cs typeface="Arial"/>
              </a:defRPr>
            </a:pPr>
            <a:r>
              <a:rPr sz="1575" b="0">
                <a:solidFill>
                  <a:srgbClr val="111111"/>
                </a:solidFill>
                <a:latin typeface="Arial"/>
                <a:ea typeface="Arial"/>
                <a:cs typeface="Arial"/>
              </a:rPr>
              <a:t>3d</a:t>
            </a:r>
          </a:p>
        </p:txBody>
      </p:sp>
      <p:sp>
        <p:nvSpPr>
          <p:cNvPr id="19" name="training-text-29">
            <a:extLst xmlns:a="http://schemas.openxmlformats.org/drawingml/2006/main">
              <a:ext uri="{FF2B5EF4-FFF2-40B4-BE49-F238E27FC236}">
                <a16:creationId xmlns:a16="http://schemas.microsoft.com/office/drawing/2014/main" id="{BA5F7C7E-3441-4883-815E-26821ABFDDE4}"/>
              </a:ext>
            </a:extLst>
          </p:cNvPr>
          <p:cNvSpPr>
            <a:spLocks xmlns:a="http://schemas.openxmlformats.org/drawingml/2006/main" noGrp="1"/>
          </p:cNvSpPr>
          <p:nvPr/>
        </p:nvSpPr>
        <p:spPr>
          <a:xfrm xmlns:a="http://schemas.openxmlformats.org/drawingml/2006/main">
            <a:off x="9315450" y="2476500"/>
            <a:ext cx="219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a:t>
            </a:r>
          </a:p>
        </p:txBody>
      </p:sp>
      <p:sp>
        <p:nvSpPr>
          <p:cNvPr id="20" name="fragnet-node-4">
            <a:extLst xmlns:a="http://schemas.openxmlformats.org/drawingml/2006/main">
              <a:ext uri="{FF2B5EF4-FFF2-40B4-BE49-F238E27FC236}">
                <a16:creationId xmlns:a16="http://schemas.microsoft.com/office/drawing/2014/main" id="{5068B1D6-5D75-4846-96F5-7E3AAF97A695}"/>
              </a:ext>
            </a:extLst>
          </p:cNvPr>
          <p:cNvSpPr>
            <a:spLocks xmlns:a="http://schemas.openxmlformats.org/drawingml/2006/main" noGrp="1"/>
          </p:cNvSpPr>
          <p:nvPr/>
        </p:nvSpPr>
        <p:spPr>
          <a:xfrm xmlns:a="http://schemas.openxmlformats.org/drawingml/2006/main">
            <a:off x="9525000" y="2314575"/>
            <a:ext cx="20002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8DDE3"/>
            </a:solidFill>
          </a:ln>
        </p:spPr>
      </p:sp>
      <p:sp>
        <p:nvSpPr>
          <p:cNvPr id="21" name="training-text-30">
            <a:extLst xmlns:a="http://schemas.openxmlformats.org/drawingml/2006/main">
              <a:ext uri="{FF2B5EF4-FFF2-40B4-BE49-F238E27FC236}">
                <a16:creationId xmlns:a16="http://schemas.microsoft.com/office/drawing/2014/main" id="{4765D0AB-3DE6-4710-B0A1-57BD777E17CC}"/>
              </a:ext>
            </a:extLst>
          </p:cNvPr>
          <p:cNvSpPr>
            <a:spLocks xmlns:a="http://schemas.openxmlformats.org/drawingml/2006/main" noGrp="1"/>
          </p:cNvSpPr>
          <p:nvPr/>
        </p:nvSpPr>
        <p:spPr>
          <a:xfrm xmlns:a="http://schemas.openxmlformats.org/drawingml/2006/main">
            <a:off x="9639300" y="2400300"/>
            <a:ext cx="1771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111111"/>
                </a:solidFill>
                <a:latin typeface="Arial"/>
                <a:ea typeface="Arial"/>
                <a:cs typeface="Arial"/>
              </a:defRPr>
            </a:pPr>
            <a:r>
              <a:rPr sz="1575" b="0">
                <a:solidFill>
                  <a:srgbClr val="111111"/>
                </a:solidFill>
                <a:latin typeface="Arial"/>
                <a:ea typeface="Arial"/>
                <a:cs typeface="Arial"/>
              </a:rPr>
              <a:t>Handover</a:t>
            </a:r>
          </a:p>
          <a:p xmlns:a="http://schemas.openxmlformats.org/drawingml/2006/main">
            <a:pPr>
              <a:defRPr sz="1575" b="0">
                <a:solidFill>
                  <a:srgbClr val="111111"/>
                </a:solidFill>
                <a:latin typeface="Arial"/>
                <a:ea typeface="Arial"/>
                <a:cs typeface="Arial"/>
              </a:defRPr>
            </a:pPr>
            <a:r>
              <a:rPr sz="1575" b="0">
                <a:solidFill>
                  <a:srgbClr val="111111"/>
                </a:solidFill>
                <a:latin typeface="Arial"/>
                <a:ea typeface="Arial"/>
                <a:cs typeface="Arial"/>
              </a:rPr>
              <a:t>0d</a:t>
            </a:r>
          </a:p>
        </p:txBody>
      </p:sp>
      <p:sp>
        <p:nvSpPr>
          <p:cNvPr id="22" name="training-text-31">
            <a:extLst xmlns:a="http://schemas.openxmlformats.org/drawingml/2006/main">
              <a:ext uri="{FF2B5EF4-FFF2-40B4-BE49-F238E27FC236}">
                <a16:creationId xmlns:a16="http://schemas.microsoft.com/office/drawing/2014/main" id="{64544276-0394-4651-8CC5-AE397D2CCD80}"/>
              </a:ext>
            </a:extLst>
          </p:cNvPr>
          <p:cNvSpPr>
            <a:spLocks xmlns:a="http://schemas.openxmlformats.org/drawingml/2006/main" noGrp="1"/>
          </p:cNvSpPr>
          <p:nvPr/>
        </p:nvSpPr>
        <p:spPr>
          <a:xfrm xmlns:a="http://schemas.openxmlformats.org/drawingml/2006/main">
            <a:off x="609600" y="30289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565E68"/>
                </a:solidFill>
                <a:latin typeface="Arial"/>
                <a:ea typeface="Arial"/>
                <a:cs typeface="Arial"/>
              </a:defRPr>
            </a:pPr>
            <a:r>
              <a:rPr sz="1500" b="0">
                <a:solidFill>
                  <a:srgbClr val="565E68"/>
                </a:solidFill>
                <a:latin typeface="Arial"/>
                <a:ea typeface="Arial"/>
                <a:cs typeface="Arial"/>
              </a:rPr>
              <a:t>Inserted fragnet: clarification before installation. All links FS, zero lag.</a:t>
            </a:r>
          </a:p>
        </p:txBody>
      </p:sp>
      <p:graphicFrame>
        <p:nvGraphicFramePr>
          <p:cNvPr id="49" name=""/>
          <p:cNvGraphicFramePr/>
          <p:nvPr/>
        </p:nvGraphicFramePr>
        <p:xfrm>
          <a:off xmlns:a="http://schemas.openxmlformats.org/drawingml/2006/main" x="609600" y="3419475"/>
          <a:ext xmlns:a="http://schemas.openxmlformats.org/drawingml/2006/main" cx="10972800" cy="1666875"/>
        </p:xfrm>
        <a:graphic xmlns:a="http://schemas.openxmlformats.org/drawingml/2006/main">
          <a:graphicData uri="http://schemas.openxmlformats.org/drawingml/2006/table">
            <a:tbl>
              <a:tblPr/>
              <a:tblGrid>
                <a:gridCol w="4286250"/>
                <a:gridCol w="3343275"/>
                <a:gridCol w="3343275"/>
              </a:tblGrid>
              <a:tr h="416719">
                <a:tc>
                  <a:txBody>
                    <a:bodyPr lIns="114300" tIns="76200" rIns="95250" bIns="76200"/>
                    <a:lstStyle/>
                    <a:p>
                      <a:r>
                        <a:rPr sz="1725" b="1">
                          <a:solidFill>
                            <a:srgbClr val="FFFFFF"/>
                          </a:solidFill>
                          <a:latin typeface="Arial"/>
                          <a:ea typeface="Arial"/>
                          <a:cs typeface="Arial"/>
                        </a:rPr>
                        <a:t>Remaining work</a:t>
                      </a:r>
                    </a:p>
                  </a:txBody>
                  <a:tcPr marL="91440" marR="91440" marT="45720" marB="45720" anchor="ctr">
                    <a:solidFill>
                      <a:srgbClr val="111111"/>
                    </a:solidFill>
                  </a:tcPr>
                </a:tc>
                <a:tc>
                  <a:txBody>
                    <a:bodyPr lIns="114300" tIns="76200" rIns="95250" bIns="76200"/>
                    <a:lstStyle/>
                    <a:p>
                      <a:r>
                        <a:rPr sz="1725" b="1">
                          <a:solidFill>
                            <a:srgbClr val="FFFFFF"/>
                          </a:solidFill>
                          <a:latin typeface="Arial"/>
                          <a:ea typeface="Arial"/>
                          <a:cs typeface="Arial"/>
                        </a:rPr>
                        <a:t>Before event</a:t>
                      </a:r>
                    </a:p>
                  </a:txBody>
                  <a:tcPr marL="91440" marR="91440" marT="45720" marB="45720" anchor="ctr">
                    <a:solidFill>
                      <a:srgbClr val="111111"/>
                    </a:solidFill>
                  </a:tcPr>
                </a:tc>
                <a:tc>
                  <a:txBody>
                    <a:bodyPr lIns="114300" tIns="76200" rIns="95250" bIns="76200"/>
                    <a:lstStyle/>
                    <a:p>
                      <a:r>
                        <a:rPr sz="1725" b="1">
                          <a:solidFill>
                            <a:srgbClr val="FFFFFF"/>
                          </a:solidFill>
                          <a:latin typeface="Arial"/>
                          <a:ea typeface="Arial"/>
                          <a:cs typeface="Arial"/>
                        </a:rPr>
                        <a:t>After event</a:t>
                      </a:r>
                    </a:p>
                  </a:txBody>
                  <a:tcPr marL="91440" marR="91440" marT="45720" marB="45720" anchor="ctr">
                    <a:solidFill>
                      <a:srgbClr val="111111"/>
                    </a:solidFill>
                  </a:tcPr>
                </a:tc>
              </a:tr>
              <a:tr h="416719">
                <a:tc>
                  <a:txBody>
                    <a:bodyPr lIns="114300" tIns="76200" rIns="95250" bIns="76200"/>
                    <a:lstStyle/>
                    <a:p>
                      <a:r>
                        <a:rPr sz="1725" b="0">
                          <a:solidFill>
                            <a:srgbClr val="111111"/>
                          </a:solidFill>
                          <a:latin typeface="Arial"/>
                          <a:ea typeface="Arial"/>
                          <a:cs typeface="Arial"/>
                        </a:rPr>
                        <a:t>Installation, 10 working days</a:t>
                      </a:r>
                    </a:p>
                  </a:txBody>
                  <a:tcPr marL="91440" marR="91440" marT="45720" marB="45720" anchor="ctr">
                    <a:solidFill>
                      <a:srgbClr val="F2F3F5"/>
                    </a:solidFill>
                  </a:tcPr>
                </a:tc>
                <a:tc>
                  <a:txBody>
                    <a:bodyPr lIns="114300" tIns="76200" rIns="95250" bIns="76200"/>
                    <a:lstStyle/>
                    <a:p>
                      <a:r>
                        <a:rPr sz="1725" b="0">
                          <a:solidFill>
                            <a:srgbClr val="111111"/>
                          </a:solidFill>
                          <a:latin typeface="Arial"/>
                          <a:ea typeface="Arial"/>
                          <a:cs typeface="Arial"/>
                        </a:rPr>
                        <a:t>05–16 Apr 2027</a:t>
                      </a:r>
                    </a:p>
                  </a:txBody>
                  <a:tcPr marL="91440" marR="91440" marT="45720" marB="45720" anchor="ctr">
                    <a:solidFill>
                      <a:srgbClr val="F2F3F5"/>
                    </a:solidFill>
                  </a:tcPr>
                </a:tc>
                <a:tc>
                  <a:txBody>
                    <a:bodyPr lIns="114300" tIns="76200" rIns="95250" bIns="76200"/>
                    <a:lstStyle/>
                    <a:p>
                      <a:r>
                        <a:rPr sz="1725" b="0">
                          <a:solidFill>
                            <a:srgbClr val="111111"/>
                          </a:solidFill>
                          <a:latin typeface="Arial"/>
                          <a:ea typeface="Arial"/>
                          <a:cs typeface="Arial"/>
                        </a:rPr>
                        <a:t>09–22 Apr 2027</a:t>
                      </a:r>
                    </a:p>
                  </a:txBody>
                  <a:tcPr marL="91440" marR="91440" marT="45720" marB="45720" anchor="ctr">
                    <a:solidFill>
                      <a:srgbClr val="F2F3F5"/>
                    </a:solidFill>
                  </a:tcPr>
                </a:tc>
              </a:tr>
              <a:tr h="416719">
                <a:tc>
                  <a:txBody>
                    <a:bodyPr lIns="114300" tIns="76200" rIns="95250" bIns="76200"/>
                    <a:lstStyle/>
                    <a:p>
                      <a:r>
                        <a:rPr sz="1725" b="0">
                          <a:solidFill>
                            <a:srgbClr val="111111"/>
                          </a:solidFill>
                          <a:latin typeface="Arial"/>
                          <a:ea typeface="Arial"/>
                          <a:cs typeface="Arial"/>
                        </a:rPr>
                        <a:t>Testing, 3 working days</a:t>
                      </a:r>
                    </a:p>
                  </a:txBody>
                  <a:tcPr marL="91440" marR="91440" marT="45720" marB="45720" anchor="ctr">
                    <a:solidFill>
                      <a:srgbClr val="FFFFFF"/>
                    </a:solidFill>
                  </a:tcPr>
                </a:tc>
                <a:tc>
                  <a:txBody>
                    <a:bodyPr lIns="114300" tIns="76200" rIns="95250" bIns="76200"/>
                    <a:lstStyle/>
                    <a:p>
                      <a:r>
                        <a:rPr sz="1725" b="0">
                          <a:solidFill>
                            <a:srgbClr val="111111"/>
                          </a:solidFill>
                          <a:latin typeface="Arial"/>
                          <a:ea typeface="Arial"/>
                          <a:cs typeface="Arial"/>
                        </a:rPr>
                        <a:t>19–21 Apr 2027</a:t>
                      </a:r>
                    </a:p>
                  </a:txBody>
                  <a:tcPr marL="91440" marR="91440" marT="45720" marB="45720" anchor="ctr">
                    <a:solidFill>
                      <a:srgbClr val="FFFFFF"/>
                    </a:solidFill>
                  </a:tcPr>
                </a:tc>
                <a:tc>
                  <a:txBody>
                    <a:bodyPr lIns="114300" tIns="76200" rIns="95250" bIns="76200"/>
                    <a:lstStyle/>
                    <a:p>
                      <a:r>
                        <a:rPr sz="1725" b="0">
                          <a:solidFill>
                            <a:srgbClr val="111111"/>
                          </a:solidFill>
                          <a:latin typeface="Arial"/>
                          <a:ea typeface="Arial"/>
                          <a:cs typeface="Arial"/>
                        </a:rPr>
                        <a:t>23–27 Apr 2027</a:t>
                      </a:r>
                    </a:p>
                  </a:txBody>
                  <a:tcPr marL="91440" marR="91440" marT="45720" marB="45720" anchor="ctr">
                    <a:solidFill>
                      <a:srgbClr val="FFFFFF"/>
                    </a:solidFill>
                  </a:tcPr>
                </a:tc>
              </a:tr>
              <a:tr h="416719">
                <a:tc>
                  <a:txBody>
                    <a:bodyPr lIns="114300" tIns="76200" rIns="95250" bIns="76200"/>
                    <a:lstStyle/>
                    <a:p>
                      <a:r>
                        <a:rPr sz="1725" b="0">
                          <a:solidFill>
                            <a:srgbClr val="111111"/>
                          </a:solidFill>
                          <a:latin typeface="Arial"/>
                          <a:ea typeface="Arial"/>
                          <a:cs typeface="Arial"/>
                        </a:rPr>
                        <a:t>Training handover, M-TR01</a:t>
                      </a:r>
                    </a:p>
                  </a:txBody>
                  <a:tcPr marL="91440" marR="91440" marT="45720" marB="45720" anchor="ctr">
                    <a:solidFill>
                      <a:srgbClr val="F2F3F5"/>
                    </a:solidFill>
                  </a:tcPr>
                </a:tc>
                <a:tc>
                  <a:txBody>
                    <a:bodyPr lIns="114300" tIns="76200" rIns="95250" bIns="76200"/>
                    <a:lstStyle/>
                    <a:p>
                      <a:r>
                        <a:rPr sz="1725" b="0">
                          <a:solidFill>
                            <a:srgbClr val="111111"/>
                          </a:solidFill>
                          <a:latin typeface="Arial"/>
                          <a:ea typeface="Arial"/>
                          <a:cs typeface="Arial"/>
                        </a:rPr>
                        <a:t>21 Apr 2027, 17:00</a:t>
                      </a:r>
                    </a:p>
                  </a:txBody>
                  <a:tcPr marL="91440" marR="91440" marT="45720" marB="45720" anchor="ctr">
                    <a:solidFill>
                      <a:srgbClr val="F2F3F5"/>
                    </a:solidFill>
                  </a:tcPr>
                </a:tc>
                <a:tc>
                  <a:txBody>
                    <a:bodyPr lIns="114300" tIns="76200" rIns="95250" bIns="76200"/>
                    <a:lstStyle/>
                    <a:p>
                      <a:r>
                        <a:rPr sz="1725" b="0">
                          <a:solidFill>
                            <a:srgbClr val="111111"/>
                          </a:solidFill>
                          <a:latin typeface="Arial"/>
                          <a:ea typeface="Arial"/>
                          <a:cs typeface="Arial"/>
                        </a:rPr>
                        <a:t>27 Apr 2027, 17:00</a:t>
                      </a:r>
                    </a:p>
                  </a:txBody>
                  <a:tcPr marL="91440" marR="91440" marT="45720" marB="45720" anchor="ctr">
                    <a:solidFill>
                      <a:srgbClr val="F2F3F5"/>
                    </a:solidFill>
                  </a:tcPr>
                </a:tc>
              </a:tr>
            </a:tbl>
          </a:graphicData>
        </a:graphic>
      </p:graphicFrame>
      <p:sp>
        <p:nvSpPr>
          <p:cNvPr id="24" name="training-text-32">
            <a:extLst xmlns:a="http://schemas.openxmlformats.org/drawingml/2006/main">
              <a:ext uri="{FF2B5EF4-FFF2-40B4-BE49-F238E27FC236}">
                <a16:creationId xmlns:a16="http://schemas.microsoft.com/office/drawing/2014/main" id="{25677C3D-57A2-49C3-9F9F-DC33485D99DA}"/>
              </a:ext>
            </a:extLst>
          </p:cNvPr>
          <p:cNvSpPr>
            <a:spLocks xmlns:a="http://schemas.openxmlformats.org/drawingml/2006/main" noGrp="1"/>
          </p:cNvSpPr>
          <p:nvPr/>
        </p:nvSpPr>
        <p:spPr>
          <a:xfrm xmlns:a="http://schemas.openxmlformats.org/drawingml/2006/main">
            <a:off x="609600" y="52197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2563EB"/>
                </a:solidFill>
                <a:latin typeface="Arial"/>
                <a:ea typeface="Arial"/>
                <a:cs typeface="Arial"/>
              </a:defRPr>
            </a:pPr>
            <a:r>
              <a:rPr sz="2325" b="1">
                <a:solidFill>
                  <a:srgbClr val="2563EB"/>
                </a:solidFill>
                <a:latin typeface="Arial"/>
                <a:ea typeface="Arial"/>
                <a:cs typeface="Arial"/>
              </a:rPr>
              <a:t>Impact: +4 working days / +6 calendar days</a:t>
            </a:r>
          </a:p>
        </p:txBody>
      </p:sp>
      <p:sp>
        <p:nvSpPr>
          <p:cNvPr id="25" name="training-text-33">
            <a:extLst xmlns:a="http://schemas.openxmlformats.org/drawingml/2006/main">
              <a:ext uri="{FF2B5EF4-FFF2-40B4-BE49-F238E27FC236}">
                <a16:creationId xmlns:a16="http://schemas.microsoft.com/office/drawing/2014/main" id="{E89EA73F-F050-49B3-B32C-05B22320663E}"/>
              </a:ext>
            </a:extLst>
          </p:cNvPr>
          <p:cNvSpPr>
            <a:spLocks xmlns:a="http://schemas.openxmlformats.org/drawingml/2006/main" noGrp="1"/>
          </p:cNvSpPr>
          <p:nvPr/>
        </p:nvSpPr>
        <p:spPr>
          <a:xfrm xmlns:a="http://schemas.openxmlformats.org/drawingml/2006/main">
            <a:off x="609600" y="561022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565E68"/>
                </a:solidFill>
                <a:latin typeface="Arial"/>
                <a:ea typeface="Arial"/>
                <a:cs typeface="Arial"/>
              </a:defRPr>
            </a:pPr>
            <a:r>
              <a:rPr sz="1575" b="0">
                <a:solidFill>
                  <a:srgbClr val="565E68"/>
                </a:solidFill>
                <a:latin typeface="Arial"/>
                <a:ea typeface="Arial"/>
                <a:cs typeface="Arial"/>
              </a:rPr>
              <a:t>EOT review also needs the contract, event responsibility and supporting records.</a:t>
            </a:r>
          </a:p>
        </p:txBody>
      </p:sp>
      <p:sp>
        <p:nvSpPr>
          <p:cNvPr id="26" name="training-text-34">
            <a:extLst xmlns:a="http://schemas.openxmlformats.org/drawingml/2006/main">
              <a:ext uri="{FF2B5EF4-FFF2-40B4-BE49-F238E27FC236}">
                <a16:creationId xmlns:a16="http://schemas.microsoft.com/office/drawing/2014/main" id="{23E6D8B5-A60E-4B06-BDF5-1D7E78142498}"/>
              </a:ext>
            </a:extLst>
          </p:cNvPr>
          <p:cNvSpPr>
            <a:spLocks xmlns:a="http://schemas.openxmlformats.org/drawingml/2006/main" noGrp="1"/>
          </p:cNvSpPr>
          <p:nvPr/>
        </p:nvSpPr>
        <p:spPr>
          <a:xfrm xmlns:a="http://schemas.openxmlformats.org/drawingml/2006/main">
            <a:off x="609600" y="589597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65E68"/>
                </a:solidFill>
                <a:latin typeface="Arial"/>
                <a:ea typeface="Arial"/>
                <a:cs typeface="Arial"/>
              </a:defRPr>
            </a:pPr>
            <a:r>
              <a:rPr sz="1350" b="0">
                <a:solidFill>
                  <a:srgbClr val="565E68"/>
                </a:solidFill>
                <a:latin typeface="Arial"/>
                <a:ea typeface="Arial"/>
                <a:cs typeface="Arial"/>
              </a:rPr>
              <a:t>FIDIC procedure learning: confirm form, edition and Particular Conditions.</a:t>
            </a:r>
          </a:p>
        </p:txBody>
      </p:sp>
    </p:spTree>
    <p:extLst>
      <p:ext uri="{BB962C8B-B14F-4D97-AF65-F5344CB8AC3E}">
        <p14:creationId xmlns:p14="http://schemas.microsoft.com/office/powerpoint/2010/main" val="11679153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2026-09-20T18:27:55.3630000Z</dcterms:created>
  <dcterms:modified xsi:type="dcterms:W3CDTF">2026-09-20T18:27:55.3630000Z</dcterms:modified>
</coreProperties>
</file>